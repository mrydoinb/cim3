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rcRect l="10001" r="10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7863840" cy="1444752"/>
          </a:xfrm>
          <a:prstGeom prst="rect">
            <a:avLst/>
          </a:prstGeom>
          <a:solidFill>
            <a:srgbClr val="004A96"/>
          </a:solidFill>
          <a:ln>
            <a:solidFill>
              <a:srgbClr val="0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09728" cy="3246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024128"/>
            <a:ext cx="80467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CE1FF"/>
                </a:solidFill>
                <a:latin typeface="Microsoft YaHei"/>
              </a:rPr>
              <a:t>城市基础设施数字化建模与时空数据融合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804672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技术路线与阶段进展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9504"/>
            <a:ext cx="8503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面向超融合数据库与数字孪生专项的共性技术能力建设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687568"/>
            <a:ext cx="2926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汇报人：曹宏坤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89904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E1FA"/>
                </a:solidFill>
                <a:latin typeface="Microsoft YaHei"/>
              </a:rPr>
              <a:t>2026.06.23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6153912"/>
            <a:ext cx="2011680" cy="178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REPORT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汇报重点：围绕总体目标、关键问题与后续应用支撑展开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总体路线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构建数据治理、规则表达、</a:t>
            </a:r>
            <a:br/>
            <a:r>
              <a:t>空间建模与应用服务链条。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7" y="4992624"/>
            <a:ext cx="2377441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312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64024" y="1792224"/>
            <a:ext cx="658368" cy="65836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关键问题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聚焦数据一致性、对象化建模、</a:t>
            </a:r>
            <a:br/>
            <a:r>
              <a:t>空间关系与成果可维护性。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4992624"/>
            <a:ext cx="2377440" cy="0"/>
          </a:xfrm>
          <a:prstGeom prst="line">
            <a:avLst/>
          </a:prstGeom>
          <a:ln w="25400">
            <a:solidFill>
              <a:srgbClr val="EB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4788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支撑超融合数据库、数字孪生专项</a:t>
            </a:r>
            <a:br/>
            <a:r>
              <a:t>及多类基础设施建模。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4992624"/>
            <a:ext cx="2377440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阶段定位：以典型场景验证共性技术，支撑城市数字底座建设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1901952" cy="3657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GIS / CAD / 业务表</a:t>
            </a:r>
            <a:br/>
            <a:r>
              <a:t>多源异构数据治理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1901952"/>
            <a:ext cx="1901952" cy="365760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规则表达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专业规则与分级标准</a:t>
            </a:r>
            <a:br/>
            <a:r>
              <a:t>参数化组织</a:t>
            </a:r>
          </a:p>
        </p:txBody>
      </p:sp>
      <p:sp>
        <p:nvSpPr>
          <p:cNvPr id="17" name="Chevron 16"/>
          <p:cNvSpPr/>
          <p:nvPr/>
        </p:nvSpPr>
        <p:spPr>
          <a:xfrm>
            <a:off x="4773168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901952"/>
            <a:ext cx="1901952" cy="36576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空间建模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道路、隧道、管线</a:t>
            </a:r>
            <a:br/>
            <a:r>
              <a:t>三维对象表达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7456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15784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4" y="1901952"/>
            <a:ext cx="1901952" cy="36576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语义关联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对象、属性、关系</a:t>
            </a:r>
            <a:br/>
            <a:r>
              <a:t>全过程可追溯</a:t>
            </a:r>
          </a:p>
        </p:txBody>
      </p:sp>
      <p:sp>
        <p:nvSpPr>
          <p:cNvPr id="27" name="Chevron 26"/>
          <p:cNvSpPr/>
          <p:nvPr/>
        </p:nvSpPr>
        <p:spPr>
          <a:xfrm>
            <a:off x="9381744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0072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0072" y="1901952"/>
            <a:ext cx="1901952" cy="3657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超融合数据库</a:t>
            </a:r>
            <a:br/>
            <a:r>
              <a:t>数字孪生专项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99648" cy="58521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074920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核心目标：形成多源数据到数字对象的规范化转换能力，实现对象可解释、关系可查询、成果可持续交付。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技术体系：平台、算法与数据底座协同，形成可持续演进架构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3152" cy="84124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70E0"/>
                </a:solidFill>
                <a:latin typeface="Microsoft YaHei"/>
              </a:rPr>
              <a:t>三维表达平台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554480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承担场景组织、可视化检查与成果发布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517904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定位为成果承载与交互展示层，支撑模型质量核验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14015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14015"/>
            <a:ext cx="73152" cy="841248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902C"/>
                </a:solidFill>
                <a:latin typeface="Microsoft YaHei"/>
              </a:rPr>
              <a:t>空间建模算法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15184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承担空间构造、分级表达与质量控制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78608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沉淀可迁移的模型生成能力，服务多类基础设施对象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841248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E60"/>
                </a:solidFill>
                <a:latin typeface="Microsoft YaHei"/>
              </a:rPr>
              <a:t>时空数据底座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675887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承担对象、属性、关系、版本与索引管理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39312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与超融合数据库研发衔接，支撑检索、分析与业务复用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35423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35423"/>
            <a:ext cx="73152" cy="84124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79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B233A"/>
                </a:solidFill>
                <a:latin typeface="Microsoft YaHei"/>
              </a:rPr>
              <a:t>专项应用体系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4736591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承担面向业务场景的成果组织与应用闭环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700015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支撑数字孪生专项从展示型成果向业务型应用延伸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715000"/>
            <a:ext cx="10899648" cy="4572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833872"/>
            <a:ext cx="10515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总体架构由“数据底座 + 规则算法 + 三维表达 + 专项应用”共同构成，强调能力协同与可持续迭代。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总体路线：以数据链为主线，构建可追溯的城市基础设施对象体系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1627632" cy="34747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源数据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GIS / CAD</a:t>
            </a:r>
            <a:br/>
            <a:r>
              <a:t>业务台账</a:t>
            </a:r>
          </a:p>
        </p:txBody>
      </p:sp>
      <p:sp>
        <p:nvSpPr>
          <p:cNvPr id="12" name="Chevron 11"/>
          <p:cNvSpPr/>
          <p:nvPr/>
        </p:nvSpPr>
        <p:spPr>
          <a:xfrm>
            <a:off x="2084832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152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901952"/>
            <a:ext cx="1627632" cy="347472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标准化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坐标 / 编码</a:t>
            </a:r>
            <a:br/>
            <a:r>
              <a:t>分类 / 质量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901952"/>
            <a:ext cx="1627632" cy="34747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规则层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分级标准</a:t>
            </a:r>
            <a:br/>
            <a:r>
              <a:t>专业约束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901952"/>
            <a:ext cx="1627632" cy="34747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模型层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三维对象</a:t>
            </a:r>
            <a:br/>
            <a:r>
              <a:t>空间关系</a:t>
            </a:r>
          </a:p>
        </p:txBody>
      </p:sp>
      <p:sp>
        <p:nvSpPr>
          <p:cNvPr id="27" name="Chevron 26"/>
          <p:cNvSpPr/>
          <p:nvPr/>
        </p:nvSpPr>
        <p:spPr>
          <a:xfrm>
            <a:off x="7927848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1901952"/>
            <a:ext cx="1627632" cy="34747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5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语义层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对象属性</a:t>
            </a:r>
            <a:br/>
            <a:r>
              <a:t>关系索引</a:t>
            </a:r>
          </a:p>
        </p:txBody>
      </p:sp>
      <p:sp>
        <p:nvSpPr>
          <p:cNvPr id="32" name="Chevron 31"/>
          <p:cNvSpPr/>
          <p:nvPr/>
        </p:nvSpPr>
        <p:spPr>
          <a:xfrm>
            <a:off x="9875519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39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9839" y="1901952"/>
            <a:ext cx="1627632" cy="347472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7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5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孪生场景</a:t>
            </a:r>
            <a:br/>
            <a:r>
              <a:t>查询分析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73152" cy="10515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当前阶段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以 CIM 道路建模为典型场景，验证数据标准化、空间构造和语义关联链路。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7648" y="4407408"/>
            <a:ext cx="73152" cy="10515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后续阶段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将验证形成的方法接入超融合数据库与数字孪生专项，支撑综合型城市基础设施应用。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02 / CURRENT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阶段实践：以道路建模验证规则化生成与语义追溯链路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06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rcRect l="14401" r="14401"/>
          <a:stretch>
            <a:fillRect/>
          </a:stretch>
        </p:blipFill>
        <p:spPr>
          <a:xfrm>
            <a:off x="7086600" y="1353312"/>
            <a:ext cx="4462272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86600" y="3959352"/>
            <a:ext cx="4462272" cy="27432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400507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典型道路场景用于验证数据—模型—语义链路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41732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4533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43560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43560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中心线、分类、宽度、断面等基础数据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42316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44144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4144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依据专业规则形成分级模型与对象关系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2900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5701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4728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4728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三维对象、语义数据和质量核验样本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434840"/>
            <a:ext cx="566928" cy="56692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6285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45312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45312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建立可视化成果与数据资产之间的关联机制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715000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该阶段重点在于形成可观察、可验证、可复盘的技术链路，为多类型设施建模提供依据。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关键问题一：模型质量受数据一致性、规则表达与空间关系共同影响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07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rcRect l="17363" r="17363"/>
          <a:stretch>
            <a:fillRect/>
          </a:stretch>
        </p:blipFill>
        <p:spPr>
          <a:xfrm>
            <a:off x="658368" y="1353312"/>
            <a:ext cx="4828032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193792"/>
            <a:ext cx="4828032" cy="32004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57800"/>
            <a:ext cx="45262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典型路口场景：用于分析规则冲突与空间连续性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481328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481328"/>
            <a:ext cx="73152" cy="94183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664208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数据一致性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084832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不同来源数据在空间精度、分类字段和属性完备性方面存在差异。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2706624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0448" y="2706624"/>
            <a:ext cx="73152" cy="94183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16936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889504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规则可配置性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310128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专业规则需具备参数化和版本化能力，避免形成一次性项目逻辑。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931920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3931920"/>
            <a:ext cx="73152" cy="94183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422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114800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对象统一性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535424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模型展示、语义查询和业务交付需共享统一的对象关系体系。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5230368"/>
            <a:ext cx="5623560" cy="512064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5376672"/>
            <a:ext cx="5212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工作重点：由单点模型修正转向数据标准、规则表达和对象关系的系统化治理。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关键问题二：专项交付需由成果文件交付提升为数据资产交付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B233A"/>
                </a:solidFill>
                <a:latin typeface="Microsoft YaHei"/>
              </a:rPr>
              <a:t>成果固化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39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仅以文件形态交付，后续追踪、复用和增量更新能力不足。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数据分散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05272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模型、表格、GIS 与业务系统之间缺少统一对象和索引机制。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810512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应用分离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0304" y="1737360"/>
            <a:ext cx="1664208" cy="6766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0" b="0">
                <a:solidFill>
                  <a:srgbClr val="5B6B7E"/>
                </a:solidFill>
                <a:latin typeface="Microsoft YaHei"/>
              </a:rPr>
              <a:t>可视化展示、检索分析和业务汇报各自建设，难以形成协同。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数据资产化建设重点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设施对象有稳定 ID</a:t>
            </a:r>
          </a:p>
        </p:txBody>
      </p:sp>
      <p:sp>
        <p:nvSpPr>
          <p:cNvPr id="22" name="Oval 21"/>
          <p:cNvSpPr/>
          <p:nvPr/>
        </p:nvSpPr>
        <p:spPr>
          <a:xfrm>
            <a:off x="3456432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统一索引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空间、时间、属性可检索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6254496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成果更新可追踪</a:t>
            </a:r>
          </a:p>
        </p:txBody>
      </p:sp>
      <p:sp>
        <p:nvSpPr>
          <p:cNvPr id="30" name="Oval 29"/>
          <p:cNvSpPr/>
          <p:nvPr/>
        </p:nvSpPr>
        <p:spPr>
          <a:xfrm>
            <a:off x="9052560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建模、孪生、业务系统可共享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94960"/>
            <a:ext cx="10899648" cy="493776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469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超融合数据库研发需重点承接对象化、索引化和版本化能力，使模型成果具备查询、关联和更新基础。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面向超融合数据库：构建统一的城市基础设施时空数据组织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09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rcRect l="18375" r="18375"/>
          <a:stretch>
            <a:fillRect/>
          </a:stretch>
        </p:blipFill>
        <p:spPr>
          <a:xfrm>
            <a:off x="658368" y="1353312"/>
            <a:ext cx="4709160" cy="4187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230368"/>
            <a:ext cx="4709160" cy="310896"/>
          </a:xfrm>
          <a:prstGeom prst="rect">
            <a:avLst/>
          </a:prstGeom>
          <a:solidFill>
            <a:srgbClr val="0C1824"/>
          </a:solidFill>
          <a:ln>
            <a:solidFill>
              <a:srgbClr val="0C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4389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城市级对象网络：统一组织空间对象、属性信息与关联关系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389888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1389888"/>
            <a:ext cx="73152" cy="86868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572768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面向道路、隧道、管线、站点、设施等对象建立统一编码。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2468880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2468880"/>
            <a:ext cx="73152" cy="86868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6791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51760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关系层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72384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表达空间邻接、上下游、穿越、权属和时间版本等关系。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3547872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8" y="3547872"/>
            <a:ext cx="73152" cy="86868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75818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730752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151376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支撑检索、统计、可视化分析和数字孪生应用服务。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4983480"/>
            <a:ext cx="5468112" cy="530352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5138928"/>
            <a:ext cx="5074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4080"/>
                </a:solidFill>
                <a:latin typeface="Microsoft YaHei"/>
              </a:rPr>
              <a:t>建设重点在于形成对象、关系、索引和持续更新机制，而非仅存储模型文件。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面向数字孪生专项：由场景表达拓展至业务研判与闭环应用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1481328"/>
            <a:ext cx="713232" cy="713232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现状表达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基础设施对象</a:t>
            </a:r>
            <a:br/>
            <a:r>
              <a:t>三维表达</a:t>
            </a:r>
          </a:p>
        </p:txBody>
      </p:sp>
      <p:sp>
        <p:nvSpPr>
          <p:cNvPr id="12" name="Chevron 11"/>
          <p:cNvSpPr/>
          <p:nvPr/>
        </p:nvSpPr>
        <p:spPr>
          <a:xfrm>
            <a:off x="2286000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92424" y="1481328"/>
            <a:ext cx="713232" cy="7132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时空数据</a:t>
            </a:r>
            <a:br/>
            <a:r>
              <a:t>业务数据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05855" y="1481328"/>
            <a:ext cx="713232" cy="713232"/>
          </a:xfrm>
          <a:prstGeom prst="ellipse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关系理解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空间关系</a:t>
            </a:r>
            <a:br/>
            <a:r>
              <a:t>运行约束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6912864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1481328"/>
            <a:ext cx="713232" cy="7132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场景应用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查询统计</a:t>
            </a:r>
            <a:br/>
            <a:r>
              <a:t>研判分析</a:t>
            </a:r>
          </a:p>
        </p:txBody>
      </p:sp>
      <p:sp>
        <p:nvSpPr>
          <p:cNvPr id="27" name="Chevron 26"/>
          <p:cNvSpPr/>
          <p:nvPr/>
        </p:nvSpPr>
        <p:spPr>
          <a:xfrm>
            <a:off x="9226296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9" y="1481328"/>
            <a:ext cx="713232" cy="713232"/>
          </a:xfrm>
          <a:prstGeom prst="ellipse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反馈更新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问题回流</a:t>
            </a:r>
            <a:br/>
            <a:r>
              <a:t>版本迭代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70832"/>
            <a:ext cx="73152" cy="102412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已形成的基础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自动建模、对象语义、空间关系和可视化核验方法。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4370832"/>
            <a:ext cx="73152" cy="102412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需进一步完善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数据更新机制、业务指标体系、智能辅助理解与专题应用模板。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方法复用：形成面向多类城市基础设施对象的共性技术框架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对象抽象</a:t>
            </a:r>
          </a:p>
        </p:txBody>
      </p:sp>
      <p:sp>
        <p:nvSpPr>
          <p:cNvPr id="10" name="Chevron 9"/>
          <p:cNvSpPr/>
          <p:nvPr/>
        </p:nvSpPr>
        <p:spPr>
          <a:xfrm>
            <a:off x="2377439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数据标准</a:t>
            </a:r>
          </a:p>
        </p:txBody>
      </p:sp>
      <p:sp>
        <p:nvSpPr>
          <p:cNvPr id="13" name="Chevron 12"/>
          <p:cNvSpPr/>
          <p:nvPr/>
        </p:nvSpPr>
        <p:spPr>
          <a:xfrm>
            <a:off x="4663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规则配置</a:t>
            </a:r>
          </a:p>
        </p:txBody>
      </p:sp>
      <p:sp>
        <p:nvSpPr>
          <p:cNvPr id="16" name="Chevron 15"/>
          <p:cNvSpPr/>
          <p:nvPr/>
        </p:nvSpPr>
        <p:spPr>
          <a:xfrm>
            <a:off x="6949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模型表达</a:t>
            </a:r>
          </a:p>
        </p:txBody>
      </p:sp>
      <p:sp>
        <p:nvSpPr>
          <p:cNvPr id="19" name="Chevron 18"/>
          <p:cNvSpPr/>
          <p:nvPr/>
        </p:nvSpPr>
        <p:spPr>
          <a:xfrm>
            <a:off x="9235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应用交付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73152" cy="96012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道路 / 交通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验证空间连续、分级表达与对象追溯方法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2926080"/>
            <a:ext cx="73152" cy="96012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轨道 / 地下空间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扩展至区间、站点、构件和空间关系表达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160520"/>
            <a:ext cx="73152" cy="96012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地下管线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面向管径、埋深、节点、碰撞与权属关系组织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160520"/>
            <a:ext cx="73152" cy="960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城市孪生专题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将基础设施对象接入场景、指标与应用体系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687568"/>
            <a:ext cx="1089964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共性部分在于对象化、规则化和语义化方法；差异部分体现在各专业规则、约束条件和应用场景。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下一阶段：围绕三条主线推进技术能力体系化建设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3152" cy="98755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自动化建模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7510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持续完善道路、轨道、地下空间等对象生成方法，形成可复用建模能力。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73152" cy="98755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8892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超融合数据库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0954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围绕多模态时空数据，建设统一对象、索引、关系和版本管理能力。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4048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40480"/>
            <a:ext cx="73152" cy="98755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02336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数字孪生专项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44398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面向专题交付，形成场景模板、指标体系和智能辅助分析能力。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1371600"/>
            <a:ext cx="4846320" cy="3511296"/>
          </a:xfrm>
          <a:prstGeom prst="roundRect">
            <a:avLst>
              <a:gd name="adj" fmla="val 8000"/>
            </a:avLst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1700784"/>
            <a:ext cx="4151376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2026 下半年关注</a:t>
            </a:r>
          </a:p>
        </p:txBody>
      </p:sp>
      <p:sp>
        <p:nvSpPr>
          <p:cNvPr id="25" name="Oval 24"/>
          <p:cNvSpPr/>
          <p:nvPr/>
        </p:nvSpPr>
        <p:spPr>
          <a:xfrm>
            <a:off x="7068312" y="2359152"/>
            <a:ext cx="256032" cy="2560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2404872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340864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保障自动化建模专题稳定交付，形成标准化方法沉淀</a:t>
            </a:r>
          </a:p>
        </p:txBody>
      </p:sp>
      <p:sp>
        <p:nvSpPr>
          <p:cNvPr id="28" name="Oval 27"/>
          <p:cNvSpPr/>
          <p:nvPr/>
        </p:nvSpPr>
        <p:spPr>
          <a:xfrm>
            <a:off x="7068312" y="2889504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935224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871216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参与超融合数据库研发，推动模型对象纳入统一数据底座</a:t>
            </a:r>
          </a:p>
        </p:txBody>
      </p:sp>
      <p:sp>
        <p:nvSpPr>
          <p:cNvPr id="31" name="Oval 30"/>
          <p:cNvSpPr/>
          <p:nvPr/>
        </p:nvSpPr>
        <p:spPr>
          <a:xfrm>
            <a:off x="7068312" y="3419856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3465576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3401568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支撑数字孪生专项课题交付，形成可展示、可查询、可分析成果</a:t>
            </a:r>
          </a:p>
        </p:txBody>
      </p:sp>
      <p:sp>
        <p:nvSpPr>
          <p:cNvPr id="34" name="Oval 33"/>
          <p:cNvSpPr/>
          <p:nvPr/>
        </p:nvSpPr>
        <p:spPr>
          <a:xfrm>
            <a:off x="7068312" y="3950208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995928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931920"/>
            <a:ext cx="361188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FFFFFF"/>
                </a:solidFill>
                <a:latin typeface="Microsoft YaHei"/>
              </a:rPr>
              <a:t>凝练论文、专利和技术资料，形成可复用技术资产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11696" y="5157216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94576" y="5266944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阶段成果的核心价值在于形成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4576" y="5504688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可迁移、可复用、可持续演进的技术体系。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从阶段成果走向体系化能力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1.png"/>
          <p:cNvPicPr>
            <a:picLocks noChangeAspect="1"/>
          </p:cNvPicPr>
          <p:nvPr/>
        </p:nvPicPr>
        <p:blipFill>
          <a:blip r:embed="rId2"/>
          <a:srcRect l="12779" r="1277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38528"/>
            <a:ext cx="292608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61488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E1FF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10128"/>
            <a:ext cx="475488" cy="457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94176"/>
            <a:ext cx="5669280" cy="7498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推动建模成果向数据资产转化，</a:t>
            </a:r>
            <a:br/>
            <a:r>
              <a:t>支撑城市数字孪生与专项应用建设。</a:t>
            </a:r>
          </a:p>
        </p:txBody>
      </p:sp>
      <p:pic>
        <p:nvPicPr>
          <p:cNvPr id="8" name="Picture 7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6144768"/>
            <a:ext cx="2084831" cy="185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