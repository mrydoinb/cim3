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8"/>
  </p:handoutMasterIdLst>
  <p:sldIdLst>
    <p:sldId id="256" r:id="rId3"/>
    <p:sldId id="531" r:id="rId5"/>
    <p:sldId id="540" r:id="rId6"/>
    <p:sldId id="600" r:id="rId7"/>
    <p:sldId id="587" r:id="rId8"/>
    <p:sldId id="601" r:id="rId9"/>
    <p:sldId id="603" r:id="rId10"/>
    <p:sldId id="604" r:id="rId11"/>
    <p:sldId id="605" r:id="rId12"/>
    <p:sldId id="608" r:id="rId13"/>
    <p:sldId id="602" r:id="rId14"/>
    <p:sldId id="606" r:id="rId15"/>
    <p:sldId id="607" r:id="rId16"/>
    <p:sldId id="586" r:id="rId17"/>
  </p:sldIdLst>
  <p:sldSz cx="12192000" cy="6858000"/>
  <p:notesSz cx="6858000" cy="9144000"/>
  <p:custDataLst>
    <p:tags r:id="rId2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84" userDrawn="1">
          <p15:clr>
            <a:srgbClr val="A4A3A4"/>
          </p15:clr>
        </p15:guide>
        <p15:guide id="2" pos="3777" userDrawn="1">
          <p15:clr>
            <a:srgbClr val="A4A3A4"/>
          </p15:clr>
        </p15:guide>
        <p15:guide id="3" pos="256" userDrawn="1">
          <p15:clr>
            <a:srgbClr val="A4A3A4"/>
          </p15:clr>
        </p15:guide>
        <p15:guide id="4" pos="7488" userDrawn="1">
          <p15:clr>
            <a:srgbClr val="A4A3A4"/>
          </p15:clr>
        </p15:guide>
        <p15:guide id="5" orient="horz" pos="418" userDrawn="1">
          <p15:clr>
            <a:srgbClr val="A4A3A4"/>
          </p15:clr>
        </p15:guide>
        <p15:guide id="6" orient="horz" pos="462" userDrawn="1">
          <p15:clr>
            <a:srgbClr val="A4A3A4"/>
          </p15:clr>
        </p15:guide>
        <p15:guide id="8" orient="horz" pos="406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PS" initials="W" lastIdx="1" clrIdx="0"/>
  <p:cmAuthor id="2" name="作者" initials="A" lastIdx="0" clrIdx="1"/>
  <p:cmAuthor id="3" name="曹宏坤" initials="authorId_697021710" lastIdx="1" clrIdx="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C92400"/>
    <a:srgbClr val="0070D8"/>
    <a:srgbClr val="E8F2FB"/>
    <a:srgbClr val="E9F3FC"/>
    <a:srgbClr val="E2E2E2"/>
    <a:srgbClr val="EDF3FA"/>
    <a:srgbClr val="EDF8FE"/>
    <a:srgbClr val="ECFBFD"/>
    <a:srgbClr val="EDF5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4660"/>
  </p:normalViewPr>
  <p:slideViewPr>
    <p:cSldViewPr snapToGrid="0" showGuides="1">
      <p:cViewPr>
        <p:scale>
          <a:sx n="66" d="100"/>
          <a:sy n="66" d="100"/>
        </p:scale>
        <p:origin x="246" y="618"/>
      </p:cViewPr>
      <p:guideLst>
        <p:guide orient="horz" pos="1984"/>
        <p:guide pos="3777"/>
        <p:guide pos="256"/>
        <p:guide pos="7488"/>
        <p:guide orient="horz" pos="418"/>
        <p:guide orient="horz" pos="462"/>
        <p:guide orient="horz" pos="40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handoutMaster" Target="handoutMasters/handout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ableStyles" Target="tableStyles.xml"/><Relationship Id="rId22" Type="http://schemas.openxmlformats.org/officeDocument/2006/relationships/commentAuthors" Target="commentAuthors.xml"/><Relationship Id="rId23" Type="http://schemas.openxmlformats.org/officeDocument/2006/relationships/tags" Target="tags/tag157.xml"/></Relationships>
</file>

<file path=ppt/comments/comment1.xml><?xml version="1.0" encoding="utf-8"?>
<p:cmLst xmlns:a="http://schemas.openxmlformats.org/drawingml/2006/main" xmlns:r="http://schemas.openxmlformats.org/officeDocument/2006/relationships" xmlns:p="http://schemas.openxmlformats.org/presentationml/2006/main">
  <p:cm authorId="3" dt="2026-06-23T05:06:30.752" idx="1">
    <p:pos x="10" y="10"/>
    <p:text>“本次汇报分四个部分。首先介绍目前已经开展的 CIM 自动化建模工作，这是后续技术路线的基础；第二说明总体技术路线；第三结合目前工作中暴露的问题，梳理后续需要重点突破的方向；最后重点汇报下一阶段在超融合数据库研发和数字孪生专项课题方面的工作设想。”</p:tex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这一页不讲抽象的调试流程，而是用这次真实的斜交路口问题说明我们如何完成定位。</a:t>
            </a:r>
            <a:br/>
            <a:br/>
            <a:r>
              <a:t>第一张图是问题出现时的模型。可以看到，主路的道路面和支路的道路面已经能够连通，但支路两侧的人行道、路缘等路侧构件仍按直线道路的方式向前延伸。在斜交接入条件下，这些构件直接横穿主路，形成明显的硬折、重叠和边界断口。因此，最初不能把问题笼统归结为道路没有生成成功，而要判断到底是道路面、标线、设施，还是路侧构件中的哪一层出了问题。</a:t>
            </a:r>
            <a:br/>
            <a:br/>
            <a:r>
              <a:t>定位的第一步，是把问题从全量城市模型中隔离出来。我们按路口单独导出 OBJ 和 FBX，在 Blender 中逐层隐藏标线、路灯等对象。这样可以确认：道路面本身已经连通，异常集中在 Sidewalk、路缘和相邻路侧带的连接位置。</a:t>
            </a:r>
            <a:br/>
            <a:br/>
            <a:r>
              <a:t>继续回查生成逻辑后发现，直线路段上的各类路侧构件，是根据道路中心线和断面宽度独立扫掠生成的。旧逻辑在进入路口时仍然采用直线端部和固定裁剪范围，没有同时考虑两条路口 arm 的方向夹角、道路宽度以及构件处于道路外侧的位置关系。这个逻辑在近似正交路口中不容易暴露，但在斜交支路接入主路时会把原本合理的直线断面延伸成图中的穿插。所以根因不是简单的坐标偏移或某个宽度参数不准确，而是直线道路规则没有覆盖斜交路口的连接情形。</a:t>
            </a:r>
            <a:br/>
            <a:br/>
            <a:r>
              <a:t>修正时，我们没有用局部补片把缺口盖住，而是从路口 arms 和道路断面规则中提取连接点。根据两条道路的切向方向和各自断面宽度，生成具有连续切向的曲线连接边界，再构造可变宽的连接带，并通过平面 union、intersection 和 difference 与路口范围统一裁剪。这样，人行道、路缘和其他路侧构件进入路口时仍保持与直线路段一致的断面语义，但几何边界会根据斜交角度自然收口。</a:t>
            </a:r>
            <a:br/>
            <a:br/>
            <a:r>
              <a:t>第二张图是修正后的结果。两侧边界已经从直线横穿变为连续曲线，支路能够平顺接入主路，同时没有破坏斑马线和其他附属设施的位置。验证时先比较单路口前后结果，再回归全量模型，并检查 CIM3 与 CIM4 共用逻辑。这次工作的价值，不只是修复一个路口，而是把夹角、断面宽度和构件类型沉淀成可复用的路口连接规则。</a:t>
            </a:r>
            <a:br/>
            <a:br/>
            <a:r>
              <a:t>汇报时建议先指第一张图中的红圈，说清楚‘道路面正常、路侧构件异常’；再沿中间五步讲清隔离和根因；最后指第二张图，强调修复结果和规则沉淀。</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xml"/><Relationship Id="rId3" Type="http://schemas.openxmlformats.org/officeDocument/2006/relationships/tags" Target="../tags/tag2.xml"/><Relationship Id="rId4" Type="http://schemas.openxmlformats.org/officeDocument/2006/relationships/tags" Target="../tags/tag3.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4.xml"/><Relationship Id="rId3" Type="http://schemas.openxmlformats.org/officeDocument/2006/relationships/tags" Target="../tags/tag5.xml"/><Relationship Id="rId4" Type="http://schemas.openxmlformats.org/officeDocument/2006/relationships/tags" Target="../tags/tag6.xml"/><Relationship Id="rId5" Type="http://schemas.openxmlformats.org/officeDocument/2006/relationships/tags" Target="../tags/tag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1307643" y="7380248"/>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4811643" y="7380248"/>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9573243" y="7380248"/>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96000" y="394405"/>
            <a:ext cx="10800000" cy="792000"/>
          </a:xfrm>
        </p:spPr>
        <p:txBody>
          <a:bodyPr/>
          <a:lstStyle>
            <a:lvl1pPr algn="ctr">
              <a:defRPr sz="3200">
                <a:solidFill>
                  <a:schemeClr val="tx1">
                    <a:lumMod val="85000"/>
                    <a:lumOff val="15000"/>
                  </a:schemeClr>
                </a:solidFill>
                <a:latin typeface="+mj-ea"/>
                <a:ea typeface="+mj-ea"/>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4116000" y="6314400"/>
            <a:ext cx="3960000" cy="316800"/>
          </a:xfrm>
        </p:spPr>
        <p:txBody>
          <a:bodyPr/>
          <a:lstStyle/>
          <a:p>
            <a:endParaRPr lang="zh-CN" altLang="en-US" dirty="0"/>
          </a:p>
        </p:txBody>
      </p:sp>
      <p:sp>
        <p:nvSpPr>
          <p:cNvPr id="5" name="灯片编号占位符 4"/>
          <p:cNvSpPr>
            <a:spLocks noGrp="1"/>
          </p:cNvSpPr>
          <p:nvPr>
            <p:ph type="sldNum" sz="quarter" idx="12"/>
            <p:custDataLst>
              <p:tags r:id="rId5"/>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tags" Target="../tags/tag8.xml"/><Relationship Id="rId5" Type="http://schemas.openxmlformats.org/officeDocument/2006/relationships/tags" Target="../tags/tag9.xml"/><Relationship Id="rId6" Type="http://schemas.openxmlformats.org/officeDocument/2006/relationships/tags" Target="../tags/tag10.xml"/><Relationship Id="rId7" Type="http://schemas.openxmlformats.org/officeDocument/2006/relationships/tags" Target="../tags/tag11.xml"/><Relationship Id="rId8" Type="http://schemas.openxmlformats.org/officeDocument/2006/relationships/tags" Target="../tags/tag12.xml"/><Relationship Id="rId9" Type="http://schemas.openxmlformats.org/officeDocument/2006/relationships/tags" Target="../tags/tag13.xml"/><Relationship Id="rId10" Type="http://schemas.openxmlformats.org/officeDocument/2006/relationships/tags" Target="../tags/tag14.xml"/><Relationship Id="rId11" Type="http://schemas.openxmlformats.org/officeDocument/2006/relationships/tags" Target="../tags/tag15.xml"/><Relationship Id="rId12" Type="http://schemas.openxmlformats.org/officeDocument/2006/relationships/tags" Target="../tags/tag16.xml"/><Relationship Id="rId13" Type="http://schemas.openxmlformats.org/officeDocument/2006/relationships/tags" Target="../tags/tag17.xml"/><Relationship Id="rId14" Type="http://schemas.openxmlformats.org/officeDocument/2006/relationships/tags" Target="../tags/tag18.xml"/><Relationship Id="rId15" Type="http://schemas.openxmlformats.org/officeDocument/2006/relationships/tags" Target="../tags/tag19.xml"/><Relationship Id="rId16" Type="http://schemas.openxmlformats.org/officeDocument/2006/relationships/tags" Target="../tags/tag20.xml"/><Relationship Id="rId17" Type="http://schemas.openxmlformats.org/officeDocument/2006/relationships/tags" Target="../tags/tag21.xml"/><Relationship Id="rId18" Type="http://schemas.openxmlformats.org/officeDocument/2006/relationships/tags" Target="../tags/tag22.xml"/><Relationship Id="rId19" Type="http://schemas.openxmlformats.org/officeDocument/2006/relationships/tags" Target="../tags/tag23.xml"/><Relationship Id="rId20" Type="http://schemas.openxmlformats.org/officeDocument/2006/relationships/tags" Target="../tags/tag24.xml"/><Relationship Id="rId21" Type="http://schemas.openxmlformats.org/officeDocument/2006/relationships/tags" Target="../tags/tag25.xml"/><Relationship Id="rId22" Type="http://schemas.openxmlformats.org/officeDocument/2006/relationships/tags" Target="../tags/tag26.xml"/><Relationship Id="rId23" Type="http://schemas.openxmlformats.org/officeDocument/2006/relationships/tags" Target="../tags/tag27.xml"/><Relationship Id="rId24" Type="http://schemas.openxmlformats.org/officeDocument/2006/relationships/tags" Target="../tags/tag28.xml"/><Relationship Id="rId25" Type="http://schemas.openxmlformats.org/officeDocument/2006/relationships/tags" Target="../tags/tag29.xml"/><Relationship Id="rId26" Type="http://schemas.openxmlformats.org/officeDocument/2006/relationships/tags" Target="../tags/tag30.xml"/><Relationship Id="rId27" Type="http://schemas.openxmlformats.org/officeDocument/2006/relationships/tags" Target="../tags/tag31.xml"/><Relationship Id="rId28" Type="http://schemas.openxmlformats.org/officeDocument/2006/relationships/tags" Target="../tags/tag32.xml"/><Relationship Id="rId29" Type="http://schemas.openxmlformats.org/officeDocument/2006/relationships/slideLayout" Target="../slideLayouts/slideLayout1.xml"/><Relationship Id="rId30" Type="http://schemas.openxmlformats.org/officeDocument/2006/relationships/notesSlide" Target="../notesSlides/notesSlide2.xml"/><Relationship Id="rId31" Type="http://schemas.openxmlformats.org/officeDocument/2006/relationships/comments" Target="../comments/comment1.xml"/></Relationships>
</file>

<file path=ppt/slides/_rels/slide3.xml.rels><?xml version='1.0' encoding='UTF-8' standalone='yes'?>
<Relationships xmlns="http://schemas.openxmlformats.org/package/2006/relationships"><Relationship Id="rId1" Type="http://schemas.openxmlformats.org/officeDocument/2006/relationships/tags" Target="../tags/tag33.xml"/><Relationship Id="rId2" Type="http://schemas.openxmlformats.org/officeDocument/2006/relationships/tags" Target="../tags/tag34.xml"/><Relationship Id="rId3" Type="http://schemas.openxmlformats.org/officeDocument/2006/relationships/tags" Target="../tags/tag35.xml"/><Relationship Id="rId4" Type="http://schemas.openxmlformats.org/officeDocument/2006/relationships/image" Target="../media/image6.png"/><Relationship Id="rId5" Type="http://schemas.openxmlformats.org/officeDocument/2006/relationships/tags" Target="../tags/tag36.xml"/><Relationship Id="rId6" Type="http://schemas.openxmlformats.org/officeDocument/2006/relationships/tags" Target="../tags/tag37.xml"/><Relationship Id="rId7" Type="http://schemas.openxmlformats.org/officeDocument/2006/relationships/tags" Target="../tags/tag38.xml"/><Relationship Id="rId8" Type="http://schemas.openxmlformats.org/officeDocument/2006/relationships/tags" Target="../tags/tag39.xml"/><Relationship Id="rId9" Type="http://schemas.openxmlformats.org/officeDocument/2006/relationships/tags" Target="../tags/tag40.xml"/><Relationship Id="rId10" Type="http://schemas.openxmlformats.org/officeDocument/2006/relationships/tags" Target="../tags/tag41.xml"/><Relationship Id="rId11" Type="http://schemas.openxmlformats.org/officeDocument/2006/relationships/tags" Target="../tags/tag42.xml"/><Relationship Id="rId12" Type="http://schemas.openxmlformats.org/officeDocument/2006/relationships/tags" Target="../tags/tag43.xml"/><Relationship Id="rId13" Type="http://schemas.openxmlformats.org/officeDocument/2006/relationships/tags" Target="../tags/tag44.xml"/><Relationship Id="rId14" Type="http://schemas.openxmlformats.org/officeDocument/2006/relationships/slideLayout" Target="../slideLayouts/slideLayout1.xml"/><Relationship Id="rId1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tags" Target="../tags/tag45.xml"/><Relationship Id="rId5" Type="http://schemas.openxmlformats.org/officeDocument/2006/relationships/tags" Target="../tags/tag46.xml"/><Relationship Id="rId6" Type="http://schemas.openxmlformats.org/officeDocument/2006/relationships/tags" Target="../tags/tag47.xml"/><Relationship Id="rId7" Type="http://schemas.openxmlformats.org/officeDocument/2006/relationships/tags" Target="../tags/tag48.xml"/><Relationship Id="rId8" Type="http://schemas.openxmlformats.org/officeDocument/2006/relationships/tags" Target="../tags/tag49.xml"/><Relationship Id="rId9" Type="http://schemas.openxmlformats.org/officeDocument/2006/relationships/tags" Target="../tags/tag50.xml"/><Relationship Id="rId10" Type="http://schemas.openxmlformats.org/officeDocument/2006/relationships/tags" Target="../tags/tag51.xml"/><Relationship Id="rId11" Type="http://schemas.openxmlformats.org/officeDocument/2006/relationships/tags" Target="../tags/tag52.xml"/><Relationship Id="rId12" Type="http://schemas.openxmlformats.org/officeDocument/2006/relationships/tags" Target="../tags/tag53.xml"/><Relationship Id="rId13" Type="http://schemas.openxmlformats.org/officeDocument/2006/relationships/tags" Target="../tags/tag54.xml"/><Relationship Id="rId14" Type="http://schemas.openxmlformats.org/officeDocument/2006/relationships/tags" Target="../tags/tag55.xml"/><Relationship Id="rId15" Type="http://schemas.openxmlformats.org/officeDocument/2006/relationships/tags" Target="../tags/tag56.xml"/><Relationship Id="rId16" Type="http://schemas.openxmlformats.org/officeDocument/2006/relationships/tags" Target="../tags/tag57.xml"/><Relationship Id="rId17" Type="http://schemas.openxmlformats.org/officeDocument/2006/relationships/tags" Target="../tags/tag58.xml"/><Relationship Id="rId18" Type="http://schemas.openxmlformats.org/officeDocument/2006/relationships/tags" Target="../tags/tag59.xml"/><Relationship Id="rId19" Type="http://schemas.openxmlformats.org/officeDocument/2006/relationships/tags" Target="../tags/tag60.xml"/><Relationship Id="rId20" Type="http://schemas.openxmlformats.org/officeDocument/2006/relationships/tags" Target="../tags/tag61.xml"/><Relationship Id="rId21" Type="http://schemas.openxmlformats.org/officeDocument/2006/relationships/tags" Target="../tags/tag62.xml"/><Relationship Id="rId22" Type="http://schemas.openxmlformats.org/officeDocument/2006/relationships/tags" Target="../tags/tag63.xml"/><Relationship Id="rId23" Type="http://schemas.openxmlformats.org/officeDocument/2006/relationships/tags" Target="../tags/tag64.xml"/><Relationship Id="rId24" Type="http://schemas.openxmlformats.org/officeDocument/2006/relationships/tags" Target="../tags/tag65.xml"/><Relationship Id="rId25" Type="http://schemas.openxmlformats.org/officeDocument/2006/relationships/tags" Target="../tags/tag66.xml"/><Relationship Id="rId26" Type="http://schemas.openxmlformats.org/officeDocument/2006/relationships/tags" Target="../tags/tag67.xml"/><Relationship Id="rId27" Type="http://schemas.openxmlformats.org/officeDocument/2006/relationships/tags" Target="../tags/tag68.xml"/><Relationship Id="rId28" Type="http://schemas.openxmlformats.org/officeDocument/2006/relationships/tags" Target="../tags/tag69.xml"/><Relationship Id="rId29" Type="http://schemas.openxmlformats.org/officeDocument/2006/relationships/slideLayout" Target="../slideLayouts/slideLayout1.xml"/><Relationship Id="rId30"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jpeg"/><Relationship Id="rId3"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tags" Target="../tags/tag70.xml"/><Relationship Id="rId5" Type="http://schemas.openxmlformats.org/officeDocument/2006/relationships/tags" Target="../tags/tag71.xml"/><Relationship Id="rId6" Type="http://schemas.openxmlformats.org/officeDocument/2006/relationships/tags" Target="../tags/tag72.xml"/><Relationship Id="rId7" Type="http://schemas.openxmlformats.org/officeDocument/2006/relationships/tags" Target="../tags/tag73.xml"/><Relationship Id="rId8" Type="http://schemas.openxmlformats.org/officeDocument/2006/relationships/tags" Target="../tags/tag74.xml"/><Relationship Id="rId9" Type="http://schemas.openxmlformats.org/officeDocument/2006/relationships/tags" Target="../tags/tag75.xml"/><Relationship Id="rId10" Type="http://schemas.openxmlformats.org/officeDocument/2006/relationships/tags" Target="../tags/tag76.xml"/><Relationship Id="rId11" Type="http://schemas.openxmlformats.org/officeDocument/2006/relationships/tags" Target="../tags/tag77.xml"/><Relationship Id="rId12" Type="http://schemas.openxmlformats.org/officeDocument/2006/relationships/tags" Target="../tags/tag78.xml"/><Relationship Id="rId13" Type="http://schemas.openxmlformats.org/officeDocument/2006/relationships/tags" Target="../tags/tag79.xml"/><Relationship Id="rId14" Type="http://schemas.openxmlformats.org/officeDocument/2006/relationships/tags" Target="../tags/tag80.xml"/><Relationship Id="rId15" Type="http://schemas.openxmlformats.org/officeDocument/2006/relationships/tags" Target="../tags/tag81.xml"/><Relationship Id="rId16" Type="http://schemas.openxmlformats.org/officeDocument/2006/relationships/tags" Target="../tags/tag82.xml"/><Relationship Id="rId17" Type="http://schemas.openxmlformats.org/officeDocument/2006/relationships/tags" Target="../tags/tag83.xml"/><Relationship Id="rId18" Type="http://schemas.openxmlformats.org/officeDocument/2006/relationships/tags" Target="../tags/tag84.xml"/><Relationship Id="rId19" Type="http://schemas.openxmlformats.org/officeDocument/2006/relationships/tags" Target="../tags/tag85.xml"/><Relationship Id="rId20" Type="http://schemas.openxmlformats.org/officeDocument/2006/relationships/tags" Target="../tags/tag86.xml"/><Relationship Id="rId21" Type="http://schemas.openxmlformats.org/officeDocument/2006/relationships/tags" Target="../tags/tag87.xml"/><Relationship Id="rId22" Type="http://schemas.openxmlformats.org/officeDocument/2006/relationships/tags" Target="../tags/tag88.xml"/><Relationship Id="rId23" Type="http://schemas.openxmlformats.org/officeDocument/2006/relationships/tags" Target="../tags/tag89.xml"/><Relationship Id="rId24" Type="http://schemas.openxmlformats.org/officeDocument/2006/relationships/tags" Target="../tags/tag90.xml"/><Relationship Id="rId25" Type="http://schemas.openxmlformats.org/officeDocument/2006/relationships/tags" Target="../tags/tag91.xml"/><Relationship Id="rId26" Type="http://schemas.openxmlformats.org/officeDocument/2006/relationships/tags" Target="../tags/tag92.xml"/><Relationship Id="rId27" Type="http://schemas.openxmlformats.org/officeDocument/2006/relationships/tags" Target="../tags/tag93.xml"/><Relationship Id="rId28" Type="http://schemas.openxmlformats.org/officeDocument/2006/relationships/tags" Target="../tags/tag94.xml"/><Relationship Id="rId29"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tags" Target="../tags/tag95.xml"/><Relationship Id="rId2" Type="http://schemas.openxmlformats.org/officeDocument/2006/relationships/tags" Target="../tags/tag96.xml"/><Relationship Id="rId3" Type="http://schemas.openxmlformats.org/officeDocument/2006/relationships/tags" Target="../tags/tag97.xml"/><Relationship Id="rId4" Type="http://schemas.openxmlformats.org/officeDocument/2006/relationships/tags" Target="../tags/tag98.xml"/><Relationship Id="rId5" Type="http://schemas.openxmlformats.org/officeDocument/2006/relationships/tags" Target="../tags/tag99.xml"/><Relationship Id="rId6" Type="http://schemas.openxmlformats.org/officeDocument/2006/relationships/tags" Target="../tags/tag100.xml"/><Relationship Id="rId7" Type="http://schemas.openxmlformats.org/officeDocument/2006/relationships/image" Target="../media/image6.png"/><Relationship Id="rId8" Type="http://schemas.openxmlformats.org/officeDocument/2006/relationships/tags" Target="../tags/tag101.xml"/><Relationship Id="rId9" Type="http://schemas.openxmlformats.org/officeDocument/2006/relationships/tags" Target="../tags/tag102.xml"/><Relationship Id="rId10" Type="http://schemas.openxmlformats.org/officeDocument/2006/relationships/tags" Target="../tags/tag103.xml"/><Relationship Id="rId11" Type="http://schemas.openxmlformats.org/officeDocument/2006/relationships/tags" Target="../tags/tag104.xml"/><Relationship Id="rId12" Type="http://schemas.openxmlformats.org/officeDocument/2006/relationships/tags" Target="../tags/tag105.xml"/><Relationship Id="rId13" Type="http://schemas.openxmlformats.org/officeDocument/2006/relationships/tags" Target="../tags/tag106.xml"/><Relationship Id="rId14" Type="http://schemas.openxmlformats.org/officeDocument/2006/relationships/tags" Target="../tags/tag107.xml"/><Relationship Id="rId15" Type="http://schemas.openxmlformats.org/officeDocument/2006/relationships/tags" Target="../tags/tag108.xml"/><Relationship Id="rId16" Type="http://schemas.openxmlformats.org/officeDocument/2006/relationships/tags" Target="../tags/tag109.xml"/><Relationship Id="rId17" Type="http://schemas.openxmlformats.org/officeDocument/2006/relationships/tags" Target="../tags/tag110.xml"/><Relationship Id="rId18" Type="http://schemas.openxmlformats.org/officeDocument/2006/relationships/tags" Target="../tags/tag111.xml"/><Relationship Id="rId19" Type="http://schemas.openxmlformats.org/officeDocument/2006/relationships/tags" Target="../tags/tag112.xml"/><Relationship Id="rId20" Type="http://schemas.openxmlformats.org/officeDocument/2006/relationships/image" Target="../media/image8.png"/><Relationship Id="rId21" Type="http://schemas.openxmlformats.org/officeDocument/2006/relationships/image" Target="../media/image9.png"/><Relationship Id="rId22" Type="http://schemas.openxmlformats.org/officeDocument/2006/relationships/image" Target="../media/image10.png"/><Relationship Id="rId23"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tags" Target="../tags/tag113.xml"/><Relationship Id="rId3" Type="http://schemas.openxmlformats.org/officeDocument/2006/relationships/tags" Target="../tags/tag114.xml"/><Relationship Id="rId4" Type="http://schemas.openxmlformats.org/officeDocument/2006/relationships/tags" Target="../tags/tag115.xml"/><Relationship Id="rId5" Type="http://schemas.openxmlformats.org/officeDocument/2006/relationships/tags" Target="../tags/tag116.xml"/><Relationship Id="rId6" Type="http://schemas.openxmlformats.org/officeDocument/2006/relationships/tags" Target="../tags/tag117.xml"/><Relationship Id="rId7" Type="http://schemas.openxmlformats.org/officeDocument/2006/relationships/tags" Target="../tags/tag118.xml"/><Relationship Id="rId8" Type="http://schemas.openxmlformats.org/officeDocument/2006/relationships/tags" Target="../tags/tag119.xml"/><Relationship Id="rId9" Type="http://schemas.openxmlformats.org/officeDocument/2006/relationships/tags" Target="../tags/tag120.xml"/><Relationship Id="rId10" Type="http://schemas.openxmlformats.org/officeDocument/2006/relationships/tags" Target="../tags/tag121.xml"/><Relationship Id="rId11" Type="http://schemas.openxmlformats.org/officeDocument/2006/relationships/tags" Target="../tags/tag122.xml"/><Relationship Id="rId12" Type="http://schemas.openxmlformats.org/officeDocument/2006/relationships/tags" Target="../tags/tag123.xml"/><Relationship Id="rId13" Type="http://schemas.openxmlformats.org/officeDocument/2006/relationships/tags" Target="../tags/tag124.xml"/><Relationship Id="rId14" Type="http://schemas.openxmlformats.org/officeDocument/2006/relationships/tags" Target="../tags/tag125.xml"/><Relationship Id="rId15" Type="http://schemas.openxmlformats.org/officeDocument/2006/relationships/tags" Target="../tags/tag126.xml"/><Relationship Id="rId16" Type="http://schemas.openxmlformats.org/officeDocument/2006/relationships/tags" Target="../tags/tag127.xml"/><Relationship Id="rId17" Type="http://schemas.openxmlformats.org/officeDocument/2006/relationships/tags" Target="../tags/tag128.xml"/><Relationship Id="rId18" Type="http://schemas.openxmlformats.org/officeDocument/2006/relationships/tags" Target="../tags/tag129.xml"/><Relationship Id="rId19" Type="http://schemas.openxmlformats.org/officeDocument/2006/relationships/tags" Target="../tags/tag130.xml"/><Relationship Id="rId20" Type="http://schemas.openxmlformats.org/officeDocument/2006/relationships/tags" Target="../tags/tag131.xml"/><Relationship Id="rId21" Type="http://schemas.openxmlformats.org/officeDocument/2006/relationships/slideLayout" Target="../slideLayouts/slideLayout1.xml"/><Relationship Id="rId22" Type="http://schemas.openxmlformats.org/officeDocument/2006/relationships/image" Target="../media/image6.png"/><Relationship Id="rId23" Type="http://schemas.openxmlformats.org/officeDocument/2006/relationships/image" Target="../media/image15.png"/><Relationship Id="rId24" Type="http://schemas.openxmlformats.org/officeDocument/2006/relationships/image" Target="../media/image16.png"/><Relationship Id="rId25"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tags" Target="../tags/tag132.xml"/><Relationship Id="rId5" Type="http://schemas.openxmlformats.org/officeDocument/2006/relationships/tags" Target="../tags/tag133.xml"/><Relationship Id="rId6" Type="http://schemas.openxmlformats.org/officeDocument/2006/relationships/tags" Target="../tags/tag134.xml"/><Relationship Id="rId7" Type="http://schemas.openxmlformats.org/officeDocument/2006/relationships/tags" Target="../tags/tag135.xml"/><Relationship Id="rId8" Type="http://schemas.openxmlformats.org/officeDocument/2006/relationships/tags" Target="../tags/tag136.xml"/><Relationship Id="rId9" Type="http://schemas.openxmlformats.org/officeDocument/2006/relationships/tags" Target="../tags/tag137.xml"/><Relationship Id="rId10" Type="http://schemas.openxmlformats.org/officeDocument/2006/relationships/tags" Target="../tags/tag138.xml"/><Relationship Id="rId11" Type="http://schemas.openxmlformats.org/officeDocument/2006/relationships/tags" Target="../tags/tag139.xml"/><Relationship Id="rId12" Type="http://schemas.openxmlformats.org/officeDocument/2006/relationships/tags" Target="../tags/tag140.xml"/><Relationship Id="rId13" Type="http://schemas.openxmlformats.org/officeDocument/2006/relationships/tags" Target="../tags/tag141.xml"/><Relationship Id="rId14" Type="http://schemas.openxmlformats.org/officeDocument/2006/relationships/tags" Target="../tags/tag142.xml"/><Relationship Id="rId15" Type="http://schemas.openxmlformats.org/officeDocument/2006/relationships/tags" Target="../tags/tag143.xml"/><Relationship Id="rId16" Type="http://schemas.openxmlformats.org/officeDocument/2006/relationships/tags" Target="../tags/tag144.xml"/><Relationship Id="rId17" Type="http://schemas.openxmlformats.org/officeDocument/2006/relationships/tags" Target="../tags/tag145.xml"/><Relationship Id="rId18" Type="http://schemas.openxmlformats.org/officeDocument/2006/relationships/tags" Target="../tags/tag146.xml"/><Relationship Id="rId19" Type="http://schemas.openxmlformats.org/officeDocument/2006/relationships/tags" Target="../tags/tag147.xml"/><Relationship Id="rId20" Type="http://schemas.openxmlformats.org/officeDocument/2006/relationships/tags" Target="../tags/tag148.xml"/><Relationship Id="rId21" Type="http://schemas.openxmlformats.org/officeDocument/2006/relationships/tags" Target="../tags/tag149.xml"/><Relationship Id="rId22" Type="http://schemas.openxmlformats.org/officeDocument/2006/relationships/tags" Target="../tags/tag150.xml"/><Relationship Id="rId23" Type="http://schemas.openxmlformats.org/officeDocument/2006/relationships/tags" Target="../tags/tag151.xml"/><Relationship Id="rId24" Type="http://schemas.openxmlformats.org/officeDocument/2006/relationships/tags" Target="../tags/tag152.xml"/><Relationship Id="rId25" Type="http://schemas.openxmlformats.org/officeDocument/2006/relationships/tags" Target="../tags/tag153.xml"/><Relationship Id="rId26" Type="http://schemas.openxmlformats.org/officeDocument/2006/relationships/tags" Target="../tags/tag154.xml"/><Relationship Id="rId27" Type="http://schemas.openxmlformats.org/officeDocument/2006/relationships/tags" Target="../tags/tag155.xml"/><Relationship Id="rId28" Type="http://schemas.openxmlformats.org/officeDocument/2006/relationships/tags" Target="../tags/tag156.xml"/><Relationship Id="rId29"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tretch>
            <a:fillRect/>
          </a:stretch>
        </p:blipFill>
        <p:spPr>
          <a:xfrm rot="21600000">
            <a:off x="0" y="0"/>
            <a:ext cx="12192000" cy="5484466"/>
          </a:xfrm>
          <a:prstGeom prst="rect">
            <a:avLst/>
          </a:prstGeom>
        </p:spPr>
      </p:pic>
      <p:pic>
        <p:nvPicPr>
          <p:cNvPr id="6" name="picture 6"/>
          <p:cNvPicPr>
            <a:picLocks noChangeAspect="1"/>
          </p:cNvPicPr>
          <p:nvPr/>
        </p:nvPicPr>
        <p:blipFill>
          <a:blip r:embed="rId2"/>
          <a:stretch>
            <a:fillRect/>
          </a:stretch>
        </p:blipFill>
        <p:spPr>
          <a:xfrm rot="21600000">
            <a:off x="430000" y="6170676"/>
            <a:ext cx="2993549" cy="256031"/>
          </a:xfrm>
          <a:prstGeom prst="rect">
            <a:avLst/>
          </a:prstGeom>
        </p:spPr>
      </p:pic>
      <p:sp>
        <p:nvSpPr>
          <p:cNvPr id="8" name="textbox 8"/>
          <p:cNvSpPr/>
          <p:nvPr/>
        </p:nvSpPr>
        <p:spPr>
          <a:xfrm>
            <a:off x="10516408" y="6190350"/>
            <a:ext cx="1333500" cy="259715"/>
          </a:xfrm>
          <a:prstGeom prst="rect">
            <a:avLst/>
          </a:prstGeom>
          <a:noFill/>
          <a:ln w="0" cap="flat">
            <a:noFill/>
            <a:prstDash val="solid"/>
            <a:miter lim="0"/>
          </a:ln>
        </p:spPr>
        <p:txBody>
          <a:bodyPr vert="horz" wrap="square" lIns="0" tIns="0" rIns="0" bIns="0"/>
          <a:lstStyle/>
          <a:p>
            <a:pPr algn="l" rtl="0" eaLnBrk="0">
              <a:lnSpc>
                <a:spcPct val="83000"/>
              </a:lnSpc>
            </a:pPr>
            <a:endParaRPr sz="100" dirty="0">
              <a:cs typeface="+mn-ea"/>
              <a:sym typeface="+mn-lt"/>
            </a:endParaRPr>
          </a:p>
          <a:p>
            <a:pPr marL="140970" indent="-128270" algn="l" rtl="0" eaLnBrk="0">
              <a:lnSpc>
                <a:spcPct val="96000"/>
              </a:lnSpc>
            </a:pPr>
            <a:r>
              <a:rPr sz="800" kern="0" spc="0" dirty="0">
                <a:solidFill>
                  <a:srgbClr val="A6A6A6">
                    <a:alpha val="100000"/>
                  </a:srgbClr>
                </a:solidFill>
                <a:cs typeface="+mn-ea"/>
                <a:sym typeface="+mn-lt"/>
              </a:rPr>
              <a:t>让城市更智慧</a:t>
            </a:r>
            <a:r>
              <a:rPr sz="800" kern="0" spc="110" dirty="0">
                <a:solidFill>
                  <a:srgbClr val="A6A6A6">
                    <a:alpha val="100000"/>
                  </a:srgbClr>
                </a:solidFill>
                <a:cs typeface="+mn-ea"/>
                <a:sym typeface="+mn-lt"/>
              </a:rPr>
              <a:t>  </a:t>
            </a:r>
            <a:r>
              <a:rPr sz="800" kern="0" spc="0" dirty="0">
                <a:solidFill>
                  <a:srgbClr val="A6A6A6">
                    <a:alpha val="100000"/>
                  </a:srgbClr>
                </a:solidFill>
                <a:cs typeface="+mn-ea"/>
                <a:sym typeface="+mn-lt"/>
              </a:rPr>
              <a:t>让生活</a:t>
            </a:r>
            <a:r>
              <a:rPr sz="800" kern="0" spc="-10" dirty="0">
                <a:solidFill>
                  <a:srgbClr val="A6A6A6">
                    <a:alpha val="100000"/>
                  </a:srgbClr>
                </a:solidFill>
                <a:cs typeface="+mn-ea"/>
                <a:sym typeface="+mn-lt"/>
              </a:rPr>
              <a:t>更美好</a:t>
            </a:r>
            <a:r>
              <a:rPr sz="800" kern="0" spc="10" dirty="0">
                <a:solidFill>
                  <a:srgbClr val="A6A6A6">
                    <a:alpha val="100000"/>
                  </a:srgbClr>
                </a:solidFill>
                <a:cs typeface="+mn-ea"/>
                <a:sym typeface="+mn-lt"/>
              </a:rPr>
              <a:t> </a:t>
            </a:r>
            <a:r>
              <a:rPr sz="800" kern="0" spc="-10" dirty="0">
                <a:solidFill>
                  <a:srgbClr val="A6A6A6">
                    <a:alpha val="100000"/>
                  </a:srgbClr>
                </a:solidFill>
                <a:cs typeface="+mn-ea"/>
                <a:sym typeface="+mn-lt"/>
              </a:rPr>
              <a:t>Smarter City</a:t>
            </a:r>
            <a:r>
              <a:rPr sz="800" kern="0" spc="20" dirty="0">
                <a:solidFill>
                  <a:srgbClr val="A6A6A6">
                    <a:alpha val="100000"/>
                  </a:srgbClr>
                </a:solidFill>
                <a:cs typeface="+mn-ea"/>
                <a:sym typeface="+mn-lt"/>
              </a:rPr>
              <a:t>   </a:t>
            </a:r>
            <a:r>
              <a:rPr sz="800" kern="0" spc="-10" dirty="0">
                <a:solidFill>
                  <a:srgbClr val="A6A6A6">
                    <a:alpha val="100000"/>
                  </a:srgbClr>
                </a:solidFill>
                <a:cs typeface="+mn-ea"/>
                <a:sym typeface="+mn-lt"/>
              </a:rPr>
              <a:t>Better</a:t>
            </a:r>
            <a:r>
              <a:rPr sz="800" kern="0" spc="80" dirty="0">
                <a:solidFill>
                  <a:srgbClr val="A6A6A6">
                    <a:alpha val="100000"/>
                  </a:srgbClr>
                </a:solidFill>
                <a:cs typeface="+mn-ea"/>
                <a:sym typeface="+mn-lt"/>
              </a:rPr>
              <a:t> </a:t>
            </a:r>
            <a:r>
              <a:rPr sz="800" kern="0" spc="-10" dirty="0">
                <a:solidFill>
                  <a:srgbClr val="A6A6A6">
                    <a:alpha val="100000"/>
                  </a:srgbClr>
                </a:solidFill>
                <a:cs typeface="+mn-ea"/>
                <a:sym typeface="+mn-lt"/>
              </a:rPr>
              <a:t>Lif</a:t>
            </a:r>
            <a:r>
              <a:rPr sz="800" kern="0" spc="-20" dirty="0">
                <a:solidFill>
                  <a:srgbClr val="A6A6A6">
                    <a:alpha val="100000"/>
                  </a:srgbClr>
                </a:solidFill>
                <a:cs typeface="+mn-ea"/>
                <a:sym typeface="+mn-lt"/>
              </a:rPr>
              <a:t>e</a:t>
            </a:r>
            <a:endParaRPr sz="800" dirty="0">
              <a:cs typeface="+mn-ea"/>
              <a:sym typeface="+mn-lt"/>
            </a:endParaRPr>
          </a:p>
        </p:txBody>
      </p:sp>
      <p:sp>
        <p:nvSpPr>
          <p:cNvPr id="3" name="文本框 2"/>
          <p:cNvSpPr txBox="1"/>
          <p:nvPr/>
        </p:nvSpPr>
        <p:spPr>
          <a:xfrm>
            <a:off x="467360" y="2907030"/>
            <a:ext cx="9841230" cy="2020570"/>
          </a:xfrm>
          <a:prstGeom prst="rect">
            <a:avLst/>
          </a:prstGeom>
          <a:noFill/>
        </p:spPr>
        <p:txBody>
          <a:bodyPr wrap="square" rtlCol="0" anchor="t">
            <a:spAutoFit/>
          </a:bodyPr>
          <a:lstStyle/>
          <a:p>
            <a:pPr algn="l" rtl="0" eaLnBrk="0">
              <a:lnSpc>
                <a:spcPct val="81000"/>
              </a:lnSpc>
            </a:pPr>
            <a:endParaRPr sz="100" dirty="0">
              <a:cs typeface="+mn-ea"/>
              <a:sym typeface="+mn-lt"/>
            </a:endParaRPr>
          </a:p>
          <a:p>
            <a:pPr algn="l" rtl="0" eaLnBrk="0">
              <a:lnSpc>
                <a:spcPct val="101000"/>
              </a:lnSpc>
            </a:pPr>
            <a:r>
              <a:rPr lang="zh-CN" altLang="en-US" sz="6000" b="1" kern="0" spc="80" dirty="0">
                <a:solidFill>
                  <a:srgbClr val="FFFFFF">
                    <a:alpha val="100000"/>
                  </a:srgbClr>
                </a:solidFill>
                <a:cs typeface="+mn-ea"/>
                <a:sym typeface="+mn-lt"/>
              </a:rPr>
              <a:t>工作汇报</a:t>
            </a:r>
            <a:endParaRPr sz="2000" dirty="0">
              <a:cs typeface="+mn-ea"/>
              <a:sym typeface="+mn-lt"/>
            </a:endParaRPr>
          </a:p>
          <a:p>
            <a:pPr algn="l" rtl="0" eaLnBrk="0">
              <a:lnSpc>
                <a:spcPct val="101000"/>
              </a:lnSpc>
            </a:pPr>
            <a:endParaRPr sz="1000" dirty="0">
              <a:cs typeface="+mn-ea"/>
              <a:sym typeface="+mn-lt"/>
            </a:endParaRPr>
          </a:p>
          <a:p>
            <a:pPr algn="l" rtl="0" eaLnBrk="0">
              <a:lnSpc>
                <a:spcPct val="101000"/>
              </a:lnSpc>
            </a:pPr>
            <a:endParaRPr sz="1000" dirty="0">
              <a:cs typeface="+mn-ea"/>
              <a:sym typeface="+mn-lt"/>
            </a:endParaRPr>
          </a:p>
          <a:p>
            <a:pPr algn="l" rtl="0" eaLnBrk="0">
              <a:lnSpc>
                <a:spcPct val="115000"/>
              </a:lnSpc>
            </a:pPr>
            <a:endParaRPr sz="500" dirty="0">
              <a:cs typeface="+mn-ea"/>
              <a:sym typeface="+mn-lt"/>
            </a:endParaRPr>
          </a:p>
          <a:p>
            <a:pPr marL="12700" algn="l" rtl="0" eaLnBrk="0">
              <a:lnSpc>
                <a:spcPct val="95000"/>
              </a:lnSpc>
              <a:spcBef>
                <a:spcPts val="5"/>
              </a:spcBef>
            </a:pPr>
            <a:r>
              <a:rPr lang="zh-CN" altLang="en-US" sz="2000" kern="0" spc="80" dirty="0">
                <a:solidFill>
                  <a:srgbClr val="FFFFFF">
                    <a:alpha val="100000"/>
                  </a:srgbClr>
                </a:solidFill>
                <a:cs typeface="+mn-ea"/>
                <a:sym typeface="+mn-lt"/>
              </a:rPr>
              <a:t>汇报人</a:t>
            </a:r>
            <a:r>
              <a:rPr lang="en-US" altLang="zh-CN" sz="2000" kern="0" spc="80" dirty="0">
                <a:solidFill>
                  <a:srgbClr val="FFFFFF">
                    <a:alpha val="100000"/>
                  </a:srgbClr>
                </a:solidFill>
                <a:cs typeface="+mn-ea"/>
                <a:sym typeface="+mn-lt"/>
              </a:rPr>
              <a:t>：</a:t>
            </a:r>
            <a:r>
              <a:rPr lang="zh-CN" altLang="en-US" sz="2000" kern="0" spc="80" dirty="0">
                <a:solidFill>
                  <a:srgbClr val="FFFFFF">
                    <a:alpha val="100000"/>
                  </a:srgbClr>
                </a:solidFill>
                <a:cs typeface="+mn-ea"/>
                <a:sym typeface="+mn-lt"/>
              </a:rPr>
              <a:t>曹宏坤</a:t>
            </a:r>
            <a:endParaRPr lang="zh-CN" altLang="en-US" sz="2000" kern="0" spc="80" dirty="0">
              <a:solidFill>
                <a:srgbClr val="FFFFFF">
                  <a:alpha val="100000"/>
                </a:srgbClr>
              </a:solidFill>
              <a:cs typeface="+mn-ea"/>
              <a:sym typeface="+mn-lt"/>
            </a:endParaRPr>
          </a:p>
          <a:p>
            <a:pPr marL="12700" algn="l" rtl="0" eaLnBrk="0">
              <a:lnSpc>
                <a:spcPct val="95000"/>
              </a:lnSpc>
              <a:spcBef>
                <a:spcPts val="5"/>
              </a:spcBef>
            </a:pPr>
            <a:r>
              <a:rPr lang="zh-CN" altLang="en-US" sz="2000" kern="0" spc="80" dirty="0">
                <a:solidFill>
                  <a:srgbClr val="FFFFFF">
                    <a:alpha val="100000"/>
                  </a:srgbClr>
                </a:solidFill>
                <a:cs typeface="+mn-ea"/>
                <a:sym typeface="+mn-lt"/>
              </a:rPr>
              <a:t>日</a:t>
            </a:r>
            <a:r>
              <a:rPr lang="en-US" altLang="zh-CN" sz="2000" kern="0" spc="80" dirty="0">
                <a:solidFill>
                  <a:srgbClr val="FFFFFF">
                    <a:alpha val="100000"/>
                  </a:srgbClr>
                </a:solidFill>
                <a:cs typeface="+mn-ea"/>
                <a:sym typeface="+mn-lt"/>
              </a:rPr>
              <a:t>   </a:t>
            </a:r>
            <a:r>
              <a:rPr lang="zh-CN" altLang="en-US" sz="2000" kern="0" spc="80" dirty="0">
                <a:solidFill>
                  <a:srgbClr val="FFFFFF">
                    <a:alpha val="100000"/>
                  </a:srgbClr>
                </a:solidFill>
                <a:cs typeface="+mn-ea"/>
                <a:sym typeface="+mn-lt"/>
              </a:rPr>
              <a:t>期</a:t>
            </a:r>
            <a:r>
              <a:rPr lang="en-US" altLang="zh-CN" sz="2000" kern="0" spc="80" dirty="0">
                <a:solidFill>
                  <a:srgbClr val="FFFFFF">
                    <a:alpha val="100000"/>
                  </a:srgbClr>
                </a:solidFill>
                <a:cs typeface="+mn-ea"/>
                <a:sym typeface="+mn-lt"/>
              </a:rPr>
              <a:t>：2026.06.22</a:t>
            </a:r>
            <a:endParaRPr lang="en-US" altLang="zh-CN" sz="2000" kern="0" spc="80" dirty="0">
              <a:solidFill>
                <a:srgbClr val="FFFFFF">
                  <a:alpha val="100000"/>
                </a:srgbClr>
              </a:solidFill>
              <a:cs typeface="+mn-ea"/>
              <a:sym typeface="+mn-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97832" y="6209630"/>
            <a:ext cx="2724794" cy="270250"/>
          </a:xfrm>
          <a:prstGeom prst="rect">
            <a:avLst/>
          </a:prstGeom>
        </p:spPr>
      </p:pic>
      <p:sp>
        <p:nvSpPr>
          <p:cNvPr id="7" name="圆角矩形 4"/>
          <p:cNvSpPr/>
          <p:nvPr/>
        </p:nvSpPr>
        <p:spPr>
          <a:xfrm>
            <a:off x="0" y="0"/>
            <a:ext cx="3752850" cy="6905625"/>
          </a:xfrm>
          <a:prstGeom prst="roundRect">
            <a:avLst>
              <a:gd name="adj" fmla="val 0"/>
            </a:avLst>
          </a:prstGeom>
          <a:blipFill rotWithShape="1">
            <a:blip r:embed="rId2"/>
            <a:stretch>
              <a:fillRect/>
            </a:stretch>
          </a:blip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endParaRPr lang="zh-CN" altLang="en-US" sz="1050" dirty="0">
              <a:solidFill>
                <a:schemeClr val="tx1"/>
              </a:solidFill>
            </a:endParaRPr>
          </a:p>
        </p:txBody>
      </p:sp>
      <p:sp>
        <p:nvSpPr>
          <p:cNvPr id="9" name="图形"/>
          <p:cNvSpPr/>
          <p:nvPr/>
        </p:nvSpPr>
        <p:spPr>
          <a:xfrm>
            <a:off x="0" y="-22225"/>
            <a:ext cx="3752850" cy="6906260"/>
          </a:xfrm>
          <a:prstGeom prst="rect">
            <a:avLst/>
          </a:prstGeom>
          <a:gradFill rotWithShape="0">
            <a:gsLst>
              <a:gs pos="100000">
                <a:srgbClr val="2D66FE">
                  <a:alpha val="0"/>
                </a:srgbClr>
              </a:gs>
              <a:gs pos="0">
                <a:srgbClr val="6EDEF8">
                  <a:alpha val="85000"/>
                </a:srgbClr>
              </a:gs>
              <a:gs pos="100000">
                <a:srgbClr val="1217DE">
                  <a:alpha val="85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字魂58号-创中黑" panose="00000500000000000000" charset="-122"/>
            </a:endParaRPr>
          </a:p>
        </p:txBody>
      </p:sp>
      <p:sp>
        <p:nvSpPr>
          <p:cNvPr id="11" name="标题 2"/>
          <p:cNvSpPr txBox="1"/>
          <p:nvPr/>
        </p:nvSpPr>
        <p:spPr>
          <a:xfrm>
            <a:off x="581025" y="637540"/>
            <a:ext cx="2891155" cy="936625"/>
          </a:xfrm>
          <a:prstGeom prst="rect">
            <a:avLst/>
          </a:prstGeom>
        </p:spPr>
        <p:txBody>
          <a:bodyPr/>
          <a:lstStyle>
            <a:lvl1pPr algn="l" defTabSz="914400" rtl="0" eaLnBrk="1" latinLnBrk="0" hangingPunct="1">
              <a:lnSpc>
                <a:spcPct val="100000"/>
              </a:lnSpc>
              <a:spcBef>
                <a:spcPct val="0"/>
              </a:spcBef>
              <a:buNone/>
              <a:defRPr sz="5400" b="1" kern="1200">
                <a:solidFill>
                  <a:schemeClr val="bg1"/>
                </a:solidFill>
                <a:latin typeface="微软雅黑" panose="020B0503020204020204" charset="-122"/>
                <a:ea typeface="微软雅黑" panose="020B0503020204020204" charset="-122"/>
                <a:cs typeface="+mj-cs"/>
              </a:defRPr>
            </a:lvl1pPr>
          </a:lstStyle>
          <a:p>
            <a:r>
              <a:rPr lang="zh-CN" altLang="en-US"/>
              <a:t>目录</a:t>
            </a:r>
            <a:endParaRPr lang="en-US" altLang="zh-CN"/>
          </a:p>
        </p:txBody>
      </p:sp>
      <p:sp>
        <p:nvSpPr>
          <p:cNvPr id="12" name="标题 2"/>
          <p:cNvSpPr>
            <a:spLocks noGrp="1"/>
          </p:cNvSpPr>
          <p:nvPr/>
        </p:nvSpPr>
        <p:spPr>
          <a:xfrm>
            <a:off x="581025" y="1609090"/>
            <a:ext cx="3328670" cy="908685"/>
          </a:xfrm>
        </p:spPr>
        <p:txBody>
          <a:bodyPr/>
          <a:lstStyle>
            <a:lvl1pPr>
              <a:lnSpc>
                <a:spcPct val="100000"/>
              </a:lnSpc>
              <a:defRPr sz="4000" b="1">
                <a:solidFill>
                  <a:srgbClr val="0070D8"/>
                </a:solidFill>
                <a:latin typeface="微软雅黑" panose="020B0503020204020204" charset="-122"/>
                <a:ea typeface="微软雅黑" panose="020B0503020204020204" charset="-122"/>
              </a:defRPr>
            </a:lvl1pPr>
          </a:lstStyle>
          <a:p>
            <a:r>
              <a:rPr lang="en-US" altLang="zh-CN" sz="2800">
                <a:solidFill>
                  <a:schemeClr val="bg1"/>
                </a:solidFill>
              </a:rPr>
              <a:t>CONTENTS</a:t>
            </a:r>
            <a:endParaRPr lang="en-US" altLang="zh-CN" sz="2800">
              <a:solidFill>
                <a:schemeClr val="bg1"/>
              </a:solidFill>
            </a:endParaRPr>
          </a:p>
        </p:txBody>
      </p:sp>
      <p:pic>
        <p:nvPicPr>
          <p:cNvPr id="13" name="图片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5140" y="6209665"/>
            <a:ext cx="2725200" cy="270578"/>
          </a:xfrm>
          <a:prstGeom prst="rect">
            <a:avLst/>
          </a:prstGeom>
        </p:spPr>
      </p:pic>
      <p:grpSp>
        <p:nvGrpSpPr>
          <p:cNvPr id="83" name="组合 82"/>
          <p:cNvGrpSpPr/>
          <p:nvPr>
            <p:custDataLst>
              <p:tags r:id="rId4"/>
            </p:custDataLst>
          </p:nvPr>
        </p:nvGrpSpPr>
        <p:grpSpPr>
          <a:xfrm>
            <a:off x="4209320" y="1438852"/>
            <a:ext cx="7244309" cy="3980296"/>
            <a:chOff x="4142645" y="1775604"/>
            <a:chExt cx="7244309" cy="3980296"/>
          </a:xfrm>
        </p:grpSpPr>
        <p:sp>
          <p:nvSpPr>
            <p:cNvPr id="19" name="矩形: 圆角 18"/>
            <p:cNvSpPr/>
            <p:nvPr>
              <p:custDataLst>
                <p:tags r:id="rId5"/>
              </p:custDataLst>
            </p:nvPr>
          </p:nvSpPr>
          <p:spPr>
            <a:xfrm>
              <a:off x="4142645" y="1775604"/>
              <a:ext cx="3420000" cy="1800000"/>
            </a:xfrm>
            <a:prstGeom prst="roundRect">
              <a:avLst>
                <a:gd name="adj" fmla="val 0"/>
              </a:avLst>
            </a:prstGeom>
            <a:solidFill>
              <a:srgbClr val="0070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占位符 43"/>
            <p:cNvSpPr txBox="1"/>
            <p:nvPr>
              <p:custDataLst>
                <p:tags r:id="rId6"/>
              </p:custDataLst>
            </p:nvPr>
          </p:nvSpPr>
          <p:spPr>
            <a:xfrm>
              <a:off x="4403781" y="2741489"/>
              <a:ext cx="18288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bg1"/>
                  </a:solidFill>
                </a:rPr>
                <a:t>目前工作</a:t>
              </a:r>
              <a:r>
                <a:rPr lang="zh-CN" altLang="en-US" sz="2400" b="1" dirty="0">
                  <a:solidFill>
                    <a:schemeClr val="bg1"/>
                  </a:solidFill>
                </a:rPr>
                <a:t>基础</a:t>
              </a:r>
              <a:endParaRPr lang="zh-CN" altLang="en-US" sz="2400" b="1" dirty="0">
                <a:solidFill>
                  <a:schemeClr val="bg1"/>
                </a:solidFill>
              </a:endParaRPr>
            </a:p>
          </p:txBody>
        </p:sp>
        <p:sp>
          <p:nvSpPr>
            <p:cNvPr id="8" name="文本占位符 43"/>
            <p:cNvSpPr txBox="1"/>
            <p:nvPr>
              <p:custDataLst>
                <p:tags r:id="rId7"/>
              </p:custDataLst>
            </p:nvPr>
          </p:nvSpPr>
          <p:spPr>
            <a:xfrm>
              <a:off x="4403781" y="1934471"/>
              <a:ext cx="514564"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bg1">
                      <a:alpha val="30000"/>
                    </a:schemeClr>
                  </a:solidFill>
                  <a:latin typeface="MiSans" pitchFamily="2" charset="-122"/>
                  <a:ea typeface="MiSans" pitchFamily="2" charset="-122"/>
                  <a:cs typeface="MiSans" pitchFamily="2" charset="-122"/>
                </a:rPr>
                <a:t>01</a:t>
              </a:r>
              <a:endParaRPr lang="zh-CN" altLang="en-US" sz="3400" b="1" dirty="0">
                <a:solidFill>
                  <a:schemeClr val="bg1">
                    <a:alpha val="30000"/>
                  </a:schemeClr>
                </a:solidFill>
                <a:latin typeface="MiSans" pitchFamily="2" charset="-122"/>
                <a:ea typeface="MiSans" pitchFamily="2" charset="-122"/>
                <a:cs typeface="MiSans" pitchFamily="2" charset="-122"/>
              </a:endParaRPr>
            </a:p>
          </p:txBody>
        </p:sp>
        <p:grpSp>
          <p:nvGrpSpPr>
            <p:cNvPr id="27" name="组合 26"/>
            <p:cNvGrpSpPr/>
            <p:nvPr/>
          </p:nvGrpSpPr>
          <p:grpSpPr>
            <a:xfrm rot="5400000">
              <a:off x="7191746" y="2155900"/>
              <a:ext cx="317922" cy="80362"/>
              <a:chOff x="9893117" y="424718"/>
              <a:chExt cx="704849" cy="178167"/>
            </a:xfrm>
            <a:solidFill>
              <a:srgbClr val="2E5BEA"/>
            </a:solidFill>
          </p:grpSpPr>
          <p:sp>
            <p:nvSpPr>
              <p:cNvPr id="28" name="椭圆 27"/>
              <p:cNvSpPr/>
              <p:nvPr>
                <p:custDataLst>
                  <p:tags r:id="rId8"/>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p:nvPr>
                <p:custDataLst>
                  <p:tags r:id="rId9"/>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custDataLst>
                  <p:tags r:id="rId10"/>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3" name="矩形: 圆角 42"/>
            <p:cNvSpPr/>
            <p:nvPr>
              <p:custDataLst>
                <p:tags r:id="rId11"/>
              </p:custDataLst>
            </p:nvPr>
          </p:nvSpPr>
          <p:spPr>
            <a:xfrm>
              <a:off x="7966954" y="1775604"/>
              <a:ext cx="3420000" cy="1800000"/>
            </a:xfrm>
            <a:prstGeom prst="roundRect">
              <a:avLst>
                <a:gd name="adj" fmla="val 0"/>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文本占位符 43"/>
            <p:cNvSpPr txBox="1"/>
            <p:nvPr>
              <p:custDataLst>
                <p:tags r:id="rId12"/>
              </p:custDataLst>
            </p:nvPr>
          </p:nvSpPr>
          <p:spPr>
            <a:xfrm>
              <a:off x="8228235" y="2741757"/>
              <a:ext cx="2769870" cy="368935"/>
            </a:xfrm>
            <a:prstGeom prst="rect">
              <a:avLst/>
            </a:prstGeom>
          </p:spPr>
          <p:txBody>
            <a:bodyPr vert="horz" wrap="squar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zh-CN" altLang="en-US" sz="2400" b="1" dirty="0">
                  <a:solidFill>
                    <a:schemeClr val="tx1"/>
                  </a:solidFill>
                </a:rPr>
                <a:t>技术实施</a:t>
              </a:r>
              <a:r>
                <a:rPr lang="zh-CN" altLang="en-US" sz="2400" b="1" dirty="0">
                  <a:solidFill>
                    <a:schemeClr val="tx1"/>
                  </a:solidFill>
                </a:rPr>
                <a:t>方案</a:t>
              </a:r>
              <a:endParaRPr lang="zh-CN" altLang="en-US" sz="2400" b="1" dirty="0">
                <a:solidFill>
                  <a:schemeClr val="tx1"/>
                </a:solidFill>
              </a:endParaRPr>
            </a:p>
          </p:txBody>
        </p:sp>
        <p:sp>
          <p:nvSpPr>
            <p:cNvPr id="45" name="文本占位符 43"/>
            <p:cNvSpPr txBox="1"/>
            <p:nvPr>
              <p:custDataLst>
                <p:tags r:id="rId13"/>
              </p:custDataLst>
            </p:nvPr>
          </p:nvSpPr>
          <p:spPr>
            <a:xfrm>
              <a:off x="8228090" y="1934471"/>
              <a:ext cx="569067"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tx1">
                      <a:alpha val="20000"/>
                    </a:schemeClr>
                  </a:solidFill>
                  <a:latin typeface="MiSans" pitchFamily="2" charset="-122"/>
                  <a:ea typeface="MiSans" pitchFamily="2" charset="-122"/>
                  <a:cs typeface="MiSans" pitchFamily="2" charset="-122"/>
                </a:rPr>
                <a:t>02</a:t>
              </a:r>
              <a:endParaRPr lang="zh-CN" altLang="en-US" sz="3400" b="1" dirty="0">
                <a:solidFill>
                  <a:schemeClr val="tx1">
                    <a:alpha val="20000"/>
                  </a:schemeClr>
                </a:solidFill>
                <a:latin typeface="MiSans" pitchFamily="2" charset="-122"/>
                <a:ea typeface="MiSans" pitchFamily="2" charset="-122"/>
                <a:cs typeface="MiSans" pitchFamily="2" charset="-122"/>
              </a:endParaRPr>
            </a:p>
          </p:txBody>
        </p:sp>
        <p:grpSp>
          <p:nvGrpSpPr>
            <p:cNvPr id="47" name="组合 46"/>
            <p:cNvGrpSpPr/>
            <p:nvPr/>
          </p:nvGrpSpPr>
          <p:grpSpPr>
            <a:xfrm rot="5400000">
              <a:off x="11016055" y="2155900"/>
              <a:ext cx="317922" cy="80362"/>
              <a:chOff x="9893117" y="424718"/>
              <a:chExt cx="704849" cy="178167"/>
            </a:xfrm>
            <a:solidFill>
              <a:srgbClr val="2E5BEA"/>
            </a:solidFill>
          </p:grpSpPr>
          <p:sp>
            <p:nvSpPr>
              <p:cNvPr id="48" name="椭圆 47"/>
              <p:cNvSpPr/>
              <p:nvPr>
                <p:custDataLst>
                  <p:tags r:id="rId14"/>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custDataLst>
                  <p:tags r:id="rId15"/>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custDataLst>
                  <p:tags r:id="rId16"/>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7" name="矩形: 圆角 66"/>
            <p:cNvSpPr/>
            <p:nvPr>
              <p:custDataLst>
                <p:tags r:id="rId17"/>
              </p:custDataLst>
            </p:nvPr>
          </p:nvSpPr>
          <p:spPr>
            <a:xfrm>
              <a:off x="4142645" y="3955900"/>
              <a:ext cx="3420000" cy="1800000"/>
            </a:xfrm>
            <a:prstGeom prst="roundRect">
              <a:avLst>
                <a:gd name="adj" fmla="val 0"/>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文本占位符 43"/>
            <p:cNvSpPr txBox="1"/>
            <p:nvPr>
              <p:custDataLst>
                <p:tags r:id="rId18"/>
              </p:custDataLst>
            </p:nvPr>
          </p:nvSpPr>
          <p:spPr>
            <a:xfrm>
              <a:off x="4403781" y="4921785"/>
              <a:ext cx="15240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tx1"/>
                  </a:solidFill>
                  <a:sym typeface="+mn-ea"/>
                </a:rPr>
                <a:t>成果与反思</a:t>
              </a:r>
              <a:endParaRPr lang="zh-CN" altLang="en-US" sz="2400" b="1" dirty="0">
                <a:solidFill>
                  <a:schemeClr val="tx1"/>
                </a:solidFill>
              </a:endParaRPr>
            </a:p>
          </p:txBody>
        </p:sp>
        <p:sp>
          <p:nvSpPr>
            <p:cNvPr id="69" name="文本占位符 43"/>
            <p:cNvSpPr txBox="1"/>
            <p:nvPr>
              <p:custDataLst>
                <p:tags r:id="rId19"/>
              </p:custDataLst>
            </p:nvPr>
          </p:nvSpPr>
          <p:spPr>
            <a:xfrm>
              <a:off x="4403781" y="4114767"/>
              <a:ext cx="570669"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tx1">
                      <a:alpha val="20000"/>
                    </a:schemeClr>
                  </a:solidFill>
                  <a:latin typeface="MiSans" pitchFamily="2" charset="-122"/>
                  <a:ea typeface="MiSans" pitchFamily="2" charset="-122"/>
                  <a:cs typeface="MiSans" pitchFamily="2" charset="-122"/>
                </a:rPr>
                <a:t>03</a:t>
              </a:r>
              <a:endParaRPr lang="zh-CN" altLang="en-US" sz="3400" b="1" dirty="0">
                <a:solidFill>
                  <a:schemeClr val="tx1">
                    <a:alpha val="20000"/>
                  </a:schemeClr>
                </a:solidFill>
                <a:latin typeface="MiSans" pitchFamily="2" charset="-122"/>
                <a:ea typeface="MiSans" pitchFamily="2" charset="-122"/>
                <a:cs typeface="MiSans" pitchFamily="2" charset="-122"/>
              </a:endParaRPr>
            </a:p>
          </p:txBody>
        </p:sp>
        <p:grpSp>
          <p:nvGrpSpPr>
            <p:cNvPr id="71" name="组合 70"/>
            <p:cNvGrpSpPr/>
            <p:nvPr/>
          </p:nvGrpSpPr>
          <p:grpSpPr>
            <a:xfrm rot="5400000">
              <a:off x="7191746" y="4336196"/>
              <a:ext cx="317922" cy="80362"/>
              <a:chOff x="9893117" y="424718"/>
              <a:chExt cx="704849" cy="178167"/>
            </a:xfrm>
            <a:solidFill>
              <a:srgbClr val="2E5BEA"/>
            </a:solidFill>
          </p:grpSpPr>
          <p:sp>
            <p:nvSpPr>
              <p:cNvPr id="72" name="椭圆 71"/>
              <p:cNvSpPr/>
              <p:nvPr>
                <p:custDataLst>
                  <p:tags r:id="rId20"/>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p:cNvSpPr/>
              <p:nvPr>
                <p:custDataLst>
                  <p:tags r:id="rId21"/>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custDataLst>
                  <p:tags r:id="rId22"/>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5" name="矩形: 圆角 74"/>
            <p:cNvSpPr/>
            <p:nvPr>
              <p:custDataLst>
                <p:tags r:id="rId23"/>
              </p:custDataLst>
            </p:nvPr>
          </p:nvSpPr>
          <p:spPr>
            <a:xfrm>
              <a:off x="7952440" y="3955900"/>
              <a:ext cx="3420000" cy="1800000"/>
            </a:xfrm>
            <a:prstGeom prst="roundRect">
              <a:avLst>
                <a:gd name="adj" fmla="val 0"/>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文本占位符 43"/>
            <p:cNvSpPr txBox="1"/>
            <p:nvPr>
              <p:custDataLst>
                <p:tags r:id="rId24"/>
              </p:custDataLst>
            </p:nvPr>
          </p:nvSpPr>
          <p:spPr>
            <a:xfrm>
              <a:off x="8213576" y="4921785"/>
              <a:ext cx="18288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tx1"/>
                  </a:solidFill>
                </a:rPr>
                <a:t>后续重点工作</a:t>
              </a:r>
              <a:endParaRPr lang="zh-CN" altLang="en-US" sz="2400" b="1" dirty="0">
                <a:solidFill>
                  <a:schemeClr val="tx1"/>
                </a:solidFill>
              </a:endParaRPr>
            </a:p>
          </p:txBody>
        </p:sp>
        <p:sp>
          <p:nvSpPr>
            <p:cNvPr id="77" name="文本占位符 43"/>
            <p:cNvSpPr txBox="1"/>
            <p:nvPr>
              <p:custDataLst>
                <p:tags r:id="rId25"/>
              </p:custDataLst>
            </p:nvPr>
          </p:nvSpPr>
          <p:spPr>
            <a:xfrm>
              <a:off x="8213576" y="4114767"/>
              <a:ext cx="578685"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tx1">
                      <a:alpha val="20000"/>
                    </a:schemeClr>
                  </a:solidFill>
                  <a:latin typeface="MiSans" pitchFamily="2" charset="-122"/>
                  <a:ea typeface="MiSans" pitchFamily="2" charset="-122"/>
                  <a:cs typeface="MiSans" pitchFamily="2" charset="-122"/>
                </a:rPr>
                <a:t>04</a:t>
              </a:r>
              <a:endParaRPr lang="zh-CN" altLang="en-US" sz="3400" b="1" dirty="0">
                <a:solidFill>
                  <a:schemeClr val="tx1">
                    <a:alpha val="20000"/>
                  </a:schemeClr>
                </a:solidFill>
                <a:latin typeface="MiSans" pitchFamily="2" charset="-122"/>
                <a:ea typeface="MiSans" pitchFamily="2" charset="-122"/>
                <a:cs typeface="MiSans" pitchFamily="2" charset="-122"/>
              </a:endParaRPr>
            </a:p>
          </p:txBody>
        </p:sp>
        <p:grpSp>
          <p:nvGrpSpPr>
            <p:cNvPr id="79" name="组合 78"/>
            <p:cNvGrpSpPr/>
            <p:nvPr/>
          </p:nvGrpSpPr>
          <p:grpSpPr>
            <a:xfrm rot="5400000">
              <a:off x="11001541" y="4336196"/>
              <a:ext cx="317922" cy="80362"/>
              <a:chOff x="9893117" y="424718"/>
              <a:chExt cx="704849" cy="178167"/>
            </a:xfrm>
            <a:solidFill>
              <a:srgbClr val="2E5BEA"/>
            </a:solidFill>
          </p:grpSpPr>
          <p:sp>
            <p:nvSpPr>
              <p:cNvPr id="80" name="椭圆 79"/>
              <p:cNvSpPr/>
              <p:nvPr>
                <p:custDataLst>
                  <p:tags r:id="rId26"/>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p:cNvSpPr/>
              <p:nvPr>
                <p:custDataLst>
                  <p:tags r:id="rId27"/>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p:cNvSpPr/>
              <p:nvPr>
                <p:custDataLst>
                  <p:tags r:id="rId28"/>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85" name="组合 84"/>
          <p:cNvGrpSpPr/>
          <p:nvPr/>
        </p:nvGrpSpPr>
        <p:grpSpPr>
          <a:xfrm rot="5400000">
            <a:off x="11614388" y="402046"/>
            <a:ext cx="317922" cy="80362"/>
            <a:chOff x="9893117" y="424718"/>
            <a:chExt cx="704849" cy="178167"/>
          </a:xfrm>
          <a:solidFill>
            <a:srgbClr val="2E5BEA"/>
          </a:solidFill>
        </p:grpSpPr>
        <p:sp>
          <p:nvSpPr>
            <p:cNvPr id="86" name="椭圆 85"/>
            <p:cNvSpPr/>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椭圆 86"/>
            <p:cNvSpPr/>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椭圆 87"/>
            <p:cNvSpPr/>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p:cNvSpPr/>
          <p:nvPr/>
        </p:nvSpPr>
        <p:spPr>
          <a:xfrm>
            <a:off x="-1" y="0"/>
            <a:ext cx="12192001" cy="6858000"/>
          </a:xfrm>
          <a:prstGeom prst="roundRect">
            <a:avLst>
              <a:gd name="adj" fmla="val 0"/>
            </a:avLst>
          </a:prstGeom>
          <a:gradFill flip="none" rotWithShape="1">
            <a:gsLst>
              <a:gs pos="33000">
                <a:srgbClr val="0070D8">
                  <a:alpha val="0"/>
                </a:srgbClr>
              </a:gs>
              <a:gs pos="100000">
                <a:srgbClr val="0070D8">
                  <a:alpha val="5000"/>
                </a:srgbClr>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t>在</a:t>
            </a:r>
            <a:r>
              <a:rPr lang="en-US" altLang="zh-CN"/>
              <a:t>·</a:t>
            </a:r>
            <a:endParaRPr lang="en-US" altLang="zh-CN"/>
          </a:p>
        </p:txBody>
      </p:sp>
      <p:sp>
        <p:nvSpPr>
          <p:cNvPr id="28" name="任意多边形: 形状 27"/>
          <p:cNvSpPr/>
          <p:nvPr>
            <p:custDataLst>
              <p:tags r:id="rId1"/>
            </p:custDataLst>
          </p:nvPr>
        </p:nvSpPr>
        <p:spPr>
          <a:xfrm>
            <a:off x="3956847" y="1849929"/>
            <a:ext cx="7721600" cy="1100231"/>
          </a:xfrm>
          <a:custGeom>
            <a:avLst/>
            <a:gdLst>
              <a:gd name="connsiteX0" fmla="*/ 1770743 w 7721600"/>
              <a:gd name="connsiteY0" fmla="*/ 0 h 1316719"/>
              <a:gd name="connsiteX1" fmla="*/ 7719862 w 7721600"/>
              <a:gd name="connsiteY1" fmla="*/ 0 h 1316719"/>
              <a:gd name="connsiteX2" fmla="*/ 7721600 w 7721600"/>
              <a:gd name="connsiteY2" fmla="*/ 1738 h 1316719"/>
              <a:gd name="connsiteX3" fmla="*/ 7721600 w 7721600"/>
              <a:gd name="connsiteY3" fmla="*/ 1314981 h 1316719"/>
              <a:gd name="connsiteX4" fmla="*/ 7719862 w 7721600"/>
              <a:gd name="connsiteY4" fmla="*/ 1316719 h 1316719"/>
              <a:gd name="connsiteX5" fmla="*/ 1738 w 7721600"/>
              <a:gd name="connsiteY5" fmla="*/ 1316719 h 1316719"/>
              <a:gd name="connsiteX6" fmla="*/ 0 w 7721600"/>
              <a:gd name="connsiteY6" fmla="*/ 1314981 h 1316719"/>
              <a:gd name="connsiteX7" fmla="*/ 0 w 7721600"/>
              <a:gd name="connsiteY7" fmla="*/ 621923 h 1316719"/>
              <a:gd name="connsiteX8" fmla="*/ 1769005 w 7721600"/>
              <a:gd name="connsiteY8" fmla="*/ 621923 h 1316719"/>
              <a:gd name="connsiteX9" fmla="*/ 1770743 w 7721600"/>
              <a:gd name="connsiteY9" fmla="*/ 620185 h 1316719"/>
              <a:gd name="connsiteX0-1" fmla="*/ 1770743 w 7721600"/>
              <a:gd name="connsiteY0-2" fmla="*/ 0 h 1316719"/>
              <a:gd name="connsiteX1-3" fmla="*/ 7719862 w 7721600"/>
              <a:gd name="connsiteY1-4" fmla="*/ 0 h 1316719"/>
              <a:gd name="connsiteX2-5" fmla="*/ 7721600 w 7721600"/>
              <a:gd name="connsiteY2-6" fmla="*/ 1738 h 1316719"/>
              <a:gd name="connsiteX3-7" fmla="*/ 7721600 w 7721600"/>
              <a:gd name="connsiteY3-8" fmla="*/ 1314981 h 1316719"/>
              <a:gd name="connsiteX4-9" fmla="*/ 7719862 w 7721600"/>
              <a:gd name="connsiteY4-10" fmla="*/ 1316719 h 1316719"/>
              <a:gd name="connsiteX5-11" fmla="*/ 1738 w 7721600"/>
              <a:gd name="connsiteY5-12" fmla="*/ 1316719 h 1316719"/>
              <a:gd name="connsiteX6-13" fmla="*/ 0 w 7721600"/>
              <a:gd name="connsiteY6-14" fmla="*/ 1314981 h 1316719"/>
              <a:gd name="connsiteX7-15" fmla="*/ 0 w 7721600"/>
              <a:gd name="connsiteY7-16" fmla="*/ 621923 h 1316719"/>
              <a:gd name="connsiteX8-17" fmla="*/ 1769005 w 7721600"/>
              <a:gd name="connsiteY8-18" fmla="*/ 621923 h 1316719"/>
              <a:gd name="connsiteX9-19" fmla="*/ 1389743 w 7721600"/>
              <a:gd name="connsiteY9-20" fmla="*/ 615423 h 1316719"/>
              <a:gd name="connsiteX10" fmla="*/ 1770743 w 7721600"/>
              <a:gd name="connsiteY10" fmla="*/ 0 h 1316719"/>
              <a:gd name="connsiteX0-21" fmla="*/ 1770743 w 7721600"/>
              <a:gd name="connsiteY0-22" fmla="*/ 0 h 1316719"/>
              <a:gd name="connsiteX1-23" fmla="*/ 7719862 w 7721600"/>
              <a:gd name="connsiteY1-24" fmla="*/ 0 h 1316719"/>
              <a:gd name="connsiteX2-25" fmla="*/ 7721600 w 7721600"/>
              <a:gd name="connsiteY2-26" fmla="*/ 1738 h 1316719"/>
              <a:gd name="connsiteX3-27" fmla="*/ 7721600 w 7721600"/>
              <a:gd name="connsiteY3-28" fmla="*/ 1314981 h 1316719"/>
              <a:gd name="connsiteX4-29" fmla="*/ 7719862 w 7721600"/>
              <a:gd name="connsiteY4-30" fmla="*/ 1316719 h 1316719"/>
              <a:gd name="connsiteX5-31" fmla="*/ 1738 w 7721600"/>
              <a:gd name="connsiteY5-32" fmla="*/ 1316719 h 1316719"/>
              <a:gd name="connsiteX6-33" fmla="*/ 0 w 7721600"/>
              <a:gd name="connsiteY6-34" fmla="*/ 1314981 h 1316719"/>
              <a:gd name="connsiteX7-35" fmla="*/ 0 w 7721600"/>
              <a:gd name="connsiteY7-36" fmla="*/ 621923 h 1316719"/>
              <a:gd name="connsiteX8-37" fmla="*/ 1392767 w 7721600"/>
              <a:gd name="connsiteY8-38" fmla="*/ 621923 h 1316719"/>
              <a:gd name="connsiteX9-39" fmla="*/ 1389743 w 7721600"/>
              <a:gd name="connsiteY9-40" fmla="*/ 615423 h 1316719"/>
              <a:gd name="connsiteX10-41" fmla="*/ 1770743 w 7721600"/>
              <a:gd name="connsiteY10-42" fmla="*/ 0 h 1316719"/>
              <a:gd name="connsiteX0-43" fmla="*/ 1770743 w 7721600"/>
              <a:gd name="connsiteY0-44" fmla="*/ 0 h 1316719"/>
              <a:gd name="connsiteX1-45" fmla="*/ 7719862 w 7721600"/>
              <a:gd name="connsiteY1-46" fmla="*/ 0 h 1316719"/>
              <a:gd name="connsiteX2-47" fmla="*/ 7721600 w 7721600"/>
              <a:gd name="connsiteY2-48" fmla="*/ 1738 h 1316719"/>
              <a:gd name="connsiteX3-49" fmla="*/ 7721600 w 7721600"/>
              <a:gd name="connsiteY3-50" fmla="*/ 1314981 h 1316719"/>
              <a:gd name="connsiteX4-51" fmla="*/ 7719862 w 7721600"/>
              <a:gd name="connsiteY4-52" fmla="*/ 1316719 h 1316719"/>
              <a:gd name="connsiteX5-53" fmla="*/ 1738 w 7721600"/>
              <a:gd name="connsiteY5-54" fmla="*/ 1316719 h 1316719"/>
              <a:gd name="connsiteX6-55" fmla="*/ 0 w 7721600"/>
              <a:gd name="connsiteY6-56" fmla="*/ 1314981 h 1316719"/>
              <a:gd name="connsiteX7-57" fmla="*/ 0 w 7721600"/>
              <a:gd name="connsiteY7-58" fmla="*/ 621923 h 1316719"/>
              <a:gd name="connsiteX8-59" fmla="*/ 1392767 w 7721600"/>
              <a:gd name="connsiteY8-60" fmla="*/ 621923 h 1316719"/>
              <a:gd name="connsiteX9-61" fmla="*/ 1389743 w 7721600"/>
              <a:gd name="connsiteY9-62" fmla="*/ 615423 h 1316719"/>
              <a:gd name="connsiteX10-63" fmla="*/ 1770743 w 7721600"/>
              <a:gd name="connsiteY10-64" fmla="*/ 0 h 1316719"/>
              <a:gd name="connsiteX0-65" fmla="*/ 1770743 w 7721600"/>
              <a:gd name="connsiteY0-66" fmla="*/ 0 h 1316719"/>
              <a:gd name="connsiteX1-67" fmla="*/ 7719862 w 7721600"/>
              <a:gd name="connsiteY1-68" fmla="*/ 0 h 1316719"/>
              <a:gd name="connsiteX2-69" fmla="*/ 7721600 w 7721600"/>
              <a:gd name="connsiteY2-70" fmla="*/ 1738 h 1316719"/>
              <a:gd name="connsiteX3-71" fmla="*/ 7721600 w 7721600"/>
              <a:gd name="connsiteY3-72" fmla="*/ 1314981 h 1316719"/>
              <a:gd name="connsiteX4-73" fmla="*/ 7719862 w 7721600"/>
              <a:gd name="connsiteY4-74" fmla="*/ 1316719 h 1316719"/>
              <a:gd name="connsiteX5-75" fmla="*/ 1738 w 7721600"/>
              <a:gd name="connsiteY5-76" fmla="*/ 1316719 h 1316719"/>
              <a:gd name="connsiteX6-77" fmla="*/ 0 w 7721600"/>
              <a:gd name="connsiteY6-78" fmla="*/ 1314981 h 1316719"/>
              <a:gd name="connsiteX7-79" fmla="*/ 0 w 7721600"/>
              <a:gd name="connsiteY7-80" fmla="*/ 621923 h 1316719"/>
              <a:gd name="connsiteX8-81" fmla="*/ 1392767 w 7721600"/>
              <a:gd name="connsiteY8-82" fmla="*/ 621923 h 1316719"/>
              <a:gd name="connsiteX9-83" fmla="*/ 1389743 w 7721600"/>
              <a:gd name="connsiteY9-84" fmla="*/ 615423 h 1316719"/>
              <a:gd name="connsiteX10-85" fmla="*/ 1770743 w 7721600"/>
              <a:gd name="connsiteY10-86" fmla="*/ 0 h 1316719"/>
              <a:gd name="connsiteX0-87" fmla="*/ 1770743 w 7721600"/>
              <a:gd name="connsiteY0-88" fmla="*/ 0 h 1316719"/>
              <a:gd name="connsiteX1-89" fmla="*/ 7719862 w 7721600"/>
              <a:gd name="connsiteY1-90" fmla="*/ 0 h 1316719"/>
              <a:gd name="connsiteX2-91" fmla="*/ 7721600 w 7721600"/>
              <a:gd name="connsiteY2-92" fmla="*/ 1738 h 1316719"/>
              <a:gd name="connsiteX3-93" fmla="*/ 7721600 w 7721600"/>
              <a:gd name="connsiteY3-94" fmla="*/ 1314981 h 1316719"/>
              <a:gd name="connsiteX4-95" fmla="*/ 7719862 w 7721600"/>
              <a:gd name="connsiteY4-96" fmla="*/ 1316719 h 1316719"/>
              <a:gd name="connsiteX5-97" fmla="*/ 1738 w 7721600"/>
              <a:gd name="connsiteY5-98" fmla="*/ 1316719 h 1316719"/>
              <a:gd name="connsiteX6-99" fmla="*/ 0 w 7721600"/>
              <a:gd name="connsiteY6-100" fmla="*/ 1314981 h 1316719"/>
              <a:gd name="connsiteX7-101" fmla="*/ 0 w 7721600"/>
              <a:gd name="connsiteY7-102" fmla="*/ 621923 h 1316719"/>
              <a:gd name="connsiteX8-103" fmla="*/ 1392767 w 7721600"/>
              <a:gd name="connsiteY8-104" fmla="*/ 621923 h 1316719"/>
              <a:gd name="connsiteX9-105" fmla="*/ 1389743 w 7721600"/>
              <a:gd name="connsiteY9-106" fmla="*/ 615423 h 1316719"/>
              <a:gd name="connsiteX10-107" fmla="*/ 1770743 w 7721600"/>
              <a:gd name="connsiteY10-108" fmla="*/ 0 h 1316719"/>
              <a:gd name="connsiteX0-109" fmla="*/ 1770743 w 7721600"/>
              <a:gd name="connsiteY0-110" fmla="*/ 0 h 1316719"/>
              <a:gd name="connsiteX1-111" fmla="*/ 7719862 w 7721600"/>
              <a:gd name="connsiteY1-112" fmla="*/ 0 h 1316719"/>
              <a:gd name="connsiteX2-113" fmla="*/ 7721600 w 7721600"/>
              <a:gd name="connsiteY2-114" fmla="*/ 1738 h 1316719"/>
              <a:gd name="connsiteX3-115" fmla="*/ 7721600 w 7721600"/>
              <a:gd name="connsiteY3-116" fmla="*/ 1314981 h 1316719"/>
              <a:gd name="connsiteX4-117" fmla="*/ 7719862 w 7721600"/>
              <a:gd name="connsiteY4-118" fmla="*/ 1316719 h 1316719"/>
              <a:gd name="connsiteX5-119" fmla="*/ 1738 w 7721600"/>
              <a:gd name="connsiteY5-120" fmla="*/ 1316719 h 1316719"/>
              <a:gd name="connsiteX6-121" fmla="*/ 0 w 7721600"/>
              <a:gd name="connsiteY6-122" fmla="*/ 1314981 h 1316719"/>
              <a:gd name="connsiteX7-123" fmla="*/ 0 w 7721600"/>
              <a:gd name="connsiteY7-124" fmla="*/ 621923 h 1316719"/>
              <a:gd name="connsiteX8-125" fmla="*/ 1392767 w 7721600"/>
              <a:gd name="connsiteY8-126" fmla="*/ 621923 h 1316719"/>
              <a:gd name="connsiteX9-127" fmla="*/ 1389743 w 7721600"/>
              <a:gd name="connsiteY9-128" fmla="*/ 615423 h 1316719"/>
              <a:gd name="connsiteX10-129" fmla="*/ 1770743 w 7721600"/>
              <a:gd name="connsiteY10-130" fmla="*/ 0 h 1316719"/>
              <a:gd name="connsiteX0-131" fmla="*/ 1770743 w 7721600"/>
              <a:gd name="connsiteY0-132" fmla="*/ 0 h 1316719"/>
              <a:gd name="connsiteX1-133" fmla="*/ 7719862 w 7721600"/>
              <a:gd name="connsiteY1-134" fmla="*/ 0 h 1316719"/>
              <a:gd name="connsiteX2-135" fmla="*/ 7721600 w 7721600"/>
              <a:gd name="connsiteY2-136" fmla="*/ 1738 h 1316719"/>
              <a:gd name="connsiteX3-137" fmla="*/ 7721600 w 7721600"/>
              <a:gd name="connsiteY3-138" fmla="*/ 1314981 h 1316719"/>
              <a:gd name="connsiteX4-139" fmla="*/ 7719862 w 7721600"/>
              <a:gd name="connsiteY4-140" fmla="*/ 1316719 h 1316719"/>
              <a:gd name="connsiteX5-141" fmla="*/ 1738 w 7721600"/>
              <a:gd name="connsiteY5-142" fmla="*/ 1316719 h 1316719"/>
              <a:gd name="connsiteX6-143" fmla="*/ 0 w 7721600"/>
              <a:gd name="connsiteY6-144" fmla="*/ 1314981 h 1316719"/>
              <a:gd name="connsiteX7-145" fmla="*/ 0 w 7721600"/>
              <a:gd name="connsiteY7-146" fmla="*/ 621923 h 1316719"/>
              <a:gd name="connsiteX8-147" fmla="*/ 1392767 w 7721600"/>
              <a:gd name="connsiteY8-148" fmla="*/ 621923 h 1316719"/>
              <a:gd name="connsiteX9-149" fmla="*/ 1770743 w 7721600"/>
              <a:gd name="connsiteY9-150" fmla="*/ 0 h 1316719"/>
              <a:gd name="connsiteX0-151" fmla="*/ 1770743 w 7721600"/>
              <a:gd name="connsiteY0-152" fmla="*/ 0 h 1316719"/>
              <a:gd name="connsiteX1-153" fmla="*/ 7719862 w 7721600"/>
              <a:gd name="connsiteY1-154" fmla="*/ 0 h 1316719"/>
              <a:gd name="connsiteX2-155" fmla="*/ 7721600 w 7721600"/>
              <a:gd name="connsiteY2-156" fmla="*/ 1738 h 1316719"/>
              <a:gd name="connsiteX3-157" fmla="*/ 7721600 w 7721600"/>
              <a:gd name="connsiteY3-158" fmla="*/ 1314981 h 1316719"/>
              <a:gd name="connsiteX4-159" fmla="*/ 7719862 w 7721600"/>
              <a:gd name="connsiteY4-160" fmla="*/ 1316719 h 1316719"/>
              <a:gd name="connsiteX5-161" fmla="*/ 1738 w 7721600"/>
              <a:gd name="connsiteY5-162" fmla="*/ 1316719 h 1316719"/>
              <a:gd name="connsiteX6-163" fmla="*/ 0 w 7721600"/>
              <a:gd name="connsiteY6-164" fmla="*/ 1314981 h 1316719"/>
              <a:gd name="connsiteX7-165" fmla="*/ 0 w 7721600"/>
              <a:gd name="connsiteY7-166" fmla="*/ 621923 h 1316719"/>
              <a:gd name="connsiteX8-167" fmla="*/ 1392767 w 7721600"/>
              <a:gd name="connsiteY8-168" fmla="*/ 621923 h 1316719"/>
              <a:gd name="connsiteX9-169" fmla="*/ 1770743 w 7721600"/>
              <a:gd name="connsiteY9-170" fmla="*/ 0 h 1316719"/>
              <a:gd name="connsiteX0-171" fmla="*/ 1770743 w 7721600"/>
              <a:gd name="connsiteY0-172" fmla="*/ 0 h 1316719"/>
              <a:gd name="connsiteX1-173" fmla="*/ 7719862 w 7721600"/>
              <a:gd name="connsiteY1-174" fmla="*/ 0 h 1316719"/>
              <a:gd name="connsiteX2-175" fmla="*/ 7721600 w 7721600"/>
              <a:gd name="connsiteY2-176" fmla="*/ 1738 h 1316719"/>
              <a:gd name="connsiteX3-177" fmla="*/ 7721600 w 7721600"/>
              <a:gd name="connsiteY3-178" fmla="*/ 1314981 h 1316719"/>
              <a:gd name="connsiteX4-179" fmla="*/ 7719862 w 7721600"/>
              <a:gd name="connsiteY4-180" fmla="*/ 1316719 h 1316719"/>
              <a:gd name="connsiteX5-181" fmla="*/ 1738 w 7721600"/>
              <a:gd name="connsiteY5-182" fmla="*/ 1316719 h 1316719"/>
              <a:gd name="connsiteX6-183" fmla="*/ 0 w 7721600"/>
              <a:gd name="connsiteY6-184" fmla="*/ 1314981 h 1316719"/>
              <a:gd name="connsiteX7-185" fmla="*/ 0 w 7721600"/>
              <a:gd name="connsiteY7-186" fmla="*/ 621923 h 1316719"/>
              <a:gd name="connsiteX8-187" fmla="*/ 1392767 w 7721600"/>
              <a:gd name="connsiteY8-188" fmla="*/ 621923 h 1316719"/>
              <a:gd name="connsiteX9-189" fmla="*/ 1770743 w 7721600"/>
              <a:gd name="connsiteY9-190" fmla="*/ 0 h 1316719"/>
              <a:gd name="connsiteX0-191" fmla="*/ 1770743 w 7721600"/>
              <a:gd name="connsiteY0-192" fmla="*/ 0 h 1316719"/>
              <a:gd name="connsiteX1-193" fmla="*/ 7719862 w 7721600"/>
              <a:gd name="connsiteY1-194" fmla="*/ 0 h 1316719"/>
              <a:gd name="connsiteX2-195" fmla="*/ 7721600 w 7721600"/>
              <a:gd name="connsiteY2-196" fmla="*/ 1738 h 1316719"/>
              <a:gd name="connsiteX3-197" fmla="*/ 7721600 w 7721600"/>
              <a:gd name="connsiteY3-198" fmla="*/ 1314981 h 1316719"/>
              <a:gd name="connsiteX4-199" fmla="*/ 7719862 w 7721600"/>
              <a:gd name="connsiteY4-200" fmla="*/ 1316719 h 1316719"/>
              <a:gd name="connsiteX5-201" fmla="*/ 1738 w 7721600"/>
              <a:gd name="connsiteY5-202" fmla="*/ 1316719 h 1316719"/>
              <a:gd name="connsiteX6-203" fmla="*/ 0 w 7721600"/>
              <a:gd name="connsiteY6-204" fmla="*/ 1314981 h 1316719"/>
              <a:gd name="connsiteX7-205" fmla="*/ 0 w 7721600"/>
              <a:gd name="connsiteY7-206" fmla="*/ 621923 h 1316719"/>
              <a:gd name="connsiteX8-207" fmla="*/ 1392767 w 7721600"/>
              <a:gd name="connsiteY8-208" fmla="*/ 621923 h 1316719"/>
              <a:gd name="connsiteX9-209" fmla="*/ 1770743 w 7721600"/>
              <a:gd name="connsiteY9-210" fmla="*/ 0 h 131671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7721600" h="1316719">
                <a:moveTo>
                  <a:pt x="1770743" y="0"/>
                </a:moveTo>
                <a:lnTo>
                  <a:pt x="7719862" y="0"/>
                </a:lnTo>
                <a:cubicBezTo>
                  <a:pt x="7720822" y="0"/>
                  <a:pt x="7721600" y="778"/>
                  <a:pt x="7721600" y="1738"/>
                </a:cubicBezTo>
                <a:lnTo>
                  <a:pt x="7721600" y="1314981"/>
                </a:lnTo>
                <a:cubicBezTo>
                  <a:pt x="7721600" y="1315941"/>
                  <a:pt x="7720822" y="1316719"/>
                  <a:pt x="7719862" y="1316719"/>
                </a:cubicBezTo>
                <a:lnTo>
                  <a:pt x="1738" y="1316719"/>
                </a:lnTo>
                <a:cubicBezTo>
                  <a:pt x="778" y="1316719"/>
                  <a:pt x="0" y="1315941"/>
                  <a:pt x="0" y="1314981"/>
                </a:cubicBezTo>
                <a:lnTo>
                  <a:pt x="0" y="621923"/>
                </a:lnTo>
                <a:lnTo>
                  <a:pt x="1392767" y="621923"/>
                </a:lnTo>
                <a:cubicBezTo>
                  <a:pt x="1564067" y="363488"/>
                  <a:pt x="1568715" y="365592"/>
                  <a:pt x="1770743" y="0"/>
                </a:cubicBezTo>
                <a:close/>
              </a:path>
            </a:pathLst>
          </a:custGeom>
          <a:gradFill flip="none" rotWithShape="1">
            <a:gsLst>
              <a:gs pos="0">
                <a:schemeClr val="bg1">
                  <a:lumMod val="100000"/>
                </a:schemeClr>
              </a:gs>
              <a:gs pos="100000">
                <a:srgbClr val="EBF5FF"/>
              </a:gs>
            </a:gsLst>
            <a:lin ang="16200000" scaled="0"/>
            <a:tileRect/>
          </a:gradFill>
          <a:ln w="19050">
            <a:solidFill>
              <a:schemeClr val="bg1"/>
            </a:solidFill>
          </a:ln>
          <a:effectLst>
            <a:outerShdw blurRad="101600" dist="50800" dir="5400000" algn="t" rotWithShape="0">
              <a:prstClr val="black">
                <a:alpha val="5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1" name="任意多边形: 形状 30"/>
          <p:cNvSpPr/>
          <p:nvPr>
            <p:custDataLst>
              <p:tags r:id="rId2"/>
            </p:custDataLst>
          </p:nvPr>
        </p:nvSpPr>
        <p:spPr>
          <a:xfrm>
            <a:off x="3956847" y="3146077"/>
            <a:ext cx="7721600" cy="1100231"/>
          </a:xfrm>
          <a:custGeom>
            <a:avLst/>
            <a:gdLst>
              <a:gd name="connsiteX0" fmla="*/ 1770743 w 7721600"/>
              <a:gd name="connsiteY0" fmla="*/ 0 h 1316719"/>
              <a:gd name="connsiteX1" fmla="*/ 7719862 w 7721600"/>
              <a:gd name="connsiteY1" fmla="*/ 0 h 1316719"/>
              <a:gd name="connsiteX2" fmla="*/ 7721600 w 7721600"/>
              <a:gd name="connsiteY2" fmla="*/ 1738 h 1316719"/>
              <a:gd name="connsiteX3" fmla="*/ 7721600 w 7721600"/>
              <a:gd name="connsiteY3" fmla="*/ 1314981 h 1316719"/>
              <a:gd name="connsiteX4" fmla="*/ 7719862 w 7721600"/>
              <a:gd name="connsiteY4" fmla="*/ 1316719 h 1316719"/>
              <a:gd name="connsiteX5" fmla="*/ 1738 w 7721600"/>
              <a:gd name="connsiteY5" fmla="*/ 1316719 h 1316719"/>
              <a:gd name="connsiteX6" fmla="*/ 0 w 7721600"/>
              <a:gd name="connsiteY6" fmla="*/ 1314981 h 1316719"/>
              <a:gd name="connsiteX7" fmla="*/ 0 w 7721600"/>
              <a:gd name="connsiteY7" fmla="*/ 621923 h 1316719"/>
              <a:gd name="connsiteX8" fmla="*/ 1769005 w 7721600"/>
              <a:gd name="connsiteY8" fmla="*/ 621923 h 1316719"/>
              <a:gd name="connsiteX9" fmla="*/ 1770743 w 7721600"/>
              <a:gd name="connsiteY9" fmla="*/ 620185 h 1316719"/>
              <a:gd name="connsiteX0-1" fmla="*/ 1770743 w 7721600"/>
              <a:gd name="connsiteY0-2" fmla="*/ 0 h 1316719"/>
              <a:gd name="connsiteX1-3" fmla="*/ 7719862 w 7721600"/>
              <a:gd name="connsiteY1-4" fmla="*/ 0 h 1316719"/>
              <a:gd name="connsiteX2-5" fmla="*/ 7721600 w 7721600"/>
              <a:gd name="connsiteY2-6" fmla="*/ 1738 h 1316719"/>
              <a:gd name="connsiteX3-7" fmla="*/ 7721600 w 7721600"/>
              <a:gd name="connsiteY3-8" fmla="*/ 1314981 h 1316719"/>
              <a:gd name="connsiteX4-9" fmla="*/ 7719862 w 7721600"/>
              <a:gd name="connsiteY4-10" fmla="*/ 1316719 h 1316719"/>
              <a:gd name="connsiteX5-11" fmla="*/ 1738 w 7721600"/>
              <a:gd name="connsiteY5-12" fmla="*/ 1316719 h 1316719"/>
              <a:gd name="connsiteX6-13" fmla="*/ 0 w 7721600"/>
              <a:gd name="connsiteY6-14" fmla="*/ 1314981 h 1316719"/>
              <a:gd name="connsiteX7-15" fmla="*/ 0 w 7721600"/>
              <a:gd name="connsiteY7-16" fmla="*/ 621923 h 1316719"/>
              <a:gd name="connsiteX8-17" fmla="*/ 1769005 w 7721600"/>
              <a:gd name="connsiteY8-18" fmla="*/ 621923 h 1316719"/>
              <a:gd name="connsiteX9-19" fmla="*/ 1389743 w 7721600"/>
              <a:gd name="connsiteY9-20" fmla="*/ 615423 h 1316719"/>
              <a:gd name="connsiteX10" fmla="*/ 1770743 w 7721600"/>
              <a:gd name="connsiteY10" fmla="*/ 0 h 1316719"/>
              <a:gd name="connsiteX0-21" fmla="*/ 1770743 w 7721600"/>
              <a:gd name="connsiteY0-22" fmla="*/ 0 h 1316719"/>
              <a:gd name="connsiteX1-23" fmla="*/ 7719862 w 7721600"/>
              <a:gd name="connsiteY1-24" fmla="*/ 0 h 1316719"/>
              <a:gd name="connsiteX2-25" fmla="*/ 7721600 w 7721600"/>
              <a:gd name="connsiteY2-26" fmla="*/ 1738 h 1316719"/>
              <a:gd name="connsiteX3-27" fmla="*/ 7721600 w 7721600"/>
              <a:gd name="connsiteY3-28" fmla="*/ 1314981 h 1316719"/>
              <a:gd name="connsiteX4-29" fmla="*/ 7719862 w 7721600"/>
              <a:gd name="connsiteY4-30" fmla="*/ 1316719 h 1316719"/>
              <a:gd name="connsiteX5-31" fmla="*/ 1738 w 7721600"/>
              <a:gd name="connsiteY5-32" fmla="*/ 1316719 h 1316719"/>
              <a:gd name="connsiteX6-33" fmla="*/ 0 w 7721600"/>
              <a:gd name="connsiteY6-34" fmla="*/ 1314981 h 1316719"/>
              <a:gd name="connsiteX7-35" fmla="*/ 0 w 7721600"/>
              <a:gd name="connsiteY7-36" fmla="*/ 621923 h 1316719"/>
              <a:gd name="connsiteX8-37" fmla="*/ 1392767 w 7721600"/>
              <a:gd name="connsiteY8-38" fmla="*/ 621923 h 1316719"/>
              <a:gd name="connsiteX9-39" fmla="*/ 1389743 w 7721600"/>
              <a:gd name="connsiteY9-40" fmla="*/ 615423 h 1316719"/>
              <a:gd name="connsiteX10-41" fmla="*/ 1770743 w 7721600"/>
              <a:gd name="connsiteY10-42" fmla="*/ 0 h 1316719"/>
              <a:gd name="connsiteX0-43" fmla="*/ 1770743 w 7721600"/>
              <a:gd name="connsiteY0-44" fmla="*/ 0 h 1316719"/>
              <a:gd name="connsiteX1-45" fmla="*/ 7719862 w 7721600"/>
              <a:gd name="connsiteY1-46" fmla="*/ 0 h 1316719"/>
              <a:gd name="connsiteX2-47" fmla="*/ 7721600 w 7721600"/>
              <a:gd name="connsiteY2-48" fmla="*/ 1738 h 1316719"/>
              <a:gd name="connsiteX3-49" fmla="*/ 7721600 w 7721600"/>
              <a:gd name="connsiteY3-50" fmla="*/ 1314981 h 1316719"/>
              <a:gd name="connsiteX4-51" fmla="*/ 7719862 w 7721600"/>
              <a:gd name="connsiteY4-52" fmla="*/ 1316719 h 1316719"/>
              <a:gd name="connsiteX5-53" fmla="*/ 1738 w 7721600"/>
              <a:gd name="connsiteY5-54" fmla="*/ 1316719 h 1316719"/>
              <a:gd name="connsiteX6-55" fmla="*/ 0 w 7721600"/>
              <a:gd name="connsiteY6-56" fmla="*/ 1314981 h 1316719"/>
              <a:gd name="connsiteX7-57" fmla="*/ 0 w 7721600"/>
              <a:gd name="connsiteY7-58" fmla="*/ 621923 h 1316719"/>
              <a:gd name="connsiteX8-59" fmla="*/ 1392767 w 7721600"/>
              <a:gd name="connsiteY8-60" fmla="*/ 621923 h 1316719"/>
              <a:gd name="connsiteX9-61" fmla="*/ 1389743 w 7721600"/>
              <a:gd name="connsiteY9-62" fmla="*/ 615423 h 1316719"/>
              <a:gd name="connsiteX10-63" fmla="*/ 1770743 w 7721600"/>
              <a:gd name="connsiteY10-64" fmla="*/ 0 h 1316719"/>
              <a:gd name="connsiteX0-65" fmla="*/ 1770743 w 7721600"/>
              <a:gd name="connsiteY0-66" fmla="*/ 0 h 1316719"/>
              <a:gd name="connsiteX1-67" fmla="*/ 7719862 w 7721600"/>
              <a:gd name="connsiteY1-68" fmla="*/ 0 h 1316719"/>
              <a:gd name="connsiteX2-69" fmla="*/ 7721600 w 7721600"/>
              <a:gd name="connsiteY2-70" fmla="*/ 1738 h 1316719"/>
              <a:gd name="connsiteX3-71" fmla="*/ 7721600 w 7721600"/>
              <a:gd name="connsiteY3-72" fmla="*/ 1314981 h 1316719"/>
              <a:gd name="connsiteX4-73" fmla="*/ 7719862 w 7721600"/>
              <a:gd name="connsiteY4-74" fmla="*/ 1316719 h 1316719"/>
              <a:gd name="connsiteX5-75" fmla="*/ 1738 w 7721600"/>
              <a:gd name="connsiteY5-76" fmla="*/ 1316719 h 1316719"/>
              <a:gd name="connsiteX6-77" fmla="*/ 0 w 7721600"/>
              <a:gd name="connsiteY6-78" fmla="*/ 1314981 h 1316719"/>
              <a:gd name="connsiteX7-79" fmla="*/ 0 w 7721600"/>
              <a:gd name="connsiteY7-80" fmla="*/ 621923 h 1316719"/>
              <a:gd name="connsiteX8-81" fmla="*/ 1392767 w 7721600"/>
              <a:gd name="connsiteY8-82" fmla="*/ 621923 h 1316719"/>
              <a:gd name="connsiteX9-83" fmla="*/ 1389743 w 7721600"/>
              <a:gd name="connsiteY9-84" fmla="*/ 615423 h 1316719"/>
              <a:gd name="connsiteX10-85" fmla="*/ 1770743 w 7721600"/>
              <a:gd name="connsiteY10-86" fmla="*/ 0 h 1316719"/>
              <a:gd name="connsiteX0-87" fmla="*/ 1770743 w 7721600"/>
              <a:gd name="connsiteY0-88" fmla="*/ 0 h 1316719"/>
              <a:gd name="connsiteX1-89" fmla="*/ 7719862 w 7721600"/>
              <a:gd name="connsiteY1-90" fmla="*/ 0 h 1316719"/>
              <a:gd name="connsiteX2-91" fmla="*/ 7721600 w 7721600"/>
              <a:gd name="connsiteY2-92" fmla="*/ 1738 h 1316719"/>
              <a:gd name="connsiteX3-93" fmla="*/ 7721600 w 7721600"/>
              <a:gd name="connsiteY3-94" fmla="*/ 1314981 h 1316719"/>
              <a:gd name="connsiteX4-95" fmla="*/ 7719862 w 7721600"/>
              <a:gd name="connsiteY4-96" fmla="*/ 1316719 h 1316719"/>
              <a:gd name="connsiteX5-97" fmla="*/ 1738 w 7721600"/>
              <a:gd name="connsiteY5-98" fmla="*/ 1316719 h 1316719"/>
              <a:gd name="connsiteX6-99" fmla="*/ 0 w 7721600"/>
              <a:gd name="connsiteY6-100" fmla="*/ 1314981 h 1316719"/>
              <a:gd name="connsiteX7-101" fmla="*/ 0 w 7721600"/>
              <a:gd name="connsiteY7-102" fmla="*/ 621923 h 1316719"/>
              <a:gd name="connsiteX8-103" fmla="*/ 1392767 w 7721600"/>
              <a:gd name="connsiteY8-104" fmla="*/ 621923 h 1316719"/>
              <a:gd name="connsiteX9-105" fmla="*/ 1389743 w 7721600"/>
              <a:gd name="connsiteY9-106" fmla="*/ 615423 h 1316719"/>
              <a:gd name="connsiteX10-107" fmla="*/ 1770743 w 7721600"/>
              <a:gd name="connsiteY10-108" fmla="*/ 0 h 1316719"/>
              <a:gd name="connsiteX0-109" fmla="*/ 1770743 w 7721600"/>
              <a:gd name="connsiteY0-110" fmla="*/ 0 h 1316719"/>
              <a:gd name="connsiteX1-111" fmla="*/ 7719862 w 7721600"/>
              <a:gd name="connsiteY1-112" fmla="*/ 0 h 1316719"/>
              <a:gd name="connsiteX2-113" fmla="*/ 7721600 w 7721600"/>
              <a:gd name="connsiteY2-114" fmla="*/ 1738 h 1316719"/>
              <a:gd name="connsiteX3-115" fmla="*/ 7721600 w 7721600"/>
              <a:gd name="connsiteY3-116" fmla="*/ 1314981 h 1316719"/>
              <a:gd name="connsiteX4-117" fmla="*/ 7719862 w 7721600"/>
              <a:gd name="connsiteY4-118" fmla="*/ 1316719 h 1316719"/>
              <a:gd name="connsiteX5-119" fmla="*/ 1738 w 7721600"/>
              <a:gd name="connsiteY5-120" fmla="*/ 1316719 h 1316719"/>
              <a:gd name="connsiteX6-121" fmla="*/ 0 w 7721600"/>
              <a:gd name="connsiteY6-122" fmla="*/ 1314981 h 1316719"/>
              <a:gd name="connsiteX7-123" fmla="*/ 0 w 7721600"/>
              <a:gd name="connsiteY7-124" fmla="*/ 621923 h 1316719"/>
              <a:gd name="connsiteX8-125" fmla="*/ 1392767 w 7721600"/>
              <a:gd name="connsiteY8-126" fmla="*/ 621923 h 1316719"/>
              <a:gd name="connsiteX9-127" fmla="*/ 1389743 w 7721600"/>
              <a:gd name="connsiteY9-128" fmla="*/ 615423 h 1316719"/>
              <a:gd name="connsiteX10-129" fmla="*/ 1770743 w 7721600"/>
              <a:gd name="connsiteY10-130" fmla="*/ 0 h 1316719"/>
              <a:gd name="connsiteX0-131" fmla="*/ 1770743 w 7721600"/>
              <a:gd name="connsiteY0-132" fmla="*/ 0 h 1316719"/>
              <a:gd name="connsiteX1-133" fmla="*/ 7719862 w 7721600"/>
              <a:gd name="connsiteY1-134" fmla="*/ 0 h 1316719"/>
              <a:gd name="connsiteX2-135" fmla="*/ 7721600 w 7721600"/>
              <a:gd name="connsiteY2-136" fmla="*/ 1738 h 1316719"/>
              <a:gd name="connsiteX3-137" fmla="*/ 7721600 w 7721600"/>
              <a:gd name="connsiteY3-138" fmla="*/ 1314981 h 1316719"/>
              <a:gd name="connsiteX4-139" fmla="*/ 7719862 w 7721600"/>
              <a:gd name="connsiteY4-140" fmla="*/ 1316719 h 1316719"/>
              <a:gd name="connsiteX5-141" fmla="*/ 1738 w 7721600"/>
              <a:gd name="connsiteY5-142" fmla="*/ 1316719 h 1316719"/>
              <a:gd name="connsiteX6-143" fmla="*/ 0 w 7721600"/>
              <a:gd name="connsiteY6-144" fmla="*/ 1314981 h 1316719"/>
              <a:gd name="connsiteX7-145" fmla="*/ 0 w 7721600"/>
              <a:gd name="connsiteY7-146" fmla="*/ 621923 h 1316719"/>
              <a:gd name="connsiteX8-147" fmla="*/ 1392767 w 7721600"/>
              <a:gd name="connsiteY8-148" fmla="*/ 621923 h 1316719"/>
              <a:gd name="connsiteX9-149" fmla="*/ 1770743 w 7721600"/>
              <a:gd name="connsiteY9-150" fmla="*/ 0 h 1316719"/>
              <a:gd name="connsiteX0-151" fmla="*/ 1770743 w 7721600"/>
              <a:gd name="connsiteY0-152" fmla="*/ 0 h 1316719"/>
              <a:gd name="connsiteX1-153" fmla="*/ 7719862 w 7721600"/>
              <a:gd name="connsiteY1-154" fmla="*/ 0 h 1316719"/>
              <a:gd name="connsiteX2-155" fmla="*/ 7721600 w 7721600"/>
              <a:gd name="connsiteY2-156" fmla="*/ 1738 h 1316719"/>
              <a:gd name="connsiteX3-157" fmla="*/ 7721600 w 7721600"/>
              <a:gd name="connsiteY3-158" fmla="*/ 1314981 h 1316719"/>
              <a:gd name="connsiteX4-159" fmla="*/ 7719862 w 7721600"/>
              <a:gd name="connsiteY4-160" fmla="*/ 1316719 h 1316719"/>
              <a:gd name="connsiteX5-161" fmla="*/ 1738 w 7721600"/>
              <a:gd name="connsiteY5-162" fmla="*/ 1316719 h 1316719"/>
              <a:gd name="connsiteX6-163" fmla="*/ 0 w 7721600"/>
              <a:gd name="connsiteY6-164" fmla="*/ 1314981 h 1316719"/>
              <a:gd name="connsiteX7-165" fmla="*/ 0 w 7721600"/>
              <a:gd name="connsiteY7-166" fmla="*/ 621923 h 1316719"/>
              <a:gd name="connsiteX8-167" fmla="*/ 1392767 w 7721600"/>
              <a:gd name="connsiteY8-168" fmla="*/ 621923 h 1316719"/>
              <a:gd name="connsiteX9-169" fmla="*/ 1770743 w 7721600"/>
              <a:gd name="connsiteY9-170" fmla="*/ 0 h 1316719"/>
              <a:gd name="connsiteX0-171" fmla="*/ 1770743 w 7721600"/>
              <a:gd name="connsiteY0-172" fmla="*/ 0 h 1316719"/>
              <a:gd name="connsiteX1-173" fmla="*/ 7719862 w 7721600"/>
              <a:gd name="connsiteY1-174" fmla="*/ 0 h 1316719"/>
              <a:gd name="connsiteX2-175" fmla="*/ 7721600 w 7721600"/>
              <a:gd name="connsiteY2-176" fmla="*/ 1738 h 1316719"/>
              <a:gd name="connsiteX3-177" fmla="*/ 7721600 w 7721600"/>
              <a:gd name="connsiteY3-178" fmla="*/ 1314981 h 1316719"/>
              <a:gd name="connsiteX4-179" fmla="*/ 7719862 w 7721600"/>
              <a:gd name="connsiteY4-180" fmla="*/ 1316719 h 1316719"/>
              <a:gd name="connsiteX5-181" fmla="*/ 1738 w 7721600"/>
              <a:gd name="connsiteY5-182" fmla="*/ 1316719 h 1316719"/>
              <a:gd name="connsiteX6-183" fmla="*/ 0 w 7721600"/>
              <a:gd name="connsiteY6-184" fmla="*/ 1314981 h 1316719"/>
              <a:gd name="connsiteX7-185" fmla="*/ 0 w 7721600"/>
              <a:gd name="connsiteY7-186" fmla="*/ 621923 h 1316719"/>
              <a:gd name="connsiteX8-187" fmla="*/ 1392767 w 7721600"/>
              <a:gd name="connsiteY8-188" fmla="*/ 621923 h 1316719"/>
              <a:gd name="connsiteX9-189" fmla="*/ 1770743 w 7721600"/>
              <a:gd name="connsiteY9-190" fmla="*/ 0 h 1316719"/>
              <a:gd name="connsiteX0-191" fmla="*/ 1770743 w 7721600"/>
              <a:gd name="connsiteY0-192" fmla="*/ 0 h 1316719"/>
              <a:gd name="connsiteX1-193" fmla="*/ 7719862 w 7721600"/>
              <a:gd name="connsiteY1-194" fmla="*/ 0 h 1316719"/>
              <a:gd name="connsiteX2-195" fmla="*/ 7721600 w 7721600"/>
              <a:gd name="connsiteY2-196" fmla="*/ 1738 h 1316719"/>
              <a:gd name="connsiteX3-197" fmla="*/ 7721600 w 7721600"/>
              <a:gd name="connsiteY3-198" fmla="*/ 1314981 h 1316719"/>
              <a:gd name="connsiteX4-199" fmla="*/ 7719862 w 7721600"/>
              <a:gd name="connsiteY4-200" fmla="*/ 1316719 h 1316719"/>
              <a:gd name="connsiteX5-201" fmla="*/ 1738 w 7721600"/>
              <a:gd name="connsiteY5-202" fmla="*/ 1316719 h 1316719"/>
              <a:gd name="connsiteX6-203" fmla="*/ 0 w 7721600"/>
              <a:gd name="connsiteY6-204" fmla="*/ 1314981 h 1316719"/>
              <a:gd name="connsiteX7-205" fmla="*/ 0 w 7721600"/>
              <a:gd name="connsiteY7-206" fmla="*/ 621923 h 1316719"/>
              <a:gd name="connsiteX8-207" fmla="*/ 1392767 w 7721600"/>
              <a:gd name="connsiteY8-208" fmla="*/ 621923 h 1316719"/>
              <a:gd name="connsiteX9-209" fmla="*/ 1770743 w 7721600"/>
              <a:gd name="connsiteY9-210" fmla="*/ 0 h 1316719"/>
              <a:gd name="connsiteX0-211" fmla="*/ 2179452 w 7721600"/>
              <a:gd name="connsiteY0-212" fmla="*/ 0 h 1316719"/>
              <a:gd name="connsiteX1-213" fmla="*/ 7719862 w 7721600"/>
              <a:gd name="connsiteY1-214" fmla="*/ 0 h 1316719"/>
              <a:gd name="connsiteX2-215" fmla="*/ 7721600 w 7721600"/>
              <a:gd name="connsiteY2-216" fmla="*/ 1738 h 1316719"/>
              <a:gd name="connsiteX3-217" fmla="*/ 7721600 w 7721600"/>
              <a:gd name="connsiteY3-218" fmla="*/ 1314981 h 1316719"/>
              <a:gd name="connsiteX4-219" fmla="*/ 7719862 w 7721600"/>
              <a:gd name="connsiteY4-220" fmla="*/ 1316719 h 1316719"/>
              <a:gd name="connsiteX5-221" fmla="*/ 1738 w 7721600"/>
              <a:gd name="connsiteY5-222" fmla="*/ 1316719 h 1316719"/>
              <a:gd name="connsiteX6-223" fmla="*/ 0 w 7721600"/>
              <a:gd name="connsiteY6-224" fmla="*/ 1314981 h 1316719"/>
              <a:gd name="connsiteX7-225" fmla="*/ 0 w 7721600"/>
              <a:gd name="connsiteY7-226" fmla="*/ 621923 h 1316719"/>
              <a:gd name="connsiteX8-227" fmla="*/ 1392767 w 7721600"/>
              <a:gd name="connsiteY8-228" fmla="*/ 621923 h 1316719"/>
              <a:gd name="connsiteX9-229" fmla="*/ 2179452 w 7721600"/>
              <a:gd name="connsiteY9-230" fmla="*/ 0 h 1316719"/>
              <a:gd name="connsiteX0-231" fmla="*/ 2179452 w 7721600"/>
              <a:gd name="connsiteY0-232" fmla="*/ 0 h 1316719"/>
              <a:gd name="connsiteX1-233" fmla="*/ 7719862 w 7721600"/>
              <a:gd name="connsiteY1-234" fmla="*/ 0 h 1316719"/>
              <a:gd name="connsiteX2-235" fmla="*/ 7721600 w 7721600"/>
              <a:gd name="connsiteY2-236" fmla="*/ 1738 h 1316719"/>
              <a:gd name="connsiteX3-237" fmla="*/ 7721600 w 7721600"/>
              <a:gd name="connsiteY3-238" fmla="*/ 1314981 h 1316719"/>
              <a:gd name="connsiteX4-239" fmla="*/ 7719862 w 7721600"/>
              <a:gd name="connsiteY4-240" fmla="*/ 1316719 h 1316719"/>
              <a:gd name="connsiteX5-241" fmla="*/ 1738 w 7721600"/>
              <a:gd name="connsiteY5-242" fmla="*/ 1316719 h 1316719"/>
              <a:gd name="connsiteX6-243" fmla="*/ 0 w 7721600"/>
              <a:gd name="connsiteY6-244" fmla="*/ 1314981 h 1316719"/>
              <a:gd name="connsiteX7-245" fmla="*/ 0 w 7721600"/>
              <a:gd name="connsiteY7-246" fmla="*/ 621923 h 1316719"/>
              <a:gd name="connsiteX8-247" fmla="*/ 1773767 w 7721600"/>
              <a:gd name="connsiteY8-248" fmla="*/ 621923 h 1316719"/>
              <a:gd name="connsiteX9-249" fmla="*/ 2179452 w 7721600"/>
              <a:gd name="connsiteY9-250" fmla="*/ 0 h 131671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7721600" h="1316719">
                <a:moveTo>
                  <a:pt x="2179452" y="0"/>
                </a:moveTo>
                <a:lnTo>
                  <a:pt x="7719862" y="0"/>
                </a:lnTo>
                <a:cubicBezTo>
                  <a:pt x="7720822" y="0"/>
                  <a:pt x="7721600" y="778"/>
                  <a:pt x="7721600" y="1738"/>
                </a:cubicBezTo>
                <a:lnTo>
                  <a:pt x="7721600" y="1314981"/>
                </a:lnTo>
                <a:cubicBezTo>
                  <a:pt x="7721600" y="1315941"/>
                  <a:pt x="7720822" y="1316719"/>
                  <a:pt x="7719862" y="1316719"/>
                </a:cubicBezTo>
                <a:lnTo>
                  <a:pt x="1738" y="1316719"/>
                </a:lnTo>
                <a:cubicBezTo>
                  <a:pt x="778" y="1316719"/>
                  <a:pt x="0" y="1315941"/>
                  <a:pt x="0" y="1314981"/>
                </a:cubicBezTo>
                <a:lnTo>
                  <a:pt x="0" y="621923"/>
                </a:lnTo>
                <a:lnTo>
                  <a:pt x="1773767" y="621923"/>
                </a:lnTo>
                <a:cubicBezTo>
                  <a:pt x="1945067" y="363488"/>
                  <a:pt x="1977424" y="365592"/>
                  <a:pt x="2179452" y="0"/>
                </a:cubicBezTo>
                <a:close/>
              </a:path>
            </a:pathLst>
          </a:custGeom>
          <a:gradFill flip="none" rotWithShape="1">
            <a:gsLst>
              <a:gs pos="0">
                <a:schemeClr val="bg1">
                  <a:lumMod val="100000"/>
                </a:schemeClr>
              </a:gs>
              <a:gs pos="100000">
                <a:srgbClr val="EBF5FF"/>
              </a:gs>
            </a:gsLst>
            <a:lin ang="16200000" scaled="0"/>
            <a:tileRect/>
          </a:gradFill>
          <a:ln w="19050">
            <a:solidFill>
              <a:schemeClr val="bg1"/>
            </a:solidFill>
          </a:ln>
          <a:effectLst>
            <a:outerShdw blurRad="101600" dist="50800" dir="5400000" algn="t" rotWithShape="0">
              <a:prstClr val="black">
                <a:alpha val="5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4" name="任意多边形: 形状 33"/>
          <p:cNvSpPr/>
          <p:nvPr>
            <p:custDataLst>
              <p:tags r:id="rId3"/>
            </p:custDataLst>
          </p:nvPr>
        </p:nvSpPr>
        <p:spPr>
          <a:xfrm>
            <a:off x="3956847" y="4442225"/>
            <a:ext cx="7721600" cy="1100231"/>
          </a:xfrm>
          <a:custGeom>
            <a:avLst/>
            <a:gdLst>
              <a:gd name="connsiteX0" fmla="*/ 1770743 w 7721600"/>
              <a:gd name="connsiteY0" fmla="*/ 0 h 1316719"/>
              <a:gd name="connsiteX1" fmla="*/ 7719862 w 7721600"/>
              <a:gd name="connsiteY1" fmla="*/ 0 h 1316719"/>
              <a:gd name="connsiteX2" fmla="*/ 7721600 w 7721600"/>
              <a:gd name="connsiteY2" fmla="*/ 1738 h 1316719"/>
              <a:gd name="connsiteX3" fmla="*/ 7721600 w 7721600"/>
              <a:gd name="connsiteY3" fmla="*/ 1314981 h 1316719"/>
              <a:gd name="connsiteX4" fmla="*/ 7719862 w 7721600"/>
              <a:gd name="connsiteY4" fmla="*/ 1316719 h 1316719"/>
              <a:gd name="connsiteX5" fmla="*/ 1738 w 7721600"/>
              <a:gd name="connsiteY5" fmla="*/ 1316719 h 1316719"/>
              <a:gd name="connsiteX6" fmla="*/ 0 w 7721600"/>
              <a:gd name="connsiteY6" fmla="*/ 1314981 h 1316719"/>
              <a:gd name="connsiteX7" fmla="*/ 0 w 7721600"/>
              <a:gd name="connsiteY7" fmla="*/ 621923 h 1316719"/>
              <a:gd name="connsiteX8" fmla="*/ 1769005 w 7721600"/>
              <a:gd name="connsiteY8" fmla="*/ 621923 h 1316719"/>
              <a:gd name="connsiteX9" fmla="*/ 1770743 w 7721600"/>
              <a:gd name="connsiteY9" fmla="*/ 620185 h 1316719"/>
              <a:gd name="connsiteX0-1" fmla="*/ 1770743 w 7721600"/>
              <a:gd name="connsiteY0-2" fmla="*/ 0 h 1316719"/>
              <a:gd name="connsiteX1-3" fmla="*/ 7719862 w 7721600"/>
              <a:gd name="connsiteY1-4" fmla="*/ 0 h 1316719"/>
              <a:gd name="connsiteX2-5" fmla="*/ 7721600 w 7721600"/>
              <a:gd name="connsiteY2-6" fmla="*/ 1738 h 1316719"/>
              <a:gd name="connsiteX3-7" fmla="*/ 7721600 w 7721600"/>
              <a:gd name="connsiteY3-8" fmla="*/ 1314981 h 1316719"/>
              <a:gd name="connsiteX4-9" fmla="*/ 7719862 w 7721600"/>
              <a:gd name="connsiteY4-10" fmla="*/ 1316719 h 1316719"/>
              <a:gd name="connsiteX5-11" fmla="*/ 1738 w 7721600"/>
              <a:gd name="connsiteY5-12" fmla="*/ 1316719 h 1316719"/>
              <a:gd name="connsiteX6-13" fmla="*/ 0 w 7721600"/>
              <a:gd name="connsiteY6-14" fmla="*/ 1314981 h 1316719"/>
              <a:gd name="connsiteX7-15" fmla="*/ 0 w 7721600"/>
              <a:gd name="connsiteY7-16" fmla="*/ 621923 h 1316719"/>
              <a:gd name="connsiteX8-17" fmla="*/ 1769005 w 7721600"/>
              <a:gd name="connsiteY8-18" fmla="*/ 621923 h 1316719"/>
              <a:gd name="connsiteX9-19" fmla="*/ 1389743 w 7721600"/>
              <a:gd name="connsiteY9-20" fmla="*/ 615423 h 1316719"/>
              <a:gd name="connsiteX10" fmla="*/ 1770743 w 7721600"/>
              <a:gd name="connsiteY10" fmla="*/ 0 h 1316719"/>
              <a:gd name="connsiteX0-21" fmla="*/ 1770743 w 7721600"/>
              <a:gd name="connsiteY0-22" fmla="*/ 0 h 1316719"/>
              <a:gd name="connsiteX1-23" fmla="*/ 7719862 w 7721600"/>
              <a:gd name="connsiteY1-24" fmla="*/ 0 h 1316719"/>
              <a:gd name="connsiteX2-25" fmla="*/ 7721600 w 7721600"/>
              <a:gd name="connsiteY2-26" fmla="*/ 1738 h 1316719"/>
              <a:gd name="connsiteX3-27" fmla="*/ 7721600 w 7721600"/>
              <a:gd name="connsiteY3-28" fmla="*/ 1314981 h 1316719"/>
              <a:gd name="connsiteX4-29" fmla="*/ 7719862 w 7721600"/>
              <a:gd name="connsiteY4-30" fmla="*/ 1316719 h 1316719"/>
              <a:gd name="connsiteX5-31" fmla="*/ 1738 w 7721600"/>
              <a:gd name="connsiteY5-32" fmla="*/ 1316719 h 1316719"/>
              <a:gd name="connsiteX6-33" fmla="*/ 0 w 7721600"/>
              <a:gd name="connsiteY6-34" fmla="*/ 1314981 h 1316719"/>
              <a:gd name="connsiteX7-35" fmla="*/ 0 w 7721600"/>
              <a:gd name="connsiteY7-36" fmla="*/ 621923 h 1316719"/>
              <a:gd name="connsiteX8-37" fmla="*/ 1392767 w 7721600"/>
              <a:gd name="connsiteY8-38" fmla="*/ 621923 h 1316719"/>
              <a:gd name="connsiteX9-39" fmla="*/ 1389743 w 7721600"/>
              <a:gd name="connsiteY9-40" fmla="*/ 615423 h 1316719"/>
              <a:gd name="connsiteX10-41" fmla="*/ 1770743 w 7721600"/>
              <a:gd name="connsiteY10-42" fmla="*/ 0 h 1316719"/>
              <a:gd name="connsiteX0-43" fmla="*/ 1770743 w 7721600"/>
              <a:gd name="connsiteY0-44" fmla="*/ 0 h 1316719"/>
              <a:gd name="connsiteX1-45" fmla="*/ 7719862 w 7721600"/>
              <a:gd name="connsiteY1-46" fmla="*/ 0 h 1316719"/>
              <a:gd name="connsiteX2-47" fmla="*/ 7721600 w 7721600"/>
              <a:gd name="connsiteY2-48" fmla="*/ 1738 h 1316719"/>
              <a:gd name="connsiteX3-49" fmla="*/ 7721600 w 7721600"/>
              <a:gd name="connsiteY3-50" fmla="*/ 1314981 h 1316719"/>
              <a:gd name="connsiteX4-51" fmla="*/ 7719862 w 7721600"/>
              <a:gd name="connsiteY4-52" fmla="*/ 1316719 h 1316719"/>
              <a:gd name="connsiteX5-53" fmla="*/ 1738 w 7721600"/>
              <a:gd name="connsiteY5-54" fmla="*/ 1316719 h 1316719"/>
              <a:gd name="connsiteX6-55" fmla="*/ 0 w 7721600"/>
              <a:gd name="connsiteY6-56" fmla="*/ 1314981 h 1316719"/>
              <a:gd name="connsiteX7-57" fmla="*/ 0 w 7721600"/>
              <a:gd name="connsiteY7-58" fmla="*/ 621923 h 1316719"/>
              <a:gd name="connsiteX8-59" fmla="*/ 1392767 w 7721600"/>
              <a:gd name="connsiteY8-60" fmla="*/ 621923 h 1316719"/>
              <a:gd name="connsiteX9-61" fmla="*/ 1389743 w 7721600"/>
              <a:gd name="connsiteY9-62" fmla="*/ 615423 h 1316719"/>
              <a:gd name="connsiteX10-63" fmla="*/ 1770743 w 7721600"/>
              <a:gd name="connsiteY10-64" fmla="*/ 0 h 1316719"/>
              <a:gd name="connsiteX0-65" fmla="*/ 1770743 w 7721600"/>
              <a:gd name="connsiteY0-66" fmla="*/ 0 h 1316719"/>
              <a:gd name="connsiteX1-67" fmla="*/ 7719862 w 7721600"/>
              <a:gd name="connsiteY1-68" fmla="*/ 0 h 1316719"/>
              <a:gd name="connsiteX2-69" fmla="*/ 7721600 w 7721600"/>
              <a:gd name="connsiteY2-70" fmla="*/ 1738 h 1316719"/>
              <a:gd name="connsiteX3-71" fmla="*/ 7721600 w 7721600"/>
              <a:gd name="connsiteY3-72" fmla="*/ 1314981 h 1316719"/>
              <a:gd name="connsiteX4-73" fmla="*/ 7719862 w 7721600"/>
              <a:gd name="connsiteY4-74" fmla="*/ 1316719 h 1316719"/>
              <a:gd name="connsiteX5-75" fmla="*/ 1738 w 7721600"/>
              <a:gd name="connsiteY5-76" fmla="*/ 1316719 h 1316719"/>
              <a:gd name="connsiteX6-77" fmla="*/ 0 w 7721600"/>
              <a:gd name="connsiteY6-78" fmla="*/ 1314981 h 1316719"/>
              <a:gd name="connsiteX7-79" fmla="*/ 0 w 7721600"/>
              <a:gd name="connsiteY7-80" fmla="*/ 621923 h 1316719"/>
              <a:gd name="connsiteX8-81" fmla="*/ 1392767 w 7721600"/>
              <a:gd name="connsiteY8-82" fmla="*/ 621923 h 1316719"/>
              <a:gd name="connsiteX9-83" fmla="*/ 1389743 w 7721600"/>
              <a:gd name="connsiteY9-84" fmla="*/ 615423 h 1316719"/>
              <a:gd name="connsiteX10-85" fmla="*/ 1770743 w 7721600"/>
              <a:gd name="connsiteY10-86" fmla="*/ 0 h 1316719"/>
              <a:gd name="connsiteX0-87" fmla="*/ 1770743 w 7721600"/>
              <a:gd name="connsiteY0-88" fmla="*/ 0 h 1316719"/>
              <a:gd name="connsiteX1-89" fmla="*/ 7719862 w 7721600"/>
              <a:gd name="connsiteY1-90" fmla="*/ 0 h 1316719"/>
              <a:gd name="connsiteX2-91" fmla="*/ 7721600 w 7721600"/>
              <a:gd name="connsiteY2-92" fmla="*/ 1738 h 1316719"/>
              <a:gd name="connsiteX3-93" fmla="*/ 7721600 w 7721600"/>
              <a:gd name="connsiteY3-94" fmla="*/ 1314981 h 1316719"/>
              <a:gd name="connsiteX4-95" fmla="*/ 7719862 w 7721600"/>
              <a:gd name="connsiteY4-96" fmla="*/ 1316719 h 1316719"/>
              <a:gd name="connsiteX5-97" fmla="*/ 1738 w 7721600"/>
              <a:gd name="connsiteY5-98" fmla="*/ 1316719 h 1316719"/>
              <a:gd name="connsiteX6-99" fmla="*/ 0 w 7721600"/>
              <a:gd name="connsiteY6-100" fmla="*/ 1314981 h 1316719"/>
              <a:gd name="connsiteX7-101" fmla="*/ 0 w 7721600"/>
              <a:gd name="connsiteY7-102" fmla="*/ 621923 h 1316719"/>
              <a:gd name="connsiteX8-103" fmla="*/ 1392767 w 7721600"/>
              <a:gd name="connsiteY8-104" fmla="*/ 621923 h 1316719"/>
              <a:gd name="connsiteX9-105" fmla="*/ 1389743 w 7721600"/>
              <a:gd name="connsiteY9-106" fmla="*/ 615423 h 1316719"/>
              <a:gd name="connsiteX10-107" fmla="*/ 1770743 w 7721600"/>
              <a:gd name="connsiteY10-108" fmla="*/ 0 h 1316719"/>
              <a:gd name="connsiteX0-109" fmla="*/ 1770743 w 7721600"/>
              <a:gd name="connsiteY0-110" fmla="*/ 0 h 1316719"/>
              <a:gd name="connsiteX1-111" fmla="*/ 7719862 w 7721600"/>
              <a:gd name="connsiteY1-112" fmla="*/ 0 h 1316719"/>
              <a:gd name="connsiteX2-113" fmla="*/ 7721600 w 7721600"/>
              <a:gd name="connsiteY2-114" fmla="*/ 1738 h 1316719"/>
              <a:gd name="connsiteX3-115" fmla="*/ 7721600 w 7721600"/>
              <a:gd name="connsiteY3-116" fmla="*/ 1314981 h 1316719"/>
              <a:gd name="connsiteX4-117" fmla="*/ 7719862 w 7721600"/>
              <a:gd name="connsiteY4-118" fmla="*/ 1316719 h 1316719"/>
              <a:gd name="connsiteX5-119" fmla="*/ 1738 w 7721600"/>
              <a:gd name="connsiteY5-120" fmla="*/ 1316719 h 1316719"/>
              <a:gd name="connsiteX6-121" fmla="*/ 0 w 7721600"/>
              <a:gd name="connsiteY6-122" fmla="*/ 1314981 h 1316719"/>
              <a:gd name="connsiteX7-123" fmla="*/ 0 w 7721600"/>
              <a:gd name="connsiteY7-124" fmla="*/ 621923 h 1316719"/>
              <a:gd name="connsiteX8-125" fmla="*/ 1392767 w 7721600"/>
              <a:gd name="connsiteY8-126" fmla="*/ 621923 h 1316719"/>
              <a:gd name="connsiteX9-127" fmla="*/ 1389743 w 7721600"/>
              <a:gd name="connsiteY9-128" fmla="*/ 615423 h 1316719"/>
              <a:gd name="connsiteX10-129" fmla="*/ 1770743 w 7721600"/>
              <a:gd name="connsiteY10-130" fmla="*/ 0 h 1316719"/>
              <a:gd name="connsiteX0-131" fmla="*/ 1770743 w 7721600"/>
              <a:gd name="connsiteY0-132" fmla="*/ 0 h 1316719"/>
              <a:gd name="connsiteX1-133" fmla="*/ 7719862 w 7721600"/>
              <a:gd name="connsiteY1-134" fmla="*/ 0 h 1316719"/>
              <a:gd name="connsiteX2-135" fmla="*/ 7721600 w 7721600"/>
              <a:gd name="connsiteY2-136" fmla="*/ 1738 h 1316719"/>
              <a:gd name="connsiteX3-137" fmla="*/ 7721600 w 7721600"/>
              <a:gd name="connsiteY3-138" fmla="*/ 1314981 h 1316719"/>
              <a:gd name="connsiteX4-139" fmla="*/ 7719862 w 7721600"/>
              <a:gd name="connsiteY4-140" fmla="*/ 1316719 h 1316719"/>
              <a:gd name="connsiteX5-141" fmla="*/ 1738 w 7721600"/>
              <a:gd name="connsiteY5-142" fmla="*/ 1316719 h 1316719"/>
              <a:gd name="connsiteX6-143" fmla="*/ 0 w 7721600"/>
              <a:gd name="connsiteY6-144" fmla="*/ 1314981 h 1316719"/>
              <a:gd name="connsiteX7-145" fmla="*/ 0 w 7721600"/>
              <a:gd name="connsiteY7-146" fmla="*/ 621923 h 1316719"/>
              <a:gd name="connsiteX8-147" fmla="*/ 1392767 w 7721600"/>
              <a:gd name="connsiteY8-148" fmla="*/ 621923 h 1316719"/>
              <a:gd name="connsiteX9-149" fmla="*/ 1770743 w 7721600"/>
              <a:gd name="connsiteY9-150" fmla="*/ 0 h 1316719"/>
              <a:gd name="connsiteX0-151" fmla="*/ 1770743 w 7721600"/>
              <a:gd name="connsiteY0-152" fmla="*/ 0 h 1316719"/>
              <a:gd name="connsiteX1-153" fmla="*/ 7719862 w 7721600"/>
              <a:gd name="connsiteY1-154" fmla="*/ 0 h 1316719"/>
              <a:gd name="connsiteX2-155" fmla="*/ 7721600 w 7721600"/>
              <a:gd name="connsiteY2-156" fmla="*/ 1738 h 1316719"/>
              <a:gd name="connsiteX3-157" fmla="*/ 7721600 w 7721600"/>
              <a:gd name="connsiteY3-158" fmla="*/ 1314981 h 1316719"/>
              <a:gd name="connsiteX4-159" fmla="*/ 7719862 w 7721600"/>
              <a:gd name="connsiteY4-160" fmla="*/ 1316719 h 1316719"/>
              <a:gd name="connsiteX5-161" fmla="*/ 1738 w 7721600"/>
              <a:gd name="connsiteY5-162" fmla="*/ 1316719 h 1316719"/>
              <a:gd name="connsiteX6-163" fmla="*/ 0 w 7721600"/>
              <a:gd name="connsiteY6-164" fmla="*/ 1314981 h 1316719"/>
              <a:gd name="connsiteX7-165" fmla="*/ 0 w 7721600"/>
              <a:gd name="connsiteY7-166" fmla="*/ 621923 h 1316719"/>
              <a:gd name="connsiteX8-167" fmla="*/ 1392767 w 7721600"/>
              <a:gd name="connsiteY8-168" fmla="*/ 621923 h 1316719"/>
              <a:gd name="connsiteX9-169" fmla="*/ 1770743 w 7721600"/>
              <a:gd name="connsiteY9-170" fmla="*/ 0 h 1316719"/>
              <a:gd name="connsiteX0-171" fmla="*/ 1770743 w 7721600"/>
              <a:gd name="connsiteY0-172" fmla="*/ 0 h 1316719"/>
              <a:gd name="connsiteX1-173" fmla="*/ 7719862 w 7721600"/>
              <a:gd name="connsiteY1-174" fmla="*/ 0 h 1316719"/>
              <a:gd name="connsiteX2-175" fmla="*/ 7721600 w 7721600"/>
              <a:gd name="connsiteY2-176" fmla="*/ 1738 h 1316719"/>
              <a:gd name="connsiteX3-177" fmla="*/ 7721600 w 7721600"/>
              <a:gd name="connsiteY3-178" fmla="*/ 1314981 h 1316719"/>
              <a:gd name="connsiteX4-179" fmla="*/ 7719862 w 7721600"/>
              <a:gd name="connsiteY4-180" fmla="*/ 1316719 h 1316719"/>
              <a:gd name="connsiteX5-181" fmla="*/ 1738 w 7721600"/>
              <a:gd name="connsiteY5-182" fmla="*/ 1316719 h 1316719"/>
              <a:gd name="connsiteX6-183" fmla="*/ 0 w 7721600"/>
              <a:gd name="connsiteY6-184" fmla="*/ 1314981 h 1316719"/>
              <a:gd name="connsiteX7-185" fmla="*/ 0 w 7721600"/>
              <a:gd name="connsiteY7-186" fmla="*/ 621923 h 1316719"/>
              <a:gd name="connsiteX8-187" fmla="*/ 1392767 w 7721600"/>
              <a:gd name="connsiteY8-188" fmla="*/ 621923 h 1316719"/>
              <a:gd name="connsiteX9-189" fmla="*/ 1770743 w 7721600"/>
              <a:gd name="connsiteY9-190" fmla="*/ 0 h 1316719"/>
              <a:gd name="connsiteX0-191" fmla="*/ 1770743 w 7721600"/>
              <a:gd name="connsiteY0-192" fmla="*/ 0 h 1316719"/>
              <a:gd name="connsiteX1-193" fmla="*/ 7719862 w 7721600"/>
              <a:gd name="connsiteY1-194" fmla="*/ 0 h 1316719"/>
              <a:gd name="connsiteX2-195" fmla="*/ 7721600 w 7721600"/>
              <a:gd name="connsiteY2-196" fmla="*/ 1738 h 1316719"/>
              <a:gd name="connsiteX3-197" fmla="*/ 7721600 w 7721600"/>
              <a:gd name="connsiteY3-198" fmla="*/ 1314981 h 1316719"/>
              <a:gd name="connsiteX4-199" fmla="*/ 7719862 w 7721600"/>
              <a:gd name="connsiteY4-200" fmla="*/ 1316719 h 1316719"/>
              <a:gd name="connsiteX5-201" fmla="*/ 1738 w 7721600"/>
              <a:gd name="connsiteY5-202" fmla="*/ 1316719 h 1316719"/>
              <a:gd name="connsiteX6-203" fmla="*/ 0 w 7721600"/>
              <a:gd name="connsiteY6-204" fmla="*/ 1314981 h 1316719"/>
              <a:gd name="connsiteX7-205" fmla="*/ 0 w 7721600"/>
              <a:gd name="connsiteY7-206" fmla="*/ 621923 h 1316719"/>
              <a:gd name="connsiteX8-207" fmla="*/ 1392767 w 7721600"/>
              <a:gd name="connsiteY8-208" fmla="*/ 621923 h 1316719"/>
              <a:gd name="connsiteX9-209" fmla="*/ 1770743 w 7721600"/>
              <a:gd name="connsiteY9-210" fmla="*/ 0 h 1316719"/>
              <a:gd name="connsiteX0-211" fmla="*/ 2179452 w 7721600"/>
              <a:gd name="connsiteY0-212" fmla="*/ 0 h 1316719"/>
              <a:gd name="connsiteX1-213" fmla="*/ 7719862 w 7721600"/>
              <a:gd name="connsiteY1-214" fmla="*/ 0 h 1316719"/>
              <a:gd name="connsiteX2-215" fmla="*/ 7721600 w 7721600"/>
              <a:gd name="connsiteY2-216" fmla="*/ 1738 h 1316719"/>
              <a:gd name="connsiteX3-217" fmla="*/ 7721600 w 7721600"/>
              <a:gd name="connsiteY3-218" fmla="*/ 1314981 h 1316719"/>
              <a:gd name="connsiteX4-219" fmla="*/ 7719862 w 7721600"/>
              <a:gd name="connsiteY4-220" fmla="*/ 1316719 h 1316719"/>
              <a:gd name="connsiteX5-221" fmla="*/ 1738 w 7721600"/>
              <a:gd name="connsiteY5-222" fmla="*/ 1316719 h 1316719"/>
              <a:gd name="connsiteX6-223" fmla="*/ 0 w 7721600"/>
              <a:gd name="connsiteY6-224" fmla="*/ 1314981 h 1316719"/>
              <a:gd name="connsiteX7-225" fmla="*/ 0 w 7721600"/>
              <a:gd name="connsiteY7-226" fmla="*/ 621923 h 1316719"/>
              <a:gd name="connsiteX8-227" fmla="*/ 1392767 w 7721600"/>
              <a:gd name="connsiteY8-228" fmla="*/ 621923 h 1316719"/>
              <a:gd name="connsiteX9-229" fmla="*/ 2179452 w 7721600"/>
              <a:gd name="connsiteY9-230" fmla="*/ 0 h 1316719"/>
              <a:gd name="connsiteX0-231" fmla="*/ 2179452 w 7721600"/>
              <a:gd name="connsiteY0-232" fmla="*/ 0 h 1316719"/>
              <a:gd name="connsiteX1-233" fmla="*/ 7719862 w 7721600"/>
              <a:gd name="connsiteY1-234" fmla="*/ 0 h 1316719"/>
              <a:gd name="connsiteX2-235" fmla="*/ 7721600 w 7721600"/>
              <a:gd name="connsiteY2-236" fmla="*/ 1738 h 1316719"/>
              <a:gd name="connsiteX3-237" fmla="*/ 7721600 w 7721600"/>
              <a:gd name="connsiteY3-238" fmla="*/ 1314981 h 1316719"/>
              <a:gd name="connsiteX4-239" fmla="*/ 7719862 w 7721600"/>
              <a:gd name="connsiteY4-240" fmla="*/ 1316719 h 1316719"/>
              <a:gd name="connsiteX5-241" fmla="*/ 1738 w 7721600"/>
              <a:gd name="connsiteY5-242" fmla="*/ 1316719 h 1316719"/>
              <a:gd name="connsiteX6-243" fmla="*/ 0 w 7721600"/>
              <a:gd name="connsiteY6-244" fmla="*/ 1314981 h 1316719"/>
              <a:gd name="connsiteX7-245" fmla="*/ 0 w 7721600"/>
              <a:gd name="connsiteY7-246" fmla="*/ 621923 h 1316719"/>
              <a:gd name="connsiteX8-247" fmla="*/ 1773767 w 7721600"/>
              <a:gd name="connsiteY8-248" fmla="*/ 621923 h 1316719"/>
              <a:gd name="connsiteX9-249" fmla="*/ 2179452 w 7721600"/>
              <a:gd name="connsiteY9-250" fmla="*/ 0 h 131671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7721600" h="1316719">
                <a:moveTo>
                  <a:pt x="2179452" y="0"/>
                </a:moveTo>
                <a:lnTo>
                  <a:pt x="7719862" y="0"/>
                </a:lnTo>
                <a:cubicBezTo>
                  <a:pt x="7720822" y="0"/>
                  <a:pt x="7721600" y="778"/>
                  <a:pt x="7721600" y="1738"/>
                </a:cubicBezTo>
                <a:lnTo>
                  <a:pt x="7721600" y="1314981"/>
                </a:lnTo>
                <a:cubicBezTo>
                  <a:pt x="7721600" y="1315941"/>
                  <a:pt x="7720822" y="1316719"/>
                  <a:pt x="7719862" y="1316719"/>
                </a:cubicBezTo>
                <a:lnTo>
                  <a:pt x="1738" y="1316719"/>
                </a:lnTo>
                <a:cubicBezTo>
                  <a:pt x="778" y="1316719"/>
                  <a:pt x="0" y="1315941"/>
                  <a:pt x="0" y="1314981"/>
                </a:cubicBezTo>
                <a:lnTo>
                  <a:pt x="0" y="621923"/>
                </a:lnTo>
                <a:lnTo>
                  <a:pt x="1773767" y="621923"/>
                </a:lnTo>
                <a:cubicBezTo>
                  <a:pt x="1945067" y="363488"/>
                  <a:pt x="1977424" y="365592"/>
                  <a:pt x="2179452" y="0"/>
                </a:cubicBezTo>
                <a:close/>
              </a:path>
            </a:pathLst>
          </a:custGeom>
          <a:gradFill flip="none" rotWithShape="1">
            <a:gsLst>
              <a:gs pos="0">
                <a:schemeClr val="bg1">
                  <a:lumMod val="100000"/>
                </a:schemeClr>
              </a:gs>
              <a:gs pos="100000">
                <a:srgbClr val="EBF5FF"/>
              </a:gs>
            </a:gsLst>
            <a:lin ang="16200000" scaled="0"/>
            <a:tileRect/>
          </a:gradFill>
          <a:ln w="19050">
            <a:solidFill>
              <a:schemeClr val="bg1"/>
            </a:solidFill>
          </a:ln>
          <a:effectLst>
            <a:outerShdw blurRad="101600" dist="50800" dir="5400000" algn="t" rotWithShape="0">
              <a:prstClr val="black">
                <a:alpha val="5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3" name="picture 80"/>
          <p:cNvPicPr>
            <a:picLocks noChangeAspect="1"/>
          </p:cNvPicPr>
          <p:nvPr/>
        </p:nvPicPr>
        <p:blipFill>
          <a:blip r:embed="rId4"/>
          <a:stretch>
            <a:fillRect/>
          </a:stretch>
        </p:blipFill>
        <p:spPr>
          <a:xfrm>
            <a:off x="9212985" y="408444"/>
            <a:ext cx="2674215" cy="220702"/>
          </a:xfrm>
          <a:prstGeom prst="rect">
            <a:avLst/>
          </a:prstGeom>
        </p:spPr>
      </p:pic>
      <p:sp>
        <p:nvSpPr>
          <p:cNvPr id="5" name="文本框 4"/>
          <p:cNvSpPr txBox="1"/>
          <p:nvPr/>
        </p:nvSpPr>
        <p:spPr>
          <a:xfrm>
            <a:off x="514350" y="303530"/>
            <a:ext cx="4817745" cy="430530"/>
          </a:xfrm>
          <a:prstGeom prst="rect">
            <a:avLst/>
          </a:prstGeom>
          <a:noFill/>
        </p:spPr>
        <p:txBody>
          <a:bodyPr wrap="square" rtlCol="0" anchor="t">
            <a:spAutoFit/>
          </a:bodyPr>
          <a:lstStyle/>
          <a:p>
            <a:pPr indent="0" algn="l" rtl="0" eaLnBrk="0" fontAlgn="auto">
              <a:lnSpc>
                <a:spcPct val="96000"/>
              </a:lnSpc>
              <a:spcBef>
                <a:spcPts val="0"/>
              </a:spcBef>
            </a:pPr>
            <a:r>
              <a:rPr lang="zh-CN" altLang="en-US" sz="2300" b="1" kern="0" spc="80" dirty="0">
                <a:solidFill>
                  <a:srgbClr val="000000">
                    <a:alpha val="100000"/>
                  </a:srgbClr>
                </a:solidFill>
                <a:cs typeface="+mn-ea"/>
                <a:sym typeface="+mn-lt"/>
              </a:rPr>
              <a:t>目前工作</a:t>
            </a:r>
            <a:r>
              <a:rPr lang="zh-CN" altLang="en-US" sz="2300" b="1" kern="0" spc="80" dirty="0">
                <a:solidFill>
                  <a:srgbClr val="000000">
                    <a:alpha val="100000"/>
                  </a:srgbClr>
                </a:solidFill>
                <a:cs typeface="+mn-ea"/>
                <a:sym typeface="+mn-lt"/>
              </a:rPr>
              <a:t>基础</a:t>
            </a:r>
            <a:endParaRPr lang="zh-CN" altLang="en-US" sz="2300" b="1" kern="0" spc="80" dirty="0">
              <a:solidFill>
                <a:srgbClr val="000000">
                  <a:alpha val="100000"/>
                </a:srgbClr>
              </a:solidFill>
              <a:cs typeface="+mn-ea"/>
              <a:sym typeface="+mn-lt"/>
            </a:endParaRPr>
          </a:p>
        </p:txBody>
      </p:sp>
      <p:sp>
        <p:nvSpPr>
          <p:cNvPr id="7" name="任意多边形 62"/>
          <p:cNvSpPr/>
          <p:nvPr/>
        </p:nvSpPr>
        <p:spPr>
          <a:xfrm>
            <a:off x="304800" y="374015"/>
            <a:ext cx="205740" cy="289560"/>
          </a:xfrm>
          <a:custGeom>
            <a:avLst/>
            <a:gdLst/>
            <a:ahLst/>
            <a:cxnLst>
              <a:cxn ang="3">
                <a:pos x="hc" y="t"/>
              </a:cxn>
              <a:cxn ang="cd2">
                <a:pos x="l" y="vc"/>
              </a:cxn>
              <a:cxn ang="cd4">
                <a:pos x="hc" y="b"/>
              </a:cxn>
              <a:cxn ang="0">
                <a:pos x="r" y="vc"/>
              </a:cxn>
            </a:cxnLst>
            <a:rect l="l" t="t" r="r" b="b"/>
            <a:pathLst>
              <a:path w="324" h="456">
                <a:moveTo>
                  <a:pt x="82" y="0"/>
                </a:moveTo>
                <a:lnTo>
                  <a:pt x="324" y="0"/>
                </a:lnTo>
                <a:lnTo>
                  <a:pt x="324" y="456"/>
                </a:lnTo>
                <a:lnTo>
                  <a:pt x="82" y="456"/>
                </a:lnTo>
                <a:lnTo>
                  <a:pt x="82" y="0"/>
                </a:lnTo>
                <a:close/>
                <a:moveTo>
                  <a:pt x="0" y="0"/>
                </a:moveTo>
                <a:lnTo>
                  <a:pt x="37" y="0"/>
                </a:lnTo>
                <a:lnTo>
                  <a:pt x="37" y="456"/>
                </a:lnTo>
                <a:lnTo>
                  <a:pt x="0" y="456"/>
                </a:lnTo>
                <a:lnTo>
                  <a:pt x="0" y="0"/>
                </a:lnTo>
                <a:close/>
              </a:path>
            </a:pathLst>
          </a:custGeom>
          <a:solidFill>
            <a:srgbClr val="0070D8"/>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cs typeface="+mn-ea"/>
              <a:sym typeface="+mn-lt"/>
            </a:endParaRPr>
          </a:p>
        </p:txBody>
      </p:sp>
      <p:grpSp>
        <p:nvGrpSpPr>
          <p:cNvPr id="22" name="组合 21"/>
          <p:cNvGrpSpPr/>
          <p:nvPr/>
        </p:nvGrpSpPr>
        <p:grpSpPr>
          <a:xfrm>
            <a:off x="537488" y="1290125"/>
            <a:ext cx="4674256" cy="4674256"/>
            <a:chOff x="865910" y="1722253"/>
            <a:chExt cx="3810000" cy="3810000"/>
          </a:xfrm>
        </p:grpSpPr>
        <p:sp>
          <p:nvSpPr>
            <p:cNvPr id="8" name="椭圆 7"/>
            <p:cNvSpPr/>
            <p:nvPr/>
          </p:nvSpPr>
          <p:spPr>
            <a:xfrm>
              <a:off x="865910" y="1722253"/>
              <a:ext cx="3810000" cy="3810000"/>
            </a:xfrm>
            <a:prstGeom prst="ellipse">
              <a:avLst/>
            </a:prstGeom>
            <a:gradFill>
              <a:gsLst>
                <a:gs pos="0">
                  <a:schemeClr val="bg1">
                    <a:lumMod val="100000"/>
                  </a:schemeClr>
                </a:gs>
                <a:gs pos="100000">
                  <a:srgbClr val="D9EDFF"/>
                </a:gs>
              </a:gsLst>
              <a:path path="circle">
                <a:fillToRect l="50000" t="50000" r="50000" b="50000"/>
              </a:path>
              <a:tileRect/>
            </a:gradFill>
            <a:ln>
              <a:noFill/>
            </a:ln>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lt1"/>
                </a:solidFill>
                <a:cs typeface="+mn-ea"/>
                <a:sym typeface="+mn-lt"/>
              </a:endParaRPr>
            </a:p>
          </p:txBody>
        </p:sp>
        <p:sp>
          <p:nvSpPr>
            <p:cNvPr id="4" name="椭圆 3"/>
            <p:cNvSpPr/>
            <p:nvPr/>
          </p:nvSpPr>
          <p:spPr>
            <a:xfrm>
              <a:off x="1072692" y="1929036"/>
              <a:ext cx="3396438" cy="3396436"/>
            </a:xfrm>
            <a:prstGeom prst="ellipse">
              <a:avLst/>
            </a:prstGeom>
            <a:solidFill>
              <a:schemeClr val="bg1"/>
            </a:solidFill>
            <a:ln>
              <a:solidFill>
                <a:schemeClr val="bg1"/>
              </a:solidFill>
            </a:ln>
            <a:effectLst>
              <a:outerShdw blurRad="101600" dist="25400" dir="5400000" algn="t"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1344470" y="2200813"/>
              <a:ext cx="2852880" cy="2852880"/>
            </a:xfrm>
            <a:prstGeom prst="ellipse">
              <a:avLst/>
            </a:prstGeom>
            <a:solidFill>
              <a:srgbClr val="0070D8"/>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2"/>
          <p:cNvSpPr txBox="1"/>
          <p:nvPr/>
        </p:nvSpPr>
        <p:spPr>
          <a:xfrm>
            <a:off x="2531110" y="3669030"/>
            <a:ext cx="695325" cy="767715"/>
          </a:xfrm>
          <a:prstGeom prst="rect">
            <a:avLst/>
          </a:prstGeom>
          <a:noFill/>
        </p:spPr>
        <p:txBody>
          <a:bodyPr wrap="square" lIns="0" tIns="0" rIns="0" bIns="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rtl="0" eaLnBrk="0" fontAlgn="auto">
              <a:lnSpc>
                <a:spcPct val="96000"/>
              </a:lnSpc>
              <a:spcBef>
                <a:spcPts val="0"/>
              </a:spcBef>
            </a:pPr>
            <a:r>
              <a:rPr lang="zh-CN" altLang="en-US" sz="2600" b="1" kern="0" spc="80" dirty="0">
                <a:solidFill>
                  <a:schemeClr val="bg1">
                    <a:alpha val="100000"/>
                  </a:schemeClr>
                </a:solidFill>
                <a:latin typeface="微软雅黑" panose="020B0503020204020204" charset="-122"/>
                <a:ea typeface="微软雅黑" panose="020B0503020204020204" charset="-122"/>
                <a:cs typeface="微软雅黑" panose="020B0503020204020204" charset="-122"/>
                <a:sym typeface="+mn-ea"/>
              </a:rPr>
              <a:t>工作</a:t>
            </a:r>
            <a:r>
              <a:rPr lang="zh-CN" altLang="en-US" sz="2600" b="1" kern="0" spc="80" dirty="0">
                <a:solidFill>
                  <a:schemeClr val="bg1">
                    <a:alpha val="100000"/>
                  </a:schemeClr>
                </a:solidFill>
                <a:latin typeface="微软雅黑" panose="020B0503020204020204" charset="-122"/>
                <a:ea typeface="微软雅黑" panose="020B0503020204020204" charset="-122"/>
                <a:cs typeface="微软雅黑" panose="020B0503020204020204" charset="-122"/>
                <a:sym typeface="+mn-ea"/>
              </a:rPr>
              <a:t>产出</a:t>
            </a:r>
            <a:endParaRPr lang="zh-CN" altLang="en-US" sz="2600" b="1" kern="0" spc="80" dirty="0">
              <a:solidFill>
                <a:schemeClr val="bg1">
                  <a:alpha val="10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25" name="图形 23"/>
          <p:cNvSpPr/>
          <p:nvPr/>
        </p:nvSpPr>
        <p:spPr>
          <a:xfrm>
            <a:off x="2616968" y="3000376"/>
            <a:ext cx="515297" cy="520699"/>
          </a:xfrm>
          <a:custGeom>
            <a:avLst/>
            <a:gdLst>
              <a:gd name="connsiteX0" fmla="*/ 1281470 w 1281685"/>
              <a:gd name="connsiteY0" fmla="*/ 105293 h 1295122"/>
              <a:gd name="connsiteX1" fmla="*/ 1209180 w 1281685"/>
              <a:gd name="connsiteY1" fmla="*/ 451018 h 1295122"/>
              <a:gd name="connsiteX2" fmla="*/ 977520 w 1281685"/>
              <a:gd name="connsiteY2" fmla="*/ 798264 h 1295122"/>
              <a:gd name="connsiteX3" fmla="*/ 967435 w 1281685"/>
              <a:gd name="connsiteY3" fmla="*/ 825608 h 1295122"/>
              <a:gd name="connsiteX4" fmla="*/ 977671 w 1281685"/>
              <a:gd name="connsiteY4" fmla="*/ 933160 h 1295122"/>
              <a:gd name="connsiteX5" fmla="*/ 889987 w 1281685"/>
              <a:gd name="connsiteY5" fmla="*/ 1133602 h 1295122"/>
              <a:gd name="connsiteX6" fmla="*/ 668902 w 1281685"/>
              <a:gd name="connsiteY6" fmla="*/ 1282419 h 1295122"/>
              <a:gd name="connsiteX7" fmla="*/ 559358 w 1281685"/>
              <a:gd name="connsiteY7" fmla="*/ 1229531 h 1295122"/>
              <a:gd name="connsiteX8" fmla="*/ 544220 w 1281685"/>
              <a:gd name="connsiteY8" fmla="*/ 1037269 h 1295122"/>
              <a:gd name="connsiteX9" fmla="*/ 511907 w 1281685"/>
              <a:gd name="connsiteY9" fmla="*/ 1000782 h 1295122"/>
              <a:gd name="connsiteX10" fmla="*/ 321231 w 1281685"/>
              <a:gd name="connsiteY10" fmla="*/ 879675 h 1295122"/>
              <a:gd name="connsiteX11" fmla="*/ 283285 w 1281685"/>
              <a:gd name="connsiteY11" fmla="*/ 760129 h 1295122"/>
              <a:gd name="connsiteX12" fmla="*/ 265020 w 1281685"/>
              <a:gd name="connsiteY12" fmla="*/ 743469 h 1295122"/>
              <a:gd name="connsiteX13" fmla="*/ 65628 w 1281685"/>
              <a:gd name="connsiteY13" fmla="*/ 730795 h 1295122"/>
              <a:gd name="connsiteX14" fmla="*/ 11992 w 1281685"/>
              <a:gd name="connsiteY14" fmla="*/ 619321 h 1295122"/>
              <a:gd name="connsiteX15" fmla="*/ 76399 w 1281685"/>
              <a:gd name="connsiteY15" fmla="*/ 517632 h 1295122"/>
              <a:gd name="connsiteX16" fmla="*/ 145692 w 1281685"/>
              <a:gd name="connsiteY16" fmla="*/ 408108 h 1295122"/>
              <a:gd name="connsiteX17" fmla="*/ 327612 w 1281685"/>
              <a:gd name="connsiteY17" fmla="*/ 304730 h 1295122"/>
              <a:gd name="connsiteX18" fmla="*/ 462188 w 1281685"/>
              <a:gd name="connsiteY18" fmla="*/ 317147 h 1295122"/>
              <a:gd name="connsiteX19" fmla="*/ 482551 w 1281685"/>
              <a:gd name="connsiteY19" fmla="*/ 310339 h 1295122"/>
              <a:gd name="connsiteX20" fmla="*/ 861142 w 1281685"/>
              <a:gd name="connsiteY20" fmla="*/ 62062 h 1295122"/>
              <a:gd name="connsiteX21" fmla="*/ 1115352 w 1281685"/>
              <a:gd name="connsiteY21" fmla="*/ 3799 h 1295122"/>
              <a:gd name="connsiteX22" fmla="*/ 1247163 w 1281685"/>
              <a:gd name="connsiteY22" fmla="*/ 5725 h 1295122"/>
              <a:gd name="connsiteX23" fmla="*/ 1275943 w 1281685"/>
              <a:gd name="connsiteY23" fmla="*/ 34547 h 1295122"/>
              <a:gd name="connsiteX24" fmla="*/ 1281470 w 1281685"/>
              <a:gd name="connsiteY24" fmla="*/ 105293 h 1295122"/>
              <a:gd name="connsiteX25" fmla="*/ 1281470 w 1281685"/>
              <a:gd name="connsiteY25" fmla="*/ 105293 h 1295122"/>
              <a:gd name="connsiteX26" fmla="*/ 1073706 w 1281685"/>
              <a:gd name="connsiteY26" fmla="*/ 400123 h 1295122"/>
              <a:gd name="connsiteX27" fmla="*/ 890606 w 1281685"/>
              <a:gd name="connsiteY27" fmla="*/ 208546 h 1295122"/>
              <a:gd name="connsiteX28" fmla="*/ 694105 w 1281685"/>
              <a:gd name="connsiteY28" fmla="*/ 401235 h 1295122"/>
              <a:gd name="connsiteX29" fmla="*/ 880758 w 1281685"/>
              <a:gd name="connsiteY29" fmla="*/ 590286 h 1295122"/>
              <a:gd name="connsiteX30" fmla="*/ 1073706 w 1281685"/>
              <a:gd name="connsiteY30" fmla="*/ 400123 h 1295122"/>
              <a:gd name="connsiteX31" fmla="*/ 1073706 w 1281685"/>
              <a:gd name="connsiteY31" fmla="*/ 400123 h 1295122"/>
              <a:gd name="connsiteX32" fmla="*/ 185561 w 1281685"/>
              <a:gd name="connsiteY32" fmla="*/ 831646 h 1295122"/>
              <a:gd name="connsiteX33" fmla="*/ 223205 w 1281685"/>
              <a:gd name="connsiteY33" fmla="*/ 860809 h 1295122"/>
              <a:gd name="connsiteX34" fmla="*/ 374184 w 1281685"/>
              <a:gd name="connsiteY34" fmla="*/ 1040609 h 1295122"/>
              <a:gd name="connsiteX35" fmla="*/ 424804 w 1281685"/>
              <a:gd name="connsiteY35" fmla="*/ 1062856 h 1295122"/>
              <a:gd name="connsiteX36" fmla="*/ 440133 w 1281685"/>
              <a:gd name="connsiteY36" fmla="*/ 1128205 h 1295122"/>
              <a:gd name="connsiteX37" fmla="*/ 335857 w 1281685"/>
              <a:gd name="connsiteY37" fmla="*/ 1233149 h 1295122"/>
              <a:gd name="connsiteX38" fmla="*/ 295686 w 1281685"/>
              <a:gd name="connsiteY38" fmla="*/ 1244241 h 1295122"/>
              <a:gd name="connsiteX39" fmla="*/ 270590 w 1281685"/>
              <a:gd name="connsiteY39" fmla="*/ 1208954 h 1295122"/>
              <a:gd name="connsiteX40" fmla="*/ 270075 w 1281685"/>
              <a:gd name="connsiteY40" fmla="*/ 1176535 h 1295122"/>
              <a:gd name="connsiteX41" fmla="*/ 251233 w 1281685"/>
              <a:gd name="connsiteY41" fmla="*/ 1162573 h 1295122"/>
              <a:gd name="connsiteX42" fmla="*/ 134535 w 1281685"/>
              <a:gd name="connsiteY42" fmla="*/ 1201523 h 1295122"/>
              <a:gd name="connsiteX43" fmla="*/ 100318 w 1281685"/>
              <a:gd name="connsiteY43" fmla="*/ 1200560 h 1295122"/>
              <a:gd name="connsiteX44" fmla="*/ 84280 w 1281685"/>
              <a:gd name="connsiteY44" fmla="*/ 1153902 h 1295122"/>
              <a:gd name="connsiteX45" fmla="*/ 124000 w 1281685"/>
              <a:gd name="connsiteY45" fmla="*/ 1033800 h 1295122"/>
              <a:gd name="connsiteX46" fmla="*/ 110682 w 1281685"/>
              <a:gd name="connsiteY46" fmla="*/ 1015751 h 1295122"/>
              <a:gd name="connsiteX47" fmla="*/ 76851 w 1281685"/>
              <a:gd name="connsiteY47" fmla="*/ 1015215 h 1295122"/>
              <a:gd name="connsiteX48" fmla="*/ 42719 w 1281685"/>
              <a:gd name="connsiteY48" fmla="*/ 990868 h 1295122"/>
              <a:gd name="connsiteX49" fmla="*/ 51627 w 1281685"/>
              <a:gd name="connsiteY49" fmla="*/ 951276 h 1295122"/>
              <a:gd name="connsiteX50" fmla="*/ 160359 w 1281685"/>
              <a:gd name="connsiteY50" fmla="*/ 842051 h 1295122"/>
              <a:gd name="connsiteX51" fmla="*/ 185561 w 1281685"/>
              <a:gd name="connsiteY51" fmla="*/ 831646 h 1295122"/>
              <a:gd name="connsiteX52" fmla="*/ 185561 w 1281685"/>
              <a:gd name="connsiteY52" fmla="*/ 831646 h 12951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281685" h="1295122">
                <a:moveTo>
                  <a:pt x="1281470" y="105293"/>
                </a:moveTo>
                <a:cubicBezTo>
                  <a:pt x="1277786" y="224818"/>
                  <a:pt x="1252091" y="339715"/>
                  <a:pt x="1209180" y="451018"/>
                </a:cubicBezTo>
                <a:cubicBezTo>
                  <a:pt x="1157877" y="584203"/>
                  <a:pt x="1082764" y="701414"/>
                  <a:pt x="977520" y="798264"/>
                </a:cubicBezTo>
                <a:cubicBezTo>
                  <a:pt x="968979" y="806122"/>
                  <a:pt x="966300" y="814537"/>
                  <a:pt x="967435" y="825608"/>
                </a:cubicBezTo>
                <a:cubicBezTo>
                  <a:pt x="971074" y="861429"/>
                  <a:pt x="973987" y="897339"/>
                  <a:pt x="977671" y="933160"/>
                </a:cubicBezTo>
                <a:cubicBezTo>
                  <a:pt x="986236" y="1016690"/>
                  <a:pt x="957091" y="1085082"/>
                  <a:pt x="889987" y="1133602"/>
                </a:cubicBezTo>
                <a:cubicBezTo>
                  <a:pt x="818041" y="1185634"/>
                  <a:pt x="743160" y="1233683"/>
                  <a:pt x="668902" y="1282419"/>
                </a:cubicBezTo>
                <a:cubicBezTo>
                  <a:pt x="622094" y="1313146"/>
                  <a:pt x="564561" y="1285267"/>
                  <a:pt x="559358" y="1229531"/>
                </a:cubicBezTo>
                <a:cubicBezTo>
                  <a:pt x="553362" y="1165529"/>
                  <a:pt x="548651" y="1101397"/>
                  <a:pt x="544220" y="1037269"/>
                </a:cubicBezTo>
                <a:cubicBezTo>
                  <a:pt x="542014" y="1005172"/>
                  <a:pt x="542869" y="1004894"/>
                  <a:pt x="511907" y="1000782"/>
                </a:cubicBezTo>
                <a:cubicBezTo>
                  <a:pt x="429726" y="989905"/>
                  <a:pt x="365403" y="950742"/>
                  <a:pt x="321231" y="879675"/>
                </a:cubicBezTo>
                <a:cubicBezTo>
                  <a:pt x="298508" y="843080"/>
                  <a:pt x="287248" y="802630"/>
                  <a:pt x="283285" y="760129"/>
                </a:cubicBezTo>
                <a:cubicBezTo>
                  <a:pt x="282109" y="747389"/>
                  <a:pt x="276990" y="744134"/>
                  <a:pt x="265020" y="743469"/>
                </a:cubicBezTo>
                <a:cubicBezTo>
                  <a:pt x="198513" y="739765"/>
                  <a:pt x="132050" y="735805"/>
                  <a:pt x="65628" y="730795"/>
                </a:cubicBezTo>
                <a:cubicBezTo>
                  <a:pt x="10385" y="726598"/>
                  <a:pt x="-17623" y="668120"/>
                  <a:pt x="11992" y="619321"/>
                </a:cubicBezTo>
                <a:cubicBezTo>
                  <a:pt x="32781" y="585018"/>
                  <a:pt x="54923" y="551529"/>
                  <a:pt x="76399" y="517632"/>
                </a:cubicBezTo>
                <a:cubicBezTo>
                  <a:pt x="99548" y="481147"/>
                  <a:pt x="122501" y="444552"/>
                  <a:pt x="145692" y="408108"/>
                </a:cubicBezTo>
                <a:cubicBezTo>
                  <a:pt x="188130" y="341408"/>
                  <a:pt x="249306" y="305373"/>
                  <a:pt x="327612" y="304730"/>
                </a:cubicBezTo>
                <a:cubicBezTo>
                  <a:pt x="372450" y="304387"/>
                  <a:pt x="417372" y="312309"/>
                  <a:pt x="462188" y="317147"/>
                </a:cubicBezTo>
                <a:cubicBezTo>
                  <a:pt x="470665" y="318068"/>
                  <a:pt x="476684" y="316911"/>
                  <a:pt x="482551" y="310339"/>
                </a:cubicBezTo>
                <a:cubicBezTo>
                  <a:pt x="586591" y="193576"/>
                  <a:pt x="715367" y="114777"/>
                  <a:pt x="861142" y="62062"/>
                </a:cubicBezTo>
                <a:cubicBezTo>
                  <a:pt x="943537" y="32255"/>
                  <a:pt x="1028330" y="12792"/>
                  <a:pt x="1115352" y="3799"/>
                </a:cubicBezTo>
                <a:cubicBezTo>
                  <a:pt x="1159204" y="-762"/>
                  <a:pt x="1203355" y="-2411"/>
                  <a:pt x="1247163" y="5725"/>
                </a:cubicBezTo>
                <a:cubicBezTo>
                  <a:pt x="1271041" y="10158"/>
                  <a:pt x="1272261" y="11144"/>
                  <a:pt x="1275943" y="34547"/>
                </a:cubicBezTo>
                <a:cubicBezTo>
                  <a:pt x="1279608" y="57952"/>
                  <a:pt x="1282517" y="81461"/>
                  <a:pt x="1281470" y="105293"/>
                </a:cubicBezTo>
                <a:lnTo>
                  <a:pt x="1281470" y="105293"/>
                </a:lnTo>
                <a:close/>
                <a:moveTo>
                  <a:pt x="1073706" y="400123"/>
                </a:moveTo>
                <a:cubicBezTo>
                  <a:pt x="1074967" y="298006"/>
                  <a:pt x="990732" y="210194"/>
                  <a:pt x="890606" y="208546"/>
                </a:cubicBezTo>
                <a:cubicBezTo>
                  <a:pt x="786627" y="206812"/>
                  <a:pt x="696568" y="282718"/>
                  <a:pt x="694105" y="401235"/>
                </a:cubicBezTo>
                <a:cubicBezTo>
                  <a:pt x="692027" y="500074"/>
                  <a:pt x="781210" y="589600"/>
                  <a:pt x="880758" y="590286"/>
                </a:cubicBezTo>
                <a:cubicBezTo>
                  <a:pt x="986747" y="591055"/>
                  <a:pt x="1072398" y="506648"/>
                  <a:pt x="1073706" y="400123"/>
                </a:cubicBezTo>
                <a:lnTo>
                  <a:pt x="1073706" y="400123"/>
                </a:lnTo>
                <a:close/>
                <a:moveTo>
                  <a:pt x="185561" y="831646"/>
                </a:moveTo>
                <a:cubicBezTo>
                  <a:pt x="205238" y="831903"/>
                  <a:pt x="216158" y="840617"/>
                  <a:pt x="223205" y="860809"/>
                </a:cubicBezTo>
                <a:cubicBezTo>
                  <a:pt x="250869" y="939906"/>
                  <a:pt x="301211" y="999924"/>
                  <a:pt x="374184" y="1040609"/>
                </a:cubicBezTo>
                <a:cubicBezTo>
                  <a:pt x="390285" y="1049581"/>
                  <a:pt x="407266" y="1056861"/>
                  <a:pt x="424804" y="1062856"/>
                </a:cubicBezTo>
                <a:cubicBezTo>
                  <a:pt x="456322" y="1073646"/>
                  <a:pt x="463518" y="1104482"/>
                  <a:pt x="440133" y="1128205"/>
                </a:cubicBezTo>
                <a:cubicBezTo>
                  <a:pt x="405490" y="1163321"/>
                  <a:pt x="370480" y="1198052"/>
                  <a:pt x="335857" y="1233149"/>
                </a:cubicBezTo>
                <a:cubicBezTo>
                  <a:pt x="324399" y="1244754"/>
                  <a:pt x="311788" y="1250255"/>
                  <a:pt x="295686" y="1244241"/>
                </a:cubicBezTo>
                <a:cubicBezTo>
                  <a:pt x="279328" y="1238137"/>
                  <a:pt x="271425" y="1225955"/>
                  <a:pt x="270590" y="1208954"/>
                </a:cubicBezTo>
                <a:cubicBezTo>
                  <a:pt x="270075" y="1198182"/>
                  <a:pt x="270332" y="1187346"/>
                  <a:pt x="270075" y="1176535"/>
                </a:cubicBezTo>
                <a:cubicBezTo>
                  <a:pt x="269626" y="1156685"/>
                  <a:pt x="269431" y="1156534"/>
                  <a:pt x="251233" y="1162573"/>
                </a:cubicBezTo>
                <a:cubicBezTo>
                  <a:pt x="212305" y="1175529"/>
                  <a:pt x="173463" y="1188590"/>
                  <a:pt x="134535" y="1201523"/>
                </a:cubicBezTo>
                <a:cubicBezTo>
                  <a:pt x="123057" y="1205358"/>
                  <a:pt x="111537" y="1206941"/>
                  <a:pt x="100318" y="1200560"/>
                </a:cubicBezTo>
                <a:cubicBezTo>
                  <a:pt x="83872" y="1191202"/>
                  <a:pt x="77664" y="1174479"/>
                  <a:pt x="84280" y="1153902"/>
                </a:cubicBezTo>
                <a:cubicBezTo>
                  <a:pt x="97211" y="1113752"/>
                  <a:pt x="110767" y="1073840"/>
                  <a:pt x="124000" y="1033800"/>
                </a:cubicBezTo>
                <a:cubicBezTo>
                  <a:pt x="129737" y="1016413"/>
                  <a:pt x="129375" y="1016048"/>
                  <a:pt x="110682" y="1015751"/>
                </a:cubicBezTo>
                <a:cubicBezTo>
                  <a:pt x="99417" y="1015577"/>
                  <a:pt x="88114" y="1015771"/>
                  <a:pt x="76851" y="1015215"/>
                </a:cubicBezTo>
                <a:cubicBezTo>
                  <a:pt x="60449" y="1014422"/>
                  <a:pt x="48778" y="1006456"/>
                  <a:pt x="42719" y="990868"/>
                </a:cubicBezTo>
                <a:cubicBezTo>
                  <a:pt x="36768" y="975686"/>
                  <a:pt x="40578" y="962453"/>
                  <a:pt x="51627" y="951276"/>
                </a:cubicBezTo>
                <a:cubicBezTo>
                  <a:pt x="87770" y="914767"/>
                  <a:pt x="124087" y="878430"/>
                  <a:pt x="160359" y="842051"/>
                </a:cubicBezTo>
                <a:cubicBezTo>
                  <a:pt x="167597" y="834837"/>
                  <a:pt x="176162" y="830724"/>
                  <a:pt x="185561" y="831646"/>
                </a:cubicBezTo>
                <a:lnTo>
                  <a:pt x="185561" y="831646"/>
                </a:lnTo>
                <a:close/>
              </a:path>
            </a:pathLst>
          </a:custGeom>
          <a:solidFill>
            <a:schemeClr val="bg1"/>
          </a:solidFill>
          <a:ln w="1860" cap="flat">
            <a:noFill/>
            <a:prstDash val="solid"/>
            <a:miter/>
          </a:ln>
        </p:spPr>
        <p:txBody>
          <a:bodyPr rtlCol="0" anchor="ctr"/>
          <a:lstStyle/>
          <a:p>
            <a:endParaRPr lang="zh-CN" altLang="en-US"/>
          </a:p>
        </p:txBody>
      </p:sp>
      <p:sp>
        <p:nvSpPr>
          <p:cNvPr id="36" name="标题"/>
          <p:cNvSpPr txBox="1"/>
          <p:nvPr>
            <p:custDataLst>
              <p:tags r:id="rId5"/>
            </p:custDataLst>
          </p:nvPr>
        </p:nvSpPr>
        <p:spPr>
          <a:xfrm>
            <a:off x="6229188" y="2123045"/>
            <a:ext cx="631583" cy="553998"/>
          </a:xfrm>
          <a:prstGeom prst="rect">
            <a:avLst/>
          </a:prstGeom>
          <a:noFill/>
        </p:spPr>
        <p:txBody>
          <a:bodyPr wrap="none" lIns="0" tIns="0" rIns="0" bIns="0"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600" b="1" spc="300" dirty="0">
                <a:latin typeface="MiSans" pitchFamily="2" charset="-122"/>
                <a:ea typeface="MiSans" pitchFamily="2" charset="-122"/>
                <a:cs typeface="MiSans" pitchFamily="2" charset="-122"/>
                <a:sym typeface="+mn-lt"/>
              </a:rPr>
              <a:t>01</a:t>
            </a:r>
            <a:endParaRPr lang="zh-CN" altLang="en-US" sz="3600" b="1" spc="300" dirty="0">
              <a:latin typeface="MiSans" pitchFamily="2" charset="-122"/>
              <a:ea typeface="MiSans" pitchFamily="2" charset="-122"/>
              <a:cs typeface="MiSans" pitchFamily="2" charset="-122"/>
              <a:sym typeface="+mn-lt"/>
            </a:endParaRPr>
          </a:p>
        </p:txBody>
      </p:sp>
      <p:sp>
        <p:nvSpPr>
          <p:cNvPr id="37" name="标题"/>
          <p:cNvSpPr txBox="1"/>
          <p:nvPr>
            <p:custDataLst>
              <p:tags r:id="rId6"/>
            </p:custDataLst>
          </p:nvPr>
        </p:nvSpPr>
        <p:spPr>
          <a:xfrm>
            <a:off x="6229188" y="3427821"/>
            <a:ext cx="679673" cy="553998"/>
          </a:xfrm>
          <a:prstGeom prst="rect">
            <a:avLst/>
          </a:prstGeom>
          <a:noFill/>
        </p:spPr>
        <p:txBody>
          <a:bodyPr wrap="none" lIns="0" tIns="0" rIns="0" bIns="0"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600" b="1" spc="300" dirty="0">
                <a:latin typeface="MiSans" pitchFamily="2" charset="-122"/>
                <a:ea typeface="MiSans" pitchFamily="2" charset="-122"/>
                <a:cs typeface="MiSans" pitchFamily="2" charset="-122"/>
                <a:sym typeface="+mn-lt"/>
              </a:rPr>
              <a:t>02</a:t>
            </a:r>
            <a:endParaRPr lang="zh-CN" altLang="en-US" sz="3600" b="1" spc="300" dirty="0">
              <a:latin typeface="MiSans" pitchFamily="2" charset="-122"/>
              <a:ea typeface="MiSans" pitchFamily="2" charset="-122"/>
              <a:cs typeface="MiSans" pitchFamily="2" charset="-122"/>
              <a:sym typeface="+mn-lt"/>
            </a:endParaRPr>
          </a:p>
        </p:txBody>
      </p:sp>
      <p:sp>
        <p:nvSpPr>
          <p:cNvPr id="38" name="标题"/>
          <p:cNvSpPr txBox="1"/>
          <p:nvPr>
            <p:custDataLst>
              <p:tags r:id="rId7"/>
            </p:custDataLst>
          </p:nvPr>
        </p:nvSpPr>
        <p:spPr>
          <a:xfrm>
            <a:off x="6229188" y="4699778"/>
            <a:ext cx="681277" cy="553998"/>
          </a:xfrm>
          <a:prstGeom prst="rect">
            <a:avLst/>
          </a:prstGeom>
          <a:noFill/>
        </p:spPr>
        <p:txBody>
          <a:bodyPr wrap="none" lIns="0" tIns="0" rIns="0" bIns="0"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600" b="1" spc="300" dirty="0">
                <a:latin typeface="MiSans" pitchFamily="2" charset="-122"/>
                <a:ea typeface="MiSans" pitchFamily="2" charset="-122"/>
                <a:cs typeface="MiSans" pitchFamily="2" charset="-122"/>
                <a:sym typeface="+mn-lt"/>
              </a:rPr>
              <a:t>03</a:t>
            </a:r>
            <a:endParaRPr lang="zh-CN" altLang="en-US" sz="3600" b="1" spc="300" dirty="0">
              <a:latin typeface="MiSans" pitchFamily="2" charset="-122"/>
              <a:ea typeface="MiSans" pitchFamily="2" charset="-122"/>
              <a:cs typeface="MiSans" pitchFamily="2" charset="-122"/>
              <a:sym typeface="+mn-lt"/>
            </a:endParaRPr>
          </a:p>
        </p:txBody>
      </p:sp>
      <p:sp>
        <p:nvSpPr>
          <p:cNvPr id="41" name="文本框 12"/>
          <p:cNvSpPr txBox="1"/>
          <p:nvPr>
            <p:custDataLst>
              <p:tags r:id="rId8"/>
            </p:custDataLst>
          </p:nvPr>
        </p:nvSpPr>
        <p:spPr>
          <a:xfrm>
            <a:off x="7057390" y="1943100"/>
            <a:ext cx="2099310" cy="276225"/>
          </a:xfrm>
          <a:prstGeom prst="rect">
            <a:avLst/>
          </a:prstGeom>
          <a:noFill/>
        </p:spPr>
        <p:txBody>
          <a:bodyPr wrap="none" lIns="0" tIns="0" rIns="0" bIns="0" rtlCol="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rtl="0" eaLnBrk="0" fontAlgn="auto">
              <a:lnSpc>
                <a:spcPct val="96000"/>
              </a:lnSpc>
              <a:spcBef>
                <a:spcPts val="0"/>
              </a:spcBef>
            </a:pPr>
            <a:r>
              <a:rPr lang="zh-CN" altLang="en-US" sz="1600" b="1" kern="0" spc="80" dirty="0">
                <a:solidFill>
                  <a:srgbClr val="0070D8"/>
                </a:solidFill>
                <a:latin typeface="微软雅黑" panose="020B0503020204020204" charset="-122"/>
                <a:ea typeface="微软雅黑" panose="020B0503020204020204" charset="-122"/>
                <a:cs typeface="微软雅黑" panose="020B0503020204020204" charset="-122"/>
                <a:sym typeface="+mn-ea"/>
              </a:rPr>
              <a:t>数据基础</a:t>
            </a:r>
            <a:endParaRPr lang="zh-CN" altLang="en-US" sz="1600" b="1" kern="0" spc="80" dirty="0">
              <a:solidFill>
                <a:srgbClr val="0070D8"/>
              </a:solidFill>
              <a:latin typeface="微软雅黑" panose="020B0503020204020204" charset="-122"/>
              <a:ea typeface="微软雅黑" panose="020B0503020204020204" charset="-122"/>
              <a:cs typeface="微软雅黑" panose="020B0503020204020204" charset="-122"/>
              <a:sym typeface="+mn-ea"/>
            </a:endParaRPr>
          </a:p>
          <a:p>
            <a:pPr indent="0" algn="l" rtl="0" eaLnBrk="0" fontAlgn="auto">
              <a:lnSpc>
                <a:spcPct val="96000"/>
              </a:lnSpc>
              <a:spcBef>
                <a:spcPts val="0"/>
              </a:spcBef>
            </a:pPr>
            <a:endParaRPr lang="zh-CN" altLang="en-US" sz="1600" b="1" kern="0" spc="80" dirty="0">
              <a:solidFill>
                <a:srgbClr val="0070D8"/>
              </a:solidFill>
              <a:latin typeface="微软雅黑" panose="020B0503020204020204" charset="-122"/>
              <a:ea typeface="微软雅黑" panose="020B0503020204020204" charset="-122"/>
              <a:cs typeface="微软雅黑" panose="020B0503020204020204" charset="-122"/>
              <a:sym typeface="+mn-ea"/>
            </a:endParaRPr>
          </a:p>
        </p:txBody>
      </p:sp>
      <p:sp>
        <p:nvSpPr>
          <p:cNvPr id="42" name="文本框 27"/>
          <p:cNvSpPr txBox="1"/>
          <p:nvPr>
            <p:custDataLst>
              <p:tags r:id="rId9"/>
            </p:custDataLst>
          </p:nvPr>
        </p:nvSpPr>
        <p:spPr>
          <a:xfrm>
            <a:off x="7057388" y="2273538"/>
            <a:ext cx="4427738" cy="412750"/>
          </a:xfrm>
          <a:prstGeom prst="rect">
            <a:avLst/>
          </a:prstGeom>
          <a:noFill/>
        </p:spPr>
        <p:txBody>
          <a:bodyPr wrap="square" lIns="0" tIns="0" rIns="0" bIns="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a:lnSpc>
                <a:spcPct val="96000"/>
              </a:lnSpc>
              <a:spcBef>
                <a:spcPts val="600"/>
              </a:spcBef>
            </a:pPr>
            <a:r>
              <a:rPr lang="zh-CN" altLang="en-US" sz="1400" kern="0" spc="80" dirty="0">
                <a:latin typeface="微软雅黑" panose="020B0503020204020204" charset="-122"/>
                <a:ea typeface="微软雅黑" panose="020B0503020204020204" charset="-122"/>
                <a:cs typeface="微软雅黑" panose="020B0503020204020204" charset="-122"/>
                <a:sym typeface="+mn-ea"/>
              </a:rPr>
              <a:t>已围绕道路、轨道、管线等城市基础设施对象，梳理多源空间数据和业务属性数据。</a:t>
            </a:r>
            <a:endParaRPr lang="zh-CN" altLang="en-US" sz="1400" kern="0" spc="80" dirty="0">
              <a:latin typeface="微软雅黑" panose="020B0503020204020204" charset="-122"/>
              <a:ea typeface="微软雅黑" panose="020B0503020204020204" charset="-122"/>
              <a:cs typeface="微软雅黑" panose="020B0503020204020204" charset="-122"/>
              <a:sym typeface="+mn-ea"/>
            </a:endParaRPr>
          </a:p>
        </p:txBody>
      </p:sp>
      <p:sp>
        <p:nvSpPr>
          <p:cNvPr id="43" name="文本框 12"/>
          <p:cNvSpPr txBox="1"/>
          <p:nvPr>
            <p:custDataLst>
              <p:tags r:id="rId10"/>
            </p:custDataLst>
          </p:nvPr>
        </p:nvSpPr>
        <p:spPr>
          <a:xfrm>
            <a:off x="7057388" y="3249569"/>
            <a:ext cx="853440" cy="235585"/>
          </a:xfrm>
          <a:prstGeom prst="rect">
            <a:avLst/>
          </a:prstGeom>
          <a:noFill/>
        </p:spPr>
        <p:txBody>
          <a:bodyPr wrap="none" lIns="0" tIns="0" rIns="0" bIns="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rtl="0" eaLnBrk="0" fontAlgn="auto">
              <a:lnSpc>
                <a:spcPct val="96000"/>
              </a:lnSpc>
              <a:spcBef>
                <a:spcPts val="0"/>
              </a:spcBef>
            </a:pPr>
            <a:r>
              <a:rPr lang="zh-CN" altLang="en-US" sz="1600" b="1" kern="0" spc="80" dirty="0">
                <a:solidFill>
                  <a:srgbClr val="0070D8"/>
                </a:solidFill>
                <a:latin typeface="微软雅黑" panose="020B0503020204020204" charset="-122"/>
                <a:ea typeface="微软雅黑" panose="020B0503020204020204" charset="-122"/>
                <a:cs typeface="微软雅黑" panose="020B0503020204020204" charset="-122"/>
                <a:sym typeface="+mn-ea"/>
              </a:rPr>
              <a:t>建模基础</a:t>
            </a:r>
            <a:endParaRPr lang="zh-CN" altLang="en-US" sz="1600" b="1" kern="0" spc="80" dirty="0">
              <a:solidFill>
                <a:srgbClr val="0070D8"/>
              </a:solidFill>
              <a:latin typeface="微软雅黑" panose="020B0503020204020204" charset="-122"/>
              <a:ea typeface="微软雅黑" panose="020B0503020204020204" charset="-122"/>
              <a:cs typeface="微软雅黑" panose="020B0503020204020204" charset="-122"/>
              <a:sym typeface="+mn-ea"/>
            </a:endParaRPr>
          </a:p>
        </p:txBody>
      </p:sp>
      <p:sp>
        <p:nvSpPr>
          <p:cNvPr id="44" name="文本框 27"/>
          <p:cNvSpPr txBox="1"/>
          <p:nvPr>
            <p:custDataLst>
              <p:tags r:id="rId11"/>
            </p:custDataLst>
          </p:nvPr>
        </p:nvSpPr>
        <p:spPr>
          <a:xfrm>
            <a:off x="7057388" y="3564537"/>
            <a:ext cx="4427738" cy="412750"/>
          </a:xfrm>
          <a:prstGeom prst="rect">
            <a:avLst/>
          </a:prstGeom>
          <a:noFill/>
        </p:spPr>
        <p:txBody>
          <a:bodyPr wrap="square" lIns="0" tIns="0" rIns="0" bIns="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a:lnSpc>
                <a:spcPct val="96000"/>
              </a:lnSpc>
              <a:spcBef>
                <a:spcPts val="600"/>
              </a:spcBef>
            </a:pPr>
            <a:r>
              <a:rPr lang="zh-CN" altLang="en-US" sz="1400" kern="0" spc="80" dirty="0">
                <a:latin typeface="微软雅黑" panose="020B0503020204020204" charset="-122"/>
                <a:ea typeface="微软雅黑" panose="020B0503020204020204" charset="-122"/>
                <a:cs typeface="微软雅黑" panose="020B0503020204020204" charset="-122"/>
                <a:sym typeface="+mn-ea"/>
              </a:rPr>
              <a:t>以 </a:t>
            </a:r>
            <a:r>
              <a:rPr lang="en-US" altLang="zh-CN" sz="1400" kern="0" spc="80" dirty="0">
                <a:latin typeface="微软雅黑" panose="020B0503020204020204" charset="-122"/>
                <a:ea typeface="微软雅黑" panose="020B0503020204020204" charset="-122"/>
                <a:cs typeface="微软雅黑" panose="020B0503020204020204" charset="-122"/>
                <a:sym typeface="+mn-ea"/>
              </a:rPr>
              <a:t>CIM </a:t>
            </a:r>
            <a:r>
              <a:rPr lang="zh-CN" altLang="en-US" sz="1400" kern="0" spc="80" dirty="0">
                <a:latin typeface="微软雅黑" panose="020B0503020204020204" charset="-122"/>
                <a:ea typeface="微软雅黑" panose="020B0503020204020204" charset="-122"/>
                <a:cs typeface="微软雅黑" panose="020B0503020204020204" charset="-122"/>
                <a:sym typeface="+mn-ea"/>
              </a:rPr>
              <a:t>自动化建模为切入点，开展道路等基础设施对象的规则化三维表达。</a:t>
            </a:r>
            <a:endParaRPr lang="zh-CN" altLang="en-US" sz="1400" kern="0" spc="80" dirty="0">
              <a:latin typeface="微软雅黑" panose="020B0503020204020204" charset="-122"/>
              <a:ea typeface="微软雅黑" panose="020B0503020204020204" charset="-122"/>
              <a:cs typeface="微软雅黑" panose="020B0503020204020204" charset="-122"/>
              <a:sym typeface="+mn-ea"/>
            </a:endParaRPr>
          </a:p>
        </p:txBody>
      </p:sp>
      <p:sp>
        <p:nvSpPr>
          <p:cNvPr id="45" name="文本框 12"/>
          <p:cNvSpPr txBox="1"/>
          <p:nvPr>
            <p:custDataLst>
              <p:tags r:id="rId12"/>
            </p:custDataLst>
          </p:nvPr>
        </p:nvSpPr>
        <p:spPr>
          <a:xfrm>
            <a:off x="7057388" y="4559318"/>
            <a:ext cx="853440" cy="235585"/>
          </a:xfrm>
          <a:prstGeom prst="rect">
            <a:avLst/>
          </a:prstGeom>
          <a:noFill/>
        </p:spPr>
        <p:txBody>
          <a:bodyPr wrap="none" lIns="0" tIns="0" rIns="0" bIns="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rtl="0" eaLnBrk="0" fontAlgn="auto">
              <a:lnSpc>
                <a:spcPct val="96000"/>
              </a:lnSpc>
              <a:spcBef>
                <a:spcPts val="0"/>
              </a:spcBef>
            </a:pPr>
            <a:r>
              <a:rPr lang="zh-CN" altLang="en-US" sz="1600" b="1" kern="0" spc="80" dirty="0">
                <a:solidFill>
                  <a:srgbClr val="0070D8"/>
                </a:solidFill>
                <a:latin typeface="微软雅黑" panose="020B0503020204020204" charset="-122"/>
                <a:ea typeface="微软雅黑" panose="020B0503020204020204" charset="-122"/>
                <a:cs typeface="微软雅黑" panose="020B0503020204020204" charset="-122"/>
                <a:sym typeface="+mn-ea"/>
              </a:rPr>
              <a:t>语义基础</a:t>
            </a:r>
            <a:endParaRPr lang="zh-CN" altLang="en-US" sz="1600" b="1" kern="0" spc="80" dirty="0">
              <a:solidFill>
                <a:srgbClr val="0070D8"/>
              </a:solidFill>
              <a:latin typeface="微软雅黑" panose="020B0503020204020204" charset="-122"/>
              <a:ea typeface="微软雅黑" panose="020B0503020204020204" charset="-122"/>
              <a:cs typeface="微软雅黑" panose="020B0503020204020204" charset="-122"/>
              <a:sym typeface="+mn-ea"/>
            </a:endParaRPr>
          </a:p>
        </p:txBody>
      </p:sp>
      <p:sp>
        <p:nvSpPr>
          <p:cNvPr id="46" name="文本框 27"/>
          <p:cNvSpPr txBox="1"/>
          <p:nvPr>
            <p:custDataLst>
              <p:tags r:id="rId13"/>
            </p:custDataLst>
          </p:nvPr>
        </p:nvSpPr>
        <p:spPr>
          <a:xfrm>
            <a:off x="7057388" y="4874286"/>
            <a:ext cx="4427738" cy="412750"/>
          </a:xfrm>
          <a:prstGeom prst="rect">
            <a:avLst/>
          </a:prstGeom>
          <a:noFill/>
        </p:spPr>
        <p:txBody>
          <a:bodyPr wrap="square" lIns="0" tIns="0" rIns="0" bIns="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0">
              <a:lnSpc>
                <a:spcPct val="96000"/>
              </a:lnSpc>
              <a:spcBef>
                <a:spcPts val="600"/>
              </a:spcBef>
            </a:pPr>
            <a:r>
              <a:rPr lang="zh-CN" altLang="en-US" sz="1400" kern="0" spc="80" dirty="0">
                <a:latin typeface="微软雅黑" panose="020B0503020204020204" charset="-122"/>
                <a:ea typeface="微软雅黑" panose="020B0503020204020204" charset="-122"/>
                <a:cs typeface="微软雅黑" panose="020B0503020204020204" charset="-122"/>
                <a:sym typeface="+mn-ea"/>
              </a:rPr>
              <a:t>将模型对象与道路类型、构件分类、空间关系、源数据属性进行关联。</a:t>
            </a:r>
            <a:endParaRPr lang="zh-CN" altLang="en-US" sz="1400" kern="0" spc="80" dirty="0">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圆角 7"/>
          <p:cNvSpPr/>
          <p:nvPr/>
        </p:nvSpPr>
        <p:spPr>
          <a:xfrm>
            <a:off x="-1" y="0"/>
            <a:ext cx="12192001" cy="6858000"/>
          </a:xfrm>
          <a:prstGeom prst="roundRect">
            <a:avLst>
              <a:gd name="adj" fmla="val 0"/>
            </a:avLst>
          </a:prstGeom>
          <a:gradFill flip="none" rotWithShape="1">
            <a:gsLst>
              <a:gs pos="0">
                <a:srgbClr val="0070D8">
                  <a:alpha val="0"/>
                </a:srgbClr>
              </a:gs>
              <a:gs pos="100000">
                <a:srgbClr val="0070D8">
                  <a:alpha val="10000"/>
                </a:srgbClr>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2"/>
          <p:cNvSpPr/>
          <p:nvPr/>
        </p:nvSpPr>
        <p:spPr>
          <a:xfrm>
            <a:off x="9115617" y="-1"/>
            <a:ext cx="2592000" cy="6857999"/>
          </a:xfrm>
          <a:prstGeom prst="roundRect">
            <a:avLst>
              <a:gd name="adj" fmla="val 0"/>
            </a:avLst>
          </a:prstGeom>
          <a:gradFill>
            <a:gsLst>
              <a:gs pos="100000">
                <a:srgbClr val="E8F2FB"/>
              </a:gs>
              <a:gs pos="0">
                <a:schemeClr val="bg1"/>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圆角 11"/>
          <p:cNvSpPr/>
          <p:nvPr/>
        </p:nvSpPr>
        <p:spPr>
          <a:xfrm>
            <a:off x="6238539" y="-1"/>
            <a:ext cx="2592000" cy="6857999"/>
          </a:xfrm>
          <a:prstGeom prst="roundRect">
            <a:avLst>
              <a:gd name="adj" fmla="val 0"/>
            </a:avLst>
          </a:prstGeom>
          <a:gradFill>
            <a:gsLst>
              <a:gs pos="100000">
                <a:srgbClr val="E8F2FB"/>
              </a:gs>
              <a:gs pos="0">
                <a:schemeClr val="bg1"/>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p:cNvSpPr/>
          <p:nvPr/>
        </p:nvSpPr>
        <p:spPr>
          <a:xfrm>
            <a:off x="484383" y="-1"/>
            <a:ext cx="2592000" cy="6857999"/>
          </a:xfrm>
          <a:prstGeom prst="roundRect">
            <a:avLst>
              <a:gd name="adj" fmla="val 0"/>
            </a:avLst>
          </a:prstGeom>
          <a:gradFill>
            <a:gsLst>
              <a:gs pos="100000">
                <a:srgbClr val="E9F3FC"/>
              </a:gs>
              <a:gs pos="0">
                <a:schemeClr val="bg1"/>
              </a:gs>
            </a:gsLst>
            <a:lin ang="5400000" scaled="0"/>
          </a:gradFill>
          <a:ln>
            <a:noFill/>
          </a:ln>
          <a:effectLst>
            <a:outerShdw blurRad="101600" dist="38100" dir="5400000" sx="50000" sy="50000" algn="t"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p:cNvSpPr/>
          <p:nvPr/>
        </p:nvSpPr>
        <p:spPr>
          <a:xfrm>
            <a:off x="3361461" y="-1"/>
            <a:ext cx="2592000" cy="6857999"/>
          </a:xfrm>
          <a:prstGeom prst="roundRect">
            <a:avLst>
              <a:gd name="adj" fmla="val 0"/>
            </a:avLst>
          </a:prstGeom>
          <a:gradFill>
            <a:gsLst>
              <a:gs pos="100000">
                <a:schemeClr val="bg1">
                  <a:alpha val="0"/>
                </a:schemeClr>
              </a:gs>
              <a:gs pos="0">
                <a:schemeClr val="bg1"/>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9"/>
          <p:cNvSpPr/>
          <p:nvPr/>
        </p:nvSpPr>
        <p:spPr>
          <a:xfrm>
            <a:off x="3380511" y="-1"/>
            <a:ext cx="2592000" cy="6857999"/>
          </a:xfrm>
          <a:prstGeom prst="roundRect">
            <a:avLst>
              <a:gd name="adj" fmla="val 0"/>
            </a:avLst>
          </a:prstGeom>
          <a:gradFill>
            <a:gsLst>
              <a:gs pos="100000">
                <a:srgbClr val="E9F3FC"/>
              </a:gs>
              <a:gs pos="0">
                <a:schemeClr val="bg1"/>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picture 80"/>
          <p:cNvPicPr>
            <a:picLocks noChangeAspect="1"/>
          </p:cNvPicPr>
          <p:nvPr/>
        </p:nvPicPr>
        <p:blipFill>
          <a:blip r:embed="rId1"/>
          <a:stretch>
            <a:fillRect/>
          </a:stretch>
        </p:blipFill>
        <p:spPr>
          <a:xfrm>
            <a:off x="9212985" y="408444"/>
            <a:ext cx="2674215" cy="220702"/>
          </a:xfrm>
          <a:prstGeom prst="rect">
            <a:avLst/>
          </a:prstGeom>
        </p:spPr>
      </p:pic>
      <p:sp>
        <p:nvSpPr>
          <p:cNvPr id="11" name="文本框 10"/>
          <p:cNvSpPr txBox="1"/>
          <p:nvPr/>
        </p:nvSpPr>
        <p:spPr>
          <a:xfrm>
            <a:off x="514350" y="303530"/>
            <a:ext cx="1391920" cy="430530"/>
          </a:xfrm>
          <a:prstGeom prst="rect">
            <a:avLst/>
          </a:prstGeom>
          <a:noFill/>
        </p:spPr>
        <p:txBody>
          <a:bodyPr wrap="none" rtlCol="0" anchor="t">
            <a:spAutoFit/>
          </a:bodyPr>
          <a:lstStyle/>
          <a:p>
            <a:pPr algn="l" eaLnBrk="0">
              <a:lnSpc>
                <a:spcPct val="96000"/>
              </a:lnSpc>
            </a:pPr>
            <a:r>
              <a:rPr lang="zh-CN" altLang="en-US" sz="2300" b="1" kern="0" spc="80" dirty="0">
                <a:solidFill>
                  <a:srgbClr val="000000">
                    <a:alpha val="100000"/>
                  </a:srgbClr>
                </a:solidFill>
                <a:cs typeface="+mn-ea"/>
                <a:sym typeface="+mn-lt"/>
              </a:rPr>
              <a:t>基础链路</a:t>
            </a:r>
            <a:endParaRPr lang="zh-CN" altLang="en-US" sz="2300" b="1" kern="0" spc="80" dirty="0">
              <a:solidFill>
                <a:srgbClr val="000000">
                  <a:alpha val="100000"/>
                </a:srgbClr>
              </a:solidFill>
              <a:cs typeface="+mn-ea"/>
              <a:sym typeface="+mn-lt"/>
            </a:endParaRPr>
          </a:p>
        </p:txBody>
      </p:sp>
      <p:sp>
        <p:nvSpPr>
          <p:cNvPr id="14" name="任意多边形 62"/>
          <p:cNvSpPr/>
          <p:nvPr/>
        </p:nvSpPr>
        <p:spPr>
          <a:xfrm>
            <a:off x="304800" y="374015"/>
            <a:ext cx="205740" cy="289560"/>
          </a:xfrm>
          <a:custGeom>
            <a:avLst/>
            <a:gdLst/>
            <a:ahLst/>
            <a:cxnLst>
              <a:cxn ang="3">
                <a:pos x="hc" y="t"/>
              </a:cxn>
              <a:cxn ang="cd2">
                <a:pos x="l" y="vc"/>
              </a:cxn>
              <a:cxn ang="cd4">
                <a:pos x="hc" y="b"/>
              </a:cxn>
              <a:cxn ang="0">
                <a:pos x="r" y="vc"/>
              </a:cxn>
            </a:cxnLst>
            <a:rect l="l" t="t" r="r" b="b"/>
            <a:pathLst>
              <a:path w="324" h="456">
                <a:moveTo>
                  <a:pt x="82" y="0"/>
                </a:moveTo>
                <a:lnTo>
                  <a:pt x="324" y="0"/>
                </a:lnTo>
                <a:lnTo>
                  <a:pt x="324" y="456"/>
                </a:lnTo>
                <a:lnTo>
                  <a:pt x="82" y="456"/>
                </a:lnTo>
                <a:lnTo>
                  <a:pt x="82" y="0"/>
                </a:lnTo>
                <a:close/>
                <a:moveTo>
                  <a:pt x="0" y="0"/>
                </a:moveTo>
                <a:lnTo>
                  <a:pt x="37" y="0"/>
                </a:lnTo>
                <a:lnTo>
                  <a:pt x="37" y="456"/>
                </a:lnTo>
                <a:lnTo>
                  <a:pt x="0" y="456"/>
                </a:lnTo>
                <a:lnTo>
                  <a:pt x="0" y="0"/>
                </a:lnTo>
                <a:close/>
              </a:path>
            </a:pathLst>
          </a:custGeom>
          <a:solidFill>
            <a:srgbClr val="0070D8"/>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cs typeface="+mn-ea"/>
              <a:sym typeface="+mn-lt"/>
            </a:endParaRPr>
          </a:p>
        </p:txBody>
      </p:sp>
      <p:sp>
        <p:nvSpPr>
          <p:cNvPr id="19" name="矩形: 圆角 18"/>
          <p:cNvSpPr/>
          <p:nvPr/>
        </p:nvSpPr>
        <p:spPr>
          <a:xfrm>
            <a:off x="0" y="2832408"/>
            <a:ext cx="11736000" cy="72000"/>
          </a:xfrm>
          <a:prstGeom prst="roundRect">
            <a:avLst/>
          </a:prstGeom>
          <a:gradFill>
            <a:gsLst>
              <a:gs pos="0">
                <a:srgbClr val="0070D8">
                  <a:alpha val="0"/>
                </a:srgbClr>
              </a:gs>
              <a:gs pos="100000">
                <a:srgbClr val="0070D8"/>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等腰三角形 19"/>
          <p:cNvSpPr/>
          <p:nvPr/>
        </p:nvSpPr>
        <p:spPr>
          <a:xfrm>
            <a:off x="11727384" y="2650300"/>
            <a:ext cx="314597" cy="247649"/>
          </a:xfrm>
          <a:prstGeom prst="triangle">
            <a:avLst>
              <a:gd name="adj" fmla="val 0"/>
            </a:avLst>
          </a:prstGeom>
          <a:solidFill>
            <a:srgbClr val="0070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1384383" y="1433858"/>
            <a:ext cx="792000" cy="792000"/>
          </a:xfrm>
          <a:prstGeom prst="ellipse">
            <a:avLst/>
          </a:prstGeom>
          <a:solidFill>
            <a:srgbClr val="0070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4261461" y="1433858"/>
            <a:ext cx="792000" cy="792000"/>
          </a:xfrm>
          <a:prstGeom prst="ellipse">
            <a:avLst/>
          </a:prstGeom>
          <a:solidFill>
            <a:srgbClr val="0070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nvSpPr>
        <p:spPr>
          <a:xfrm>
            <a:off x="7138539" y="1433858"/>
            <a:ext cx="792000" cy="792000"/>
          </a:xfrm>
          <a:prstGeom prst="ellipse">
            <a:avLst/>
          </a:prstGeom>
          <a:solidFill>
            <a:srgbClr val="0070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nvSpPr>
        <p:spPr>
          <a:xfrm>
            <a:off x="1686099" y="2774124"/>
            <a:ext cx="188568" cy="188568"/>
          </a:xfrm>
          <a:prstGeom prst="ellipse">
            <a:avLst/>
          </a:prstGeom>
          <a:solidFill>
            <a:srgbClr val="0070D8"/>
          </a:solidFill>
          <a:ln w="317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a:off x="4563177" y="2774124"/>
            <a:ext cx="188568" cy="188568"/>
          </a:xfrm>
          <a:prstGeom prst="ellipse">
            <a:avLst/>
          </a:prstGeom>
          <a:solidFill>
            <a:srgbClr val="0070D8"/>
          </a:solidFill>
          <a:ln w="317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p:nvPr/>
        </p:nvSpPr>
        <p:spPr>
          <a:xfrm>
            <a:off x="7440255" y="2774124"/>
            <a:ext cx="188568" cy="188568"/>
          </a:xfrm>
          <a:prstGeom prst="ellipse">
            <a:avLst/>
          </a:prstGeom>
          <a:solidFill>
            <a:srgbClr val="0070D8"/>
          </a:solidFill>
          <a:ln w="317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圆角 28"/>
          <p:cNvSpPr/>
          <p:nvPr/>
        </p:nvSpPr>
        <p:spPr>
          <a:xfrm>
            <a:off x="1008689" y="3159125"/>
            <a:ext cx="1543388" cy="444499"/>
          </a:xfrm>
          <a:prstGeom prst="roundRect">
            <a:avLst>
              <a:gd name="adj" fmla="val 50000"/>
            </a:avLst>
          </a:prstGeom>
          <a:solidFill>
            <a:schemeClr val="bg1"/>
          </a:solidFill>
          <a:ln w="22225">
            <a:solidFill>
              <a:srgbClr val="0070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eaLnBrk="0">
              <a:lnSpc>
                <a:spcPct val="96000"/>
              </a:lnSpc>
            </a:pPr>
            <a:r>
              <a:rPr lang="en-US" altLang="zh-CN" sz="1400" b="1" kern="0" spc="80" dirty="0">
                <a:solidFill>
                  <a:srgbClr val="0070D8"/>
                </a:solidFill>
                <a:cs typeface="+mn-ea"/>
                <a:sym typeface="+mn-lt"/>
              </a:rPr>
              <a:t>   </a:t>
            </a:r>
            <a:r>
              <a:rPr lang="zh-CN" altLang="en-US" sz="1400" b="1" kern="0" spc="80" dirty="0">
                <a:solidFill>
                  <a:srgbClr val="0070D8"/>
                </a:solidFill>
                <a:cs typeface="+mn-ea"/>
                <a:sym typeface="+mn-lt"/>
              </a:rPr>
              <a:t>数据标准化</a:t>
            </a:r>
            <a:endParaRPr lang="zh-CN" altLang="en-US" sz="1400" b="1" dirty="0">
              <a:solidFill>
                <a:srgbClr val="0070D8"/>
              </a:solidFill>
            </a:endParaRPr>
          </a:p>
        </p:txBody>
      </p:sp>
      <p:sp>
        <p:nvSpPr>
          <p:cNvPr id="31" name="椭圆 30"/>
          <p:cNvSpPr/>
          <p:nvPr/>
        </p:nvSpPr>
        <p:spPr>
          <a:xfrm>
            <a:off x="10317333" y="2774124"/>
            <a:ext cx="188568" cy="188568"/>
          </a:xfrm>
          <a:prstGeom prst="ellipse">
            <a:avLst/>
          </a:prstGeom>
          <a:solidFill>
            <a:srgbClr val="0070D8"/>
          </a:solidFill>
          <a:ln w="317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圆角 37"/>
          <p:cNvSpPr/>
          <p:nvPr/>
        </p:nvSpPr>
        <p:spPr>
          <a:xfrm>
            <a:off x="3885767" y="3149600"/>
            <a:ext cx="1543388" cy="444499"/>
          </a:xfrm>
          <a:prstGeom prst="roundRect">
            <a:avLst>
              <a:gd name="adj" fmla="val 50000"/>
            </a:avLst>
          </a:prstGeom>
          <a:solidFill>
            <a:schemeClr val="bg1"/>
          </a:solidFill>
          <a:ln w="22225">
            <a:solidFill>
              <a:srgbClr val="0070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kern="0" spc="80" dirty="0">
                <a:solidFill>
                  <a:srgbClr val="0070D8"/>
                </a:solidFill>
                <a:cs typeface="+mn-ea"/>
                <a:sym typeface="+mn-lt"/>
              </a:rPr>
              <a:t>专业规则配置</a:t>
            </a:r>
            <a:endParaRPr lang="zh-CN" altLang="en-US" sz="1400" b="1" dirty="0">
              <a:solidFill>
                <a:srgbClr val="0070D8"/>
              </a:solidFill>
            </a:endParaRPr>
          </a:p>
        </p:txBody>
      </p:sp>
      <p:sp>
        <p:nvSpPr>
          <p:cNvPr id="35" name="矩形: 圆角 39"/>
          <p:cNvSpPr/>
          <p:nvPr/>
        </p:nvSpPr>
        <p:spPr>
          <a:xfrm>
            <a:off x="6762845" y="3149600"/>
            <a:ext cx="1543388" cy="444499"/>
          </a:xfrm>
          <a:prstGeom prst="roundRect">
            <a:avLst>
              <a:gd name="adj" fmla="val 50000"/>
            </a:avLst>
          </a:prstGeom>
          <a:solidFill>
            <a:schemeClr val="bg1"/>
          </a:solidFill>
          <a:ln w="22225">
            <a:solidFill>
              <a:srgbClr val="0070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kern="0" spc="80" dirty="0">
                <a:solidFill>
                  <a:srgbClr val="0070D8"/>
                </a:solidFill>
                <a:cs typeface="+mn-ea"/>
                <a:sym typeface="+mn-lt"/>
              </a:rPr>
              <a:t>三维对象生成</a:t>
            </a:r>
            <a:endParaRPr lang="zh-CN" altLang="en-US" sz="1400" b="1" dirty="0">
              <a:solidFill>
                <a:srgbClr val="0070D8"/>
              </a:solidFill>
            </a:endParaRPr>
          </a:p>
        </p:txBody>
      </p:sp>
      <p:sp>
        <p:nvSpPr>
          <p:cNvPr id="55" name="文本框 54"/>
          <p:cNvSpPr txBox="1"/>
          <p:nvPr/>
        </p:nvSpPr>
        <p:spPr>
          <a:xfrm>
            <a:off x="799465" y="4041140"/>
            <a:ext cx="1961515" cy="1363980"/>
          </a:xfrm>
          <a:prstGeom prst="rect">
            <a:avLst/>
          </a:prstGeom>
          <a:noFill/>
        </p:spPr>
        <p:txBody>
          <a:bodyPr wrap="square" lIns="0" tIns="0" rIns="0" bIns="72000" rtlCol="0" anchor="t">
            <a:spAutoFit/>
          </a:bodyPr>
          <a:lstStyle/>
          <a:p>
            <a:pPr indent="0" eaLnBrk="0">
              <a:lnSpc>
                <a:spcPct val="150000"/>
              </a:lnSpc>
              <a:buSzPct val="60000"/>
              <a:buFont typeface="Wingdings" panose="05000000000000000000" pitchFamily="2" charset="2"/>
              <a:buNone/>
            </a:pPr>
            <a:r>
              <a:rPr lang="zh-CN" altLang="en-US" sz="1400" kern="0" spc="80" dirty="0">
                <a:cs typeface="+mn-ea"/>
                <a:sym typeface="+mn-lt"/>
              </a:rPr>
              <a:t>接入</a:t>
            </a:r>
            <a:r>
              <a:rPr lang="en-US" altLang="zh-CN" sz="1400" kern="0" spc="80" dirty="0">
                <a:cs typeface="+mn-ea"/>
                <a:sym typeface="+mn-lt"/>
              </a:rPr>
              <a:t>GIS、CAD、</a:t>
            </a:r>
            <a:r>
              <a:rPr lang="zh-CN" altLang="en-US" sz="1400" kern="0" spc="80" dirty="0">
                <a:cs typeface="+mn-ea"/>
                <a:sym typeface="+mn-lt"/>
              </a:rPr>
              <a:t>业务表、基础属性等数据，统一坐标、分类、编码和属性字段。</a:t>
            </a:r>
            <a:endParaRPr lang="zh-CN" altLang="en-US" sz="1400" kern="0" spc="80" dirty="0">
              <a:cs typeface="+mn-ea"/>
              <a:sym typeface="+mn-lt"/>
            </a:endParaRPr>
          </a:p>
        </p:txBody>
      </p:sp>
      <p:sp>
        <p:nvSpPr>
          <p:cNvPr id="56" name="文本框 55"/>
          <p:cNvSpPr txBox="1"/>
          <p:nvPr/>
        </p:nvSpPr>
        <p:spPr>
          <a:xfrm>
            <a:off x="3850005" y="3845560"/>
            <a:ext cx="1958340" cy="394335"/>
          </a:xfrm>
          <a:prstGeom prst="rect">
            <a:avLst/>
          </a:prstGeom>
          <a:noFill/>
        </p:spPr>
        <p:txBody>
          <a:bodyPr wrap="square" lIns="0" tIns="0" rIns="0" bIns="72000" rtlCol="0" anchor="t">
            <a:spAutoFit/>
          </a:bodyPr>
          <a:lstStyle/>
          <a:p>
            <a:pPr indent="0" eaLnBrk="0">
              <a:lnSpc>
                <a:spcPct val="150000"/>
              </a:lnSpc>
              <a:buSzPct val="60000"/>
              <a:buFont typeface="Wingdings" panose="05000000000000000000" pitchFamily="2" charset="2"/>
              <a:buNone/>
            </a:pPr>
            <a:r>
              <a:rPr lang="zh-CN" altLang="en-US" sz="1400" kern="0" spc="80" dirty="0">
                <a:cs typeface="+mn-ea"/>
                <a:sym typeface="+mn-lt"/>
              </a:rPr>
              <a:t>断面规则、构件类型</a:t>
            </a:r>
            <a:endParaRPr lang="zh-CN" altLang="en-US" sz="1400" kern="0" spc="80" dirty="0">
              <a:cs typeface="+mn-ea"/>
              <a:sym typeface="+mn-lt"/>
            </a:endParaRPr>
          </a:p>
        </p:txBody>
      </p:sp>
      <p:sp>
        <p:nvSpPr>
          <p:cNvPr id="57" name="文本框 56"/>
          <p:cNvSpPr txBox="1"/>
          <p:nvPr/>
        </p:nvSpPr>
        <p:spPr>
          <a:xfrm>
            <a:off x="6383482" y="3845750"/>
            <a:ext cx="2302115" cy="717550"/>
          </a:xfrm>
          <a:prstGeom prst="rect">
            <a:avLst/>
          </a:prstGeom>
          <a:noFill/>
        </p:spPr>
        <p:txBody>
          <a:bodyPr wrap="square" lIns="0" tIns="0" rIns="0" bIns="72000" rtlCol="0" anchor="t">
            <a:spAutoFit/>
          </a:bodyPr>
          <a:lstStyle/>
          <a:p>
            <a:pPr indent="0" eaLnBrk="0">
              <a:lnSpc>
                <a:spcPct val="150000"/>
              </a:lnSpc>
              <a:buSzPct val="60000"/>
              <a:buFont typeface="Wingdings" panose="05000000000000000000" pitchFamily="2" charset="2"/>
              <a:buNone/>
            </a:pPr>
            <a:r>
              <a:rPr lang="zh-CN" altLang="en-US" sz="1400" kern="0" spc="80" dirty="0">
                <a:cs typeface="+mn-ea"/>
                <a:sym typeface="+mn-lt"/>
              </a:rPr>
              <a:t>形成</a:t>
            </a:r>
            <a:r>
              <a:rPr lang="zh-CN" altLang="en-US" sz="1400" kern="0" spc="80" dirty="0">
                <a:cs typeface="+mn-ea"/>
                <a:sym typeface="+mn-lt"/>
              </a:rPr>
              <a:t>公共道路、地下管线、地铁区间隧道等三维对象。 </a:t>
            </a:r>
            <a:endParaRPr lang="zh-CN" altLang="en-US" sz="1400" kern="0" spc="80" dirty="0">
              <a:cs typeface="+mn-ea"/>
              <a:sym typeface="+mn-lt"/>
            </a:endParaRPr>
          </a:p>
        </p:txBody>
      </p:sp>
      <p:sp>
        <p:nvSpPr>
          <p:cNvPr id="58" name="椭圆 57"/>
          <p:cNvSpPr/>
          <p:nvPr/>
        </p:nvSpPr>
        <p:spPr>
          <a:xfrm>
            <a:off x="10015617" y="1433858"/>
            <a:ext cx="792000" cy="792000"/>
          </a:xfrm>
          <a:prstGeom prst="ellipse">
            <a:avLst/>
          </a:prstGeom>
          <a:solidFill>
            <a:srgbClr val="0070D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矩形: 圆角 57"/>
          <p:cNvSpPr/>
          <p:nvPr/>
        </p:nvSpPr>
        <p:spPr>
          <a:xfrm>
            <a:off x="9639923" y="3149600"/>
            <a:ext cx="1543388" cy="444499"/>
          </a:xfrm>
          <a:prstGeom prst="roundRect">
            <a:avLst>
              <a:gd name="adj" fmla="val 50000"/>
            </a:avLst>
          </a:prstGeom>
          <a:solidFill>
            <a:schemeClr val="bg1"/>
          </a:solidFill>
          <a:ln w="22225">
            <a:solidFill>
              <a:srgbClr val="0070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400" b="1" kern="0" spc="80" dirty="0">
                <a:solidFill>
                  <a:srgbClr val="0070D8"/>
                </a:solidFill>
                <a:cs typeface="+mn-ea"/>
                <a:sym typeface="+mn-lt"/>
              </a:rPr>
              <a:t>语义关系对应</a:t>
            </a:r>
            <a:endParaRPr lang="zh-CN" altLang="en-US" sz="1400" b="1" dirty="0">
              <a:solidFill>
                <a:srgbClr val="0070D8"/>
              </a:solidFill>
            </a:endParaRPr>
          </a:p>
        </p:txBody>
      </p:sp>
      <p:sp>
        <p:nvSpPr>
          <p:cNvPr id="61" name="文本框 60"/>
          <p:cNvSpPr txBox="1"/>
          <p:nvPr/>
        </p:nvSpPr>
        <p:spPr>
          <a:xfrm>
            <a:off x="9260560" y="3845750"/>
            <a:ext cx="2302115" cy="717550"/>
          </a:xfrm>
          <a:prstGeom prst="rect">
            <a:avLst/>
          </a:prstGeom>
          <a:noFill/>
        </p:spPr>
        <p:txBody>
          <a:bodyPr wrap="square" lIns="0" tIns="0" rIns="0" bIns="72000" rtlCol="0" anchor="t">
            <a:spAutoFit/>
          </a:bodyPr>
          <a:lstStyle/>
          <a:p>
            <a:pPr indent="0" eaLnBrk="0">
              <a:lnSpc>
                <a:spcPct val="150000"/>
              </a:lnSpc>
              <a:buSzPct val="60000"/>
              <a:buFont typeface="Wingdings" panose="05000000000000000000" pitchFamily="2" charset="2"/>
              <a:buNone/>
            </a:pPr>
            <a:r>
              <a:rPr lang="zh-CN" altLang="en-US" sz="1400" kern="0" spc="80" dirty="0">
                <a:cs typeface="+mn-ea"/>
                <a:sym typeface="+mn-lt"/>
              </a:rPr>
              <a:t>建立对象、属性、来源之间的关联。</a:t>
            </a:r>
            <a:endParaRPr lang="zh-CN" altLang="en-US" sz="1400" kern="0" spc="80" dirty="0">
              <a:cs typeface="+mn-ea"/>
              <a:sym typeface="+mn-lt"/>
            </a:endParaRPr>
          </a:p>
        </p:txBody>
      </p:sp>
      <p:sp>
        <p:nvSpPr>
          <p:cNvPr id="64" name="图形 62"/>
          <p:cNvSpPr/>
          <p:nvPr/>
        </p:nvSpPr>
        <p:spPr>
          <a:xfrm>
            <a:off x="1583546" y="1589757"/>
            <a:ext cx="394945" cy="480203"/>
          </a:xfrm>
          <a:custGeom>
            <a:avLst/>
            <a:gdLst>
              <a:gd name="connsiteX0" fmla="*/ 394945 w 394945"/>
              <a:gd name="connsiteY0" fmla="*/ 365777 h 480203"/>
              <a:gd name="connsiteX1" fmla="*/ 305185 w 394945"/>
              <a:gd name="connsiteY1" fmla="*/ 223883 h 480203"/>
              <a:gd name="connsiteX2" fmla="*/ 305185 w 394945"/>
              <a:gd name="connsiteY2" fmla="*/ 130892 h 480203"/>
              <a:gd name="connsiteX3" fmla="*/ 296712 w 394945"/>
              <a:gd name="connsiteY3" fmla="*/ 107770 h 480203"/>
              <a:gd name="connsiteX4" fmla="*/ 211224 w 394945"/>
              <a:gd name="connsiteY4" fmla="*/ 6412 h 480203"/>
              <a:gd name="connsiteX5" fmla="*/ 185932 w 394945"/>
              <a:gd name="connsiteY5" fmla="*/ 4201 h 480203"/>
              <a:gd name="connsiteX6" fmla="*/ 183721 w 394945"/>
              <a:gd name="connsiteY6" fmla="*/ 6412 h 480203"/>
              <a:gd name="connsiteX7" fmla="*/ 98234 w 394945"/>
              <a:gd name="connsiteY7" fmla="*/ 107770 h 480203"/>
              <a:gd name="connsiteX8" fmla="*/ 89760 w 394945"/>
              <a:gd name="connsiteY8" fmla="*/ 130892 h 480203"/>
              <a:gd name="connsiteX9" fmla="*/ 89760 w 394945"/>
              <a:gd name="connsiteY9" fmla="*/ 223883 h 480203"/>
              <a:gd name="connsiteX10" fmla="*/ 0 w 394945"/>
              <a:gd name="connsiteY10" fmla="*/ 365777 h 480203"/>
              <a:gd name="connsiteX11" fmla="*/ 87786 w 394945"/>
              <a:gd name="connsiteY11" fmla="*/ 365777 h 480203"/>
              <a:gd name="connsiteX12" fmla="*/ 85847 w 394945"/>
              <a:gd name="connsiteY12" fmla="*/ 379133 h 480203"/>
              <a:gd name="connsiteX13" fmla="*/ 122002 w 394945"/>
              <a:gd name="connsiteY13" fmla="*/ 430404 h 480203"/>
              <a:gd name="connsiteX14" fmla="*/ 197473 w 394945"/>
              <a:gd name="connsiteY14" fmla="*/ 480203 h 480203"/>
              <a:gd name="connsiteX15" fmla="*/ 243143 w 394945"/>
              <a:gd name="connsiteY15" fmla="*/ 466308 h 480203"/>
              <a:gd name="connsiteX16" fmla="*/ 272871 w 394945"/>
              <a:gd name="connsiteY16" fmla="*/ 430404 h 480203"/>
              <a:gd name="connsiteX17" fmla="*/ 309063 w 394945"/>
              <a:gd name="connsiteY17" fmla="*/ 379169 h 480203"/>
              <a:gd name="connsiteX18" fmla="*/ 307303 w 394945"/>
              <a:gd name="connsiteY18" fmla="*/ 365848 h 480203"/>
              <a:gd name="connsiteX19" fmla="*/ 394945 w 394945"/>
              <a:gd name="connsiteY19" fmla="*/ 365848 h 480203"/>
              <a:gd name="connsiteX20" fmla="*/ 394945 w 394945"/>
              <a:gd name="connsiteY20" fmla="*/ 365777 h 480203"/>
              <a:gd name="connsiteX21" fmla="*/ 337858 w 394945"/>
              <a:gd name="connsiteY21" fmla="*/ 301508 h 480203"/>
              <a:gd name="connsiteX22" fmla="*/ 350496 w 394945"/>
              <a:gd name="connsiteY22" fmla="*/ 327610 h 480203"/>
              <a:gd name="connsiteX23" fmla="*/ 302923 w 394945"/>
              <a:gd name="connsiteY23" fmla="*/ 327610 h 480203"/>
              <a:gd name="connsiteX24" fmla="*/ 302923 w 394945"/>
              <a:gd name="connsiteY24" fmla="*/ 266322 h 480203"/>
              <a:gd name="connsiteX25" fmla="*/ 337894 w 394945"/>
              <a:gd name="connsiteY25" fmla="*/ 301508 h 480203"/>
              <a:gd name="connsiteX26" fmla="*/ 127926 w 394945"/>
              <a:gd name="connsiteY26" fmla="*/ 223848 h 480203"/>
              <a:gd name="connsiteX27" fmla="*/ 127926 w 394945"/>
              <a:gd name="connsiteY27" fmla="*/ 131718 h 480203"/>
              <a:gd name="connsiteX28" fmla="*/ 197473 w 394945"/>
              <a:gd name="connsiteY28" fmla="*/ 49246 h 480203"/>
              <a:gd name="connsiteX29" fmla="*/ 267055 w 394945"/>
              <a:gd name="connsiteY29" fmla="*/ 131718 h 480203"/>
              <a:gd name="connsiteX30" fmla="*/ 267055 w 394945"/>
              <a:gd name="connsiteY30" fmla="*/ 327646 h 480203"/>
              <a:gd name="connsiteX31" fmla="*/ 127890 w 394945"/>
              <a:gd name="connsiteY31" fmla="*/ 327646 h 480203"/>
              <a:gd name="connsiteX32" fmla="*/ 127890 w 394945"/>
              <a:gd name="connsiteY32" fmla="*/ 223883 h 480203"/>
              <a:gd name="connsiteX33" fmla="*/ 44449 w 394945"/>
              <a:gd name="connsiteY33" fmla="*/ 327610 h 480203"/>
              <a:gd name="connsiteX34" fmla="*/ 92022 w 394945"/>
              <a:gd name="connsiteY34" fmla="*/ 266322 h 480203"/>
              <a:gd name="connsiteX35" fmla="*/ 92022 w 394945"/>
              <a:gd name="connsiteY35" fmla="*/ 327610 h 480203"/>
              <a:gd name="connsiteX36" fmla="*/ 44413 w 394945"/>
              <a:gd name="connsiteY36" fmla="*/ 327610 h 480203"/>
              <a:gd name="connsiteX37" fmla="*/ 262639 w 394945"/>
              <a:gd name="connsiteY37" fmla="*/ 392776 h 480203"/>
              <a:gd name="connsiteX38" fmla="*/ 253052 w 394945"/>
              <a:gd name="connsiteY38" fmla="*/ 394679 h 480203"/>
              <a:gd name="connsiteX39" fmla="*/ 242102 w 394945"/>
              <a:gd name="connsiteY39" fmla="*/ 393351 h 480203"/>
              <a:gd name="connsiteX40" fmla="*/ 240522 w 394945"/>
              <a:gd name="connsiteY40" fmla="*/ 404230 h 480203"/>
              <a:gd name="connsiteX41" fmla="*/ 197509 w 394945"/>
              <a:gd name="connsiteY41" fmla="*/ 441534 h 480203"/>
              <a:gd name="connsiteX42" fmla="*/ 154495 w 394945"/>
              <a:gd name="connsiteY42" fmla="*/ 404194 h 480203"/>
              <a:gd name="connsiteX43" fmla="*/ 152916 w 394945"/>
              <a:gd name="connsiteY43" fmla="*/ 393279 h 480203"/>
              <a:gd name="connsiteX44" fmla="*/ 141965 w 394945"/>
              <a:gd name="connsiteY44" fmla="*/ 394715 h 480203"/>
              <a:gd name="connsiteX45" fmla="*/ 132379 w 394945"/>
              <a:gd name="connsiteY45" fmla="*/ 392741 h 480203"/>
              <a:gd name="connsiteX46" fmla="*/ 124480 w 394945"/>
              <a:gd name="connsiteY46" fmla="*/ 379025 h 480203"/>
              <a:gd name="connsiteX47" fmla="*/ 132666 w 394945"/>
              <a:gd name="connsiteY47" fmla="*/ 365669 h 480203"/>
              <a:gd name="connsiteX48" fmla="*/ 262423 w 394945"/>
              <a:gd name="connsiteY48" fmla="*/ 365669 h 480203"/>
              <a:gd name="connsiteX49" fmla="*/ 270609 w 394945"/>
              <a:gd name="connsiteY49" fmla="*/ 379025 h 480203"/>
              <a:gd name="connsiteX50" fmla="*/ 262639 w 394945"/>
              <a:gd name="connsiteY50" fmla="*/ 392776 h 480203"/>
              <a:gd name="connsiteX51" fmla="*/ 170545 w 394945"/>
              <a:gd name="connsiteY51" fmla="*/ 177280 h 480203"/>
              <a:gd name="connsiteX52" fmla="*/ 197473 w 394945"/>
              <a:gd name="connsiteY52" fmla="*/ 204208 h 480203"/>
              <a:gd name="connsiteX53" fmla="*/ 224401 w 394945"/>
              <a:gd name="connsiteY53" fmla="*/ 177280 h 480203"/>
              <a:gd name="connsiteX54" fmla="*/ 197473 w 394945"/>
              <a:gd name="connsiteY54" fmla="*/ 150352 h 480203"/>
              <a:gd name="connsiteX55" fmla="*/ 170545 w 394945"/>
              <a:gd name="connsiteY55" fmla="*/ 177280 h 480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394945" h="480203">
                <a:moveTo>
                  <a:pt x="394945" y="365777"/>
                </a:moveTo>
                <a:cubicBezTo>
                  <a:pt x="394951" y="305110"/>
                  <a:pt x="360006" y="249868"/>
                  <a:pt x="305185" y="223883"/>
                </a:cubicBezTo>
                <a:lnTo>
                  <a:pt x="305185" y="130892"/>
                </a:lnTo>
                <a:cubicBezTo>
                  <a:pt x="305203" y="122422"/>
                  <a:pt x="302198" y="114223"/>
                  <a:pt x="296712" y="107770"/>
                </a:cubicBezTo>
                <a:lnTo>
                  <a:pt x="211224" y="6412"/>
                </a:lnTo>
                <a:cubicBezTo>
                  <a:pt x="204850" y="-1182"/>
                  <a:pt x="193527" y="-2172"/>
                  <a:pt x="185932" y="4201"/>
                </a:cubicBezTo>
                <a:cubicBezTo>
                  <a:pt x="185132" y="4872"/>
                  <a:pt x="184393" y="5612"/>
                  <a:pt x="183721" y="6412"/>
                </a:cubicBezTo>
                <a:lnTo>
                  <a:pt x="98234" y="107770"/>
                </a:lnTo>
                <a:cubicBezTo>
                  <a:pt x="92772" y="114237"/>
                  <a:pt x="89770" y="122426"/>
                  <a:pt x="89760" y="130892"/>
                </a:cubicBezTo>
                <a:lnTo>
                  <a:pt x="89760" y="223883"/>
                </a:lnTo>
                <a:cubicBezTo>
                  <a:pt x="34940" y="249868"/>
                  <a:pt x="-6" y="305110"/>
                  <a:pt x="0" y="365777"/>
                </a:cubicBezTo>
                <a:lnTo>
                  <a:pt x="87786" y="365777"/>
                </a:lnTo>
                <a:cubicBezTo>
                  <a:pt x="86446" y="370100"/>
                  <a:pt x="85792" y="374607"/>
                  <a:pt x="85847" y="379133"/>
                </a:cubicBezTo>
                <a:cubicBezTo>
                  <a:pt x="85857" y="402145"/>
                  <a:pt x="100330" y="422668"/>
                  <a:pt x="122002" y="430404"/>
                </a:cubicBezTo>
                <a:cubicBezTo>
                  <a:pt x="134863" y="460664"/>
                  <a:pt x="164593" y="480282"/>
                  <a:pt x="197473" y="480203"/>
                </a:cubicBezTo>
                <a:cubicBezTo>
                  <a:pt x="213809" y="480203"/>
                  <a:pt x="229607" y="475392"/>
                  <a:pt x="243143" y="466308"/>
                </a:cubicBezTo>
                <a:cubicBezTo>
                  <a:pt x="256391" y="457440"/>
                  <a:pt x="266660" y="445053"/>
                  <a:pt x="272871" y="430404"/>
                </a:cubicBezTo>
                <a:cubicBezTo>
                  <a:pt x="294552" y="422693"/>
                  <a:pt x="309042" y="402181"/>
                  <a:pt x="309063" y="379169"/>
                </a:cubicBezTo>
                <a:cubicBezTo>
                  <a:pt x="309063" y="374501"/>
                  <a:pt x="308452" y="369977"/>
                  <a:pt x="307303" y="365848"/>
                </a:cubicBezTo>
                <a:lnTo>
                  <a:pt x="394945" y="365848"/>
                </a:lnTo>
                <a:lnTo>
                  <a:pt x="394945" y="365777"/>
                </a:lnTo>
                <a:close/>
                <a:moveTo>
                  <a:pt x="337858" y="301508"/>
                </a:moveTo>
                <a:cubicBezTo>
                  <a:pt x="343172" y="309658"/>
                  <a:pt x="347444" y="318491"/>
                  <a:pt x="350496" y="327610"/>
                </a:cubicBezTo>
                <a:lnTo>
                  <a:pt x="302923" y="327610"/>
                </a:lnTo>
                <a:lnTo>
                  <a:pt x="302923" y="266322"/>
                </a:lnTo>
                <a:cubicBezTo>
                  <a:pt x="316854" y="275406"/>
                  <a:pt x="328774" y="287362"/>
                  <a:pt x="337894" y="301508"/>
                </a:cubicBezTo>
                <a:close/>
                <a:moveTo>
                  <a:pt x="127926" y="223848"/>
                </a:moveTo>
                <a:lnTo>
                  <a:pt x="127926" y="131718"/>
                </a:lnTo>
                <a:lnTo>
                  <a:pt x="197473" y="49246"/>
                </a:lnTo>
                <a:lnTo>
                  <a:pt x="267055" y="131718"/>
                </a:lnTo>
                <a:lnTo>
                  <a:pt x="267055" y="327646"/>
                </a:lnTo>
                <a:lnTo>
                  <a:pt x="127890" y="327646"/>
                </a:lnTo>
                <a:lnTo>
                  <a:pt x="127890" y="223883"/>
                </a:lnTo>
                <a:close/>
                <a:moveTo>
                  <a:pt x="44449" y="327610"/>
                </a:moveTo>
                <a:cubicBezTo>
                  <a:pt x="53041" y="302454"/>
                  <a:pt x="69783" y="280885"/>
                  <a:pt x="92022" y="266322"/>
                </a:cubicBezTo>
                <a:lnTo>
                  <a:pt x="92022" y="327610"/>
                </a:lnTo>
                <a:lnTo>
                  <a:pt x="44413" y="327610"/>
                </a:lnTo>
                <a:close/>
                <a:moveTo>
                  <a:pt x="262639" y="392776"/>
                </a:moveTo>
                <a:cubicBezTo>
                  <a:pt x="259742" y="394455"/>
                  <a:pt x="256370" y="395124"/>
                  <a:pt x="253052" y="394679"/>
                </a:cubicBezTo>
                <a:lnTo>
                  <a:pt x="242102" y="393351"/>
                </a:lnTo>
                <a:lnTo>
                  <a:pt x="240522" y="404230"/>
                </a:lnTo>
                <a:cubicBezTo>
                  <a:pt x="237506" y="425485"/>
                  <a:pt x="218979" y="441534"/>
                  <a:pt x="197509" y="441534"/>
                </a:cubicBezTo>
                <a:cubicBezTo>
                  <a:pt x="175908" y="441442"/>
                  <a:pt x="157622" y="425568"/>
                  <a:pt x="154495" y="404194"/>
                </a:cubicBezTo>
                <a:lnTo>
                  <a:pt x="152916" y="393279"/>
                </a:lnTo>
                <a:lnTo>
                  <a:pt x="141965" y="394715"/>
                </a:lnTo>
                <a:cubicBezTo>
                  <a:pt x="138640" y="395106"/>
                  <a:pt x="135278" y="394414"/>
                  <a:pt x="132379" y="392741"/>
                </a:cubicBezTo>
                <a:cubicBezTo>
                  <a:pt x="127480" y="389913"/>
                  <a:pt x="124467" y="384681"/>
                  <a:pt x="124480" y="379025"/>
                </a:cubicBezTo>
                <a:cubicBezTo>
                  <a:pt x="124480" y="373101"/>
                  <a:pt x="127783" y="368146"/>
                  <a:pt x="132666" y="365669"/>
                </a:cubicBezTo>
                <a:lnTo>
                  <a:pt x="262423" y="365669"/>
                </a:lnTo>
                <a:cubicBezTo>
                  <a:pt x="267342" y="368182"/>
                  <a:pt x="270609" y="373137"/>
                  <a:pt x="270609" y="379025"/>
                </a:cubicBezTo>
                <a:cubicBezTo>
                  <a:pt x="270598" y="384703"/>
                  <a:pt x="267560" y="389944"/>
                  <a:pt x="262639" y="392776"/>
                </a:cubicBezTo>
                <a:close/>
                <a:moveTo>
                  <a:pt x="170545" y="177280"/>
                </a:moveTo>
                <a:cubicBezTo>
                  <a:pt x="170545" y="192152"/>
                  <a:pt x="182601" y="204208"/>
                  <a:pt x="197473" y="204208"/>
                </a:cubicBezTo>
                <a:cubicBezTo>
                  <a:pt x="212345" y="204208"/>
                  <a:pt x="224401" y="192152"/>
                  <a:pt x="224401" y="177280"/>
                </a:cubicBezTo>
                <a:cubicBezTo>
                  <a:pt x="224401" y="162408"/>
                  <a:pt x="212345" y="150352"/>
                  <a:pt x="197473" y="150352"/>
                </a:cubicBezTo>
                <a:cubicBezTo>
                  <a:pt x="182601" y="150352"/>
                  <a:pt x="170545" y="162408"/>
                  <a:pt x="170545" y="177280"/>
                </a:cubicBezTo>
                <a:close/>
              </a:path>
            </a:pathLst>
          </a:custGeom>
          <a:solidFill>
            <a:schemeClr val="bg1"/>
          </a:solidFill>
          <a:ln w="558" cap="flat">
            <a:noFill/>
            <a:prstDash val="solid"/>
            <a:miter/>
          </a:ln>
        </p:spPr>
        <p:txBody>
          <a:bodyPr rtlCol="0" anchor="ctr"/>
          <a:lstStyle/>
          <a:p>
            <a:endParaRPr lang="zh-CN" altLang="en-US"/>
          </a:p>
        </p:txBody>
      </p:sp>
      <p:sp>
        <p:nvSpPr>
          <p:cNvPr id="65" name="图形 62"/>
          <p:cNvSpPr/>
          <p:nvPr/>
        </p:nvSpPr>
        <p:spPr>
          <a:xfrm>
            <a:off x="4459989" y="1589757"/>
            <a:ext cx="394945" cy="480203"/>
          </a:xfrm>
          <a:custGeom>
            <a:avLst/>
            <a:gdLst>
              <a:gd name="connsiteX0" fmla="*/ 394945 w 394945"/>
              <a:gd name="connsiteY0" fmla="*/ 365777 h 480203"/>
              <a:gd name="connsiteX1" fmla="*/ 305185 w 394945"/>
              <a:gd name="connsiteY1" fmla="*/ 223883 h 480203"/>
              <a:gd name="connsiteX2" fmla="*/ 305185 w 394945"/>
              <a:gd name="connsiteY2" fmla="*/ 130892 h 480203"/>
              <a:gd name="connsiteX3" fmla="*/ 296712 w 394945"/>
              <a:gd name="connsiteY3" fmla="*/ 107770 h 480203"/>
              <a:gd name="connsiteX4" fmla="*/ 211224 w 394945"/>
              <a:gd name="connsiteY4" fmla="*/ 6412 h 480203"/>
              <a:gd name="connsiteX5" fmla="*/ 185932 w 394945"/>
              <a:gd name="connsiteY5" fmla="*/ 4201 h 480203"/>
              <a:gd name="connsiteX6" fmla="*/ 183721 w 394945"/>
              <a:gd name="connsiteY6" fmla="*/ 6412 h 480203"/>
              <a:gd name="connsiteX7" fmla="*/ 98234 w 394945"/>
              <a:gd name="connsiteY7" fmla="*/ 107770 h 480203"/>
              <a:gd name="connsiteX8" fmla="*/ 89760 w 394945"/>
              <a:gd name="connsiteY8" fmla="*/ 130892 h 480203"/>
              <a:gd name="connsiteX9" fmla="*/ 89760 w 394945"/>
              <a:gd name="connsiteY9" fmla="*/ 223883 h 480203"/>
              <a:gd name="connsiteX10" fmla="*/ 0 w 394945"/>
              <a:gd name="connsiteY10" fmla="*/ 365777 h 480203"/>
              <a:gd name="connsiteX11" fmla="*/ 87786 w 394945"/>
              <a:gd name="connsiteY11" fmla="*/ 365777 h 480203"/>
              <a:gd name="connsiteX12" fmla="*/ 85847 w 394945"/>
              <a:gd name="connsiteY12" fmla="*/ 379133 h 480203"/>
              <a:gd name="connsiteX13" fmla="*/ 122002 w 394945"/>
              <a:gd name="connsiteY13" fmla="*/ 430404 h 480203"/>
              <a:gd name="connsiteX14" fmla="*/ 197473 w 394945"/>
              <a:gd name="connsiteY14" fmla="*/ 480203 h 480203"/>
              <a:gd name="connsiteX15" fmla="*/ 243143 w 394945"/>
              <a:gd name="connsiteY15" fmla="*/ 466308 h 480203"/>
              <a:gd name="connsiteX16" fmla="*/ 272871 w 394945"/>
              <a:gd name="connsiteY16" fmla="*/ 430404 h 480203"/>
              <a:gd name="connsiteX17" fmla="*/ 309063 w 394945"/>
              <a:gd name="connsiteY17" fmla="*/ 379169 h 480203"/>
              <a:gd name="connsiteX18" fmla="*/ 307303 w 394945"/>
              <a:gd name="connsiteY18" fmla="*/ 365848 h 480203"/>
              <a:gd name="connsiteX19" fmla="*/ 394945 w 394945"/>
              <a:gd name="connsiteY19" fmla="*/ 365848 h 480203"/>
              <a:gd name="connsiteX20" fmla="*/ 394945 w 394945"/>
              <a:gd name="connsiteY20" fmla="*/ 365777 h 480203"/>
              <a:gd name="connsiteX21" fmla="*/ 337858 w 394945"/>
              <a:gd name="connsiteY21" fmla="*/ 301508 h 480203"/>
              <a:gd name="connsiteX22" fmla="*/ 350496 w 394945"/>
              <a:gd name="connsiteY22" fmla="*/ 327610 h 480203"/>
              <a:gd name="connsiteX23" fmla="*/ 302923 w 394945"/>
              <a:gd name="connsiteY23" fmla="*/ 327610 h 480203"/>
              <a:gd name="connsiteX24" fmla="*/ 302923 w 394945"/>
              <a:gd name="connsiteY24" fmla="*/ 266322 h 480203"/>
              <a:gd name="connsiteX25" fmla="*/ 337894 w 394945"/>
              <a:gd name="connsiteY25" fmla="*/ 301508 h 480203"/>
              <a:gd name="connsiteX26" fmla="*/ 127926 w 394945"/>
              <a:gd name="connsiteY26" fmla="*/ 223848 h 480203"/>
              <a:gd name="connsiteX27" fmla="*/ 127926 w 394945"/>
              <a:gd name="connsiteY27" fmla="*/ 131718 h 480203"/>
              <a:gd name="connsiteX28" fmla="*/ 197473 w 394945"/>
              <a:gd name="connsiteY28" fmla="*/ 49246 h 480203"/>
              <a:gd name="connsiteX29" fmla="*/ 267055 w 394945"/>
              <a:gd name="connsiteY29" fmla="*/ 131718 h 480203"/>
              <a:gd name="connsiteX30" fmla="*/ 267055 w 394945"/>
              <a:gd name="connsiteY30" fmla="*/ 327646 h 480203"/>
              <a:gd name="connsiteX31" fmla="*/ 127890 w 394945"/>
              <a:gd name="connsiteY31" fmla="*/ 327646 h 480203"/>
              <a:gd name="connsiteX32" fmla="*/ 127890 w 394945"/>
              <a:gd name="connsiteY32" fmla="*/ 223883 h 480203"/>
              <a:gd name="connsiteX33" fmla="*/ 44449 w 394945"/>
              <a:gd name="connsiteY33" fmla="*/ 327610 h 480203"/>
              <a:gd name="connsiteX34" fmla="*/ 92022 w 394945"/>
              <a:gd name="connsiteY34" fmla="*/ 266322 h 480203"/>
              <a:gd name="connsiteX35" fmla="*/ 92022 w 394945"/>
              <a:gd name="connsiteY35" fmla="*/ 327610 h 480203"/>
              <a:gd name="connsiteX36" fmla="*/ 44413 w 394945"/>
              <a:gd name="connsiteY36" fmla="*/ 327610 h 480203"/>
              <a:gd name="connsiteX37" fmla="*/ 262639 w 394945"/>
              <a:gd name="connsiteY37" fmla="*/ 392776 h 480203"/>
              <a:gd name="connsiteX38" fmla="*/ 253052 w 394945"/>
              <a:gd name="connsiteY38" fmla="*/ 394679 h 480203"/>
              <a:gd name="connsiteX39" fmla="*/ 242102 w 394945"/>
              <a:gd name="connsiteY39" fmla="*/ 393351 h 480203"/>
              <a:gd name="connsiteX40" fmla="*/ 240522 w 394945"/>
              <a:gd name="connsiteY40" fmla="*/ 404230 h 480203"/>
              <a:gd name="connsiteX41" fmla="*/ 197509 w 394945"/>
              <a:gd name="connsiteY41" fmla="*/ 441534 h 480203"/>
              <a:gd name="connsiteX42" fmla="*/ 154495 w 394945"/>
              <a:gd name="connsiteY42" fmla="*/ 404194 h 480203"/>
              <a:gd name="connsiteX43" fmla="*/ 152916 w 394945"/>
              <a:gd name="connsiteY43" fmla="*/ 393279 h 480203"/>
              <a:gd name="connsiteX44" fmla="*/ 141965 w 394945"/>
              <a:gd name="connsiteY44" fmla="*/ 394715 h 480203"/>
              <a:gd name="connsiteX45" fmla="*/ 132379 w 394945"/>
              <a:gd name="connsiteY45" fmla="*/ 392741 h 480203"/>
              <a:gd name="connsiteX46" fmla="*/ 124480 w 394945"/>
              <a:gd name="connsiteY46" fmla="*/ 379025 h 480203"/>
              <a:gd name="connsiteX47" fmla="*/ 132666 w 394945"/>
              <a:gd name="connsiteY47" fmla="*/ 365669 h 480203"/>
              <a:gd name="connsiteX48" fmla="*/ 262423 w 394945"/>
              <a:gd name="connsiteY48" fmla="*/ 365669 h 480203"/>
              <a:gd name="connsiteX49" fmla="*/ 270609 w 394945"/>
              <a:gd name="connsiteY49" fmla="*/ 379025 h 480203"/>
              <a:gd name="connsiteX50" fmla="*/ 262639 w 394945"/>
              <a:gd name="connsiteY50" fmla="*/ 392776 h 480203"/>
              <a:gd name="connsiteX51" fmla="*/ 170545 w 394945"/>
              <a:gd name="connsiteY51" fmla="*/ 177280 h 480203"/>
              <a:gd name="connsiteX52" fmla="*/ 197473 w 394945"/>
              <a:gd name="connsiteY52" fmla="*/ 204208 h 480203"/>
              <a:gd name="connsiteX53" fmla="*/ 224401 w 394945"/>
              <a:gd name="connsiteY53" fmla="*/ 177280 h 480203"/>
              <a:gd name="connsiteX54" fmla="*/ 197473 w 394945"/>
              <a:gd name="connsiteY54" fmla="*/ 150352 h 480203"/>
              <a:gd name="connsiteX55" fmla="*/ 170545 w 394945"/>
              <a:gd name="connsiteY55" fmla="*/ 177280 h 480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394945" h="480203">
                <a:moveTo>
                  <a:pt x="394945" y="365777"/>
                </a:moveTo>
                <a:cubicBezTo>
                  <a:pt x="394951" y="305110"/>
                  <a:pt x="360006" y="249868"/>
                  <a:pt x="305185" y="223883"/>
                </a:cubicBezTo>
                <a:lnTo>
                  <a:pt x="305185" y="130892"/>
                </a:lnTo>
                <a:cubicBezTo>
                  <a:pt x="305203" y="122422"/>
                  <a:pt x="302198" y="114223"/>
                  <a:pt x="296712" y="107770"/>
                </a:cubicBezTo>
                <a:lnTo>
                  <a:pt x="211224" y="6412"/>
                </a:lnTo>
                <a:cubicBezTo>
                  <a:pt x="204850" y="-1182"/>
                  <a:pt x="193527" y="-2172"/>
                  <a:pt x="185932" y="4201"/>
                </a:cubicBezTo>
                <a:cubicBezTo>
                  <a:pt x="185132" y="4872"/>
                  <a:pt x="184393" y="5612"/>
                  <a:pt x="183721" y="6412"/>
                </a:cubicBezTo>
                <a:lnTo>
                  <a:pt x="98234" y="107770"/>
                </a:lnTo>
                <a:cubicBezTo>
                  <a:pt x="92772" y="114237"/>
                  <a:pt x="89770" y="122426"/>
                  <a:pt x="89760" y="130892"/>
                </a:cubicBezTo>
                <a:lnTo>
                  <a:pt x="89760" y="223883"/>
                </a:lnTo>
                <a:cubicBezTo>
                  <a:pt x="34940" y="249868"/>
                  <a:pt x="-6" y="305110"/>
                  <a:pt x="0" y="365777"/>
                </a:cubicBezTo>
                <a:lnTo>
                  <a:pt x="87786" y="365777"/>
                </a:lnTo>
                <a:cubicBezTo>
                  <a:pt x="86446" y="370100"/>
                  <a:pt x="85792" y="374607"/>
                  <a:pt x="85847" y="379133"/>
                </a:cubicBezTo>
                <a:cubicBezTo>
                  <a:pt x="85857" y="402145"/>
                  <a:pt x="100330" y="422668"/>
                  <a:pt x="122002" y="430404"/>
                </a:cubicBezTo>
                <a:cubicBezTo>
                  <a:pt x="134863" y="460664"/>
                  <a:pt x="164593" y="480282"/>
                  <a:pt x="197473" y="480203"/>
                </a:cubicBezTo>
                <a:cubicBezTo>
                  <a:pt x="213809" y="480203"/>
                  <a:pt x="229607" y="475392"/>
                  <a:pt x="243143" y="466308"/>
                </a:cubicBezTo>
                <a:cubicBezTo>
                  <a:pt x="256391" y="457440"/>
                  <a:pt x="266660" y="445053"/>
                  <a:pt x="272871" y="430404"/>
                </a:cubicBezTo>
                <a:cubicBezTo>
                  <a:pt x="294552" y="422693"/>
                  <a:pt x="309042" y="402181"/>
                  <a:pt x="309063" y="379169"/>
                </a:cubicBezTo>
                <a:cubicBezTo>
                  <a:pt x="309063" y="374501"/>
                  <a:pt x="308452" y="369977"/>
                  <a:pt x="307303" y="365848"/>
                </a:cubicBezTo>
                <a:lnTo>
                  <a:pt x="394945" y="365848"/>
                </a:lnTo>
                <a:lnTo>
                  <a:pt x="394945" y="365777"/>
                </a:lnTo>
                <a:close/>
                <a:moveTo>
                  <a:pt x="337858" y="301508"/>
                </a:moveTo>
                <a:cubicBezTo>
                  <a:pt x="343172" y="309658"/>
                  <a:pt x="347444" y="318491"/>
                  <a:pt x="350496" y="327610"/>
                </a:cubicBezTo>
                <a:lnTo>
                  <a:pt x="302923" y="327610"/>
                </a:lnTo>
                <a:lnTo>
                  <a:pt x="302923" y="266322"/>
                </a:lnTo>
                <a:cubicBezTo>
                  <a:pt x="316854" y="275406"/>
                  <a:pt x="328774" y="287362"/>
                  <a:pt x="337894" y="301508"/>
                </a:cubicBezTo>
                <a:close/>
                <a:moveTo>
                  <a:pt x="127926" y="223848"/>
                </a:moveTo>
                <a:lnTo>
                  <a:pt x="127926" y="131718"/>
                </a:lnTo>
                <a:lnTo>
                  <a:pt x="197473" y="49246"/>
                </a:lnTo>
                <a:lnTo>
                  <a:pt x="267055" y="131718"/>
                </a:lnTo>
                <a:lnTo>
                  <a:pt x="267055" y="327646"/>
                </a:lnTo>
                <a:lnTo>
                  <a:pt x="127890" y="327646"/>
                </a:lnTo>
                <a:lnTo>
                  <a:pt x="127890" y="223883"/>
                </a:lnTo>
                <a:close/>
                <a:moveTo>
                  <a:pt x="44449" y="327610"/>
                </a:moveTo>
                <a:cubicBezTo>
                  <a:pt x="53041" y="302454"/>
                  <a:pt x="69783" y="280885"/>
                  <a:pt x="92022" y="266322"/>
                </a:cubicBezTo>
                <a:lnTo>
                  <a:pt x="92022" y="327610"/>
                </a:lnTo>
                <a:lnTo>
                  <a:pt x="44413" y="327610"/>
                </a:lnTo>
                <a:close/>
                <a:moveTo>
                  <a:pt x="262639" y="392776"/>
                </a:moveTo>
                <a:cubicBezTo>
                  <a:pt x="259742" y="394455"/>
                  <a:pt x="256370" y="395124"/>
                  <a:pt x="253052" y="394679"/>
                </a:cubicBezTo>
                <a:lnTo>
                  <a:pt x="242102" y="393351"/>
                </a:lnTo>
                <a:lnTo>
                  <a:pt x="240522" y="404230"/>
                </a:lnTo>
                <a:cubicBezTo>
                  <a:pt x="237506" y="425485"/>
                  <a:pt x="218979" y="441534"/>
                  <a:pt x="197509" y="441534"/>
                </a:cubicBezTo>
                <a:cubicBezTo>
                  <a:pt x="175908" y="441442"/>
                  <a:pt x="157622" y="425568"/>
                  <a:pt x="154495" y="404194"/>
                </a:cubicBezTo>
                <a:lnTo>
                  <a:pt x="152916" y="393279"/>
                </a:lnTo>
                <a:lnTo>
                  <a:pt x="141965" y="394715"/>
                </a:lnTo>
                <a:cubicBezTo>
                  <a:pt x="138640" y="395106"/>
                  <a:pt x="135278" y="394414"/>
                  <a:pt x="132379" y="392741"/>
                </a:cubicBezTo>
                <a:cubicBezTo>
                  <a:pt x="127480" y="389913"/>
                  <a:pt x="124467" y="384681"/>
                  <a:pt x="124480" y="379025"/>
                </a:cubicBezTo>
                <a:cubicBezTo>
                  <a:pt x="124480" y="373101"/>
                  <a:pt x="127783" y="368146"/>
                  <a:pt x="132666" y="365669"/>
                </a:cubicBezTo>
                <a:lnTo>
                  <a:pt x="262423" y="365669"/>
                </a:lnTo>
                <a:cubicBezTo>
                  <a:pt x="267342" y="368182"/>
                  <a:pt x="270609" y="373137"/>
                  <a:pt x="270609" y="379025"/>
                </a:cubicBezTo>
                <a:cubicBezTo>
                  <a:pt x="270598" y="384703"/>
                  <a:pt x="267560" y="389944"/>
                  <a:pt x="262639" y="392776"/>
                </a:cubicBezTo>
                <a:close/>
                <a:moveTo>
                  <a:pt x="170545" y="177280"/>
                </a:moveTo>
                <a:cubicBezTo>
                  <a:pt x="170545" y="192152"/>
                  <a:pt x="182601" y="204208"/>
                  <a:pt x="197473" y="204208"/>
                </a:cubicBezTo>
                <a:cubicBezTo>
                  <a:pt x="212345" y="204208"/>
                  <a:pt x="224401" y="192152"/>
                  <a:pt x="224401" y="177280"/>
                </a:cubicBezTo>
                <a:cubicBezTo>
                  <a:pt x="224401" y="162408"/>
                  <a:pt x="212345" y="150352"/>
                  <a:pt x="197473" y="150352"/>
                </a:cubicBezTo>
                <a:cubicBezTo>
                  <a:pt x="182601" y="150352"/>
                  <a:pt x="170545" y="162408"/>
                  <a:pt x="170545" y="177280"/>
                </a:cubicBezTo>
                <a:close/>
              </a:path>
            </a:pathLst>
          </a:custGeom>
          <a:solidFill>
            <a:schemeClr val="bg1"/>
          </a:solidFill>
          <a:ln w="558" cap="flat">
            <a:noFill/>
            <a:prstDash val="solid"/>
            <a:miter/>
          </a:ln>
        </p:spPr>
        <p:txBody>
          <a:bodyPr rtlCol="0" anchor="ctr"/>
          <a:lstStyle/>
          <a:p>
            <a:endParaRPr lang="zh-CN" altLang="en-US"/>
          </a:p>
        </p:txBody>
      </p:sp>
      <p:sp>
        <p:nvSpPr>
          <p:cNvPr id="67" name="图形 62"/>
          <p:cNvSpPr/>
          <p:nvPr/>
        </p:nvSpPr>
        <p:spPr>
          <a:xfrm>
            <a:off x="7337067" y="1589757"/>
            <a:ext cx="394945" cy="480203"/>
          </a:xfrm>
          <a:custGeom>
            <a:avLst/>
            <a:gdLst>
              <a:gd name="connsiteX0" fmla="*/ 394945 w 394945"/>
              <a:gd name="connsiteY0" fmla="*/ 365777 h 480203"/>
              <a:gd name="connsiteX1" fmla="*/ 305185 w 394945"/>
              <a:gd name="connsiteY1" fmla="*/ 223883 h 480203"/>
              <a:gd name="connsiteX2" fmla="*/ 305185 w 394945"/>
              <a:gd name="connsiteY2" fmla="*/ 130892 h 480203"/>
              <a:gd name="connsiteX3" fmla="*/ 296712 w 394945"/>
              <a:gd name="connsiteY3" fmla="*/ 107770 h 480203"/>
              <a:gd name="connsiteX4" fmla="*/ 211224 w 394945"/>
              <a:gd name="connsiteY4" fmla="*/ 6412 h 480203"/>
              <a:gd name="connsiteX5" fmla="*/ 185932 w 394945"/>
              <a:gd name="connsiteY5" fmla="*/ 4201 h 480203"/>
              <a:gd name="connsiteX6" fmla="*/ 183721 w 394945"/>
              <a:gd name="connsiteY6" fmla="*/ 6412 h 480203"/>
              <a:gd name="connsiteX7" fmla="*/ 98234 w 394945"/>
              <a:gd name="connsiteY7" fmla="*/ 107770 h 480203"/>
              <a:gd name="connsiteX8" fmla="*/ 89760 w 394945"/>
              <a:gd name="connsiteY8" fmla="*/ 130892 h 480203"/>
              <a:gd name="connsiteX9" fmla="*/ 89760 w 394945"/>
              <a:gd name="connsiteY9" fmla="*/ 223883 h 480203"/>
              <a:gd name="connsiteX10" fmla="*/ 0 w 394945"/>
              <a:gd name="connsiteY10" fmla="*/ 365777 h 480203"/>
              <a:gd name="connsiteX11" fmla="*/ 87786 w 394945"/>
              <a:gd name="connsiteY11" fmla="*/ 365777 h 480203"/>
              <a:gd name="connsiteX12" fmla="*/ 85847 w 394945"/>
              <a:gd name="connsiteY12" fmla="*/ 379133 h 480203"/>
              <a:gd name="connsiteX13" fmla="*/ 122002 w 394945"/>
              <a:gd name="connsiteY13" fmla="*/ 430404 h 480203"/>
              <a:gd name="connsiteX14" fmla="*/ 197473 w 394945"/>
              <a:gd name="connsiteY14" fmla="*/ 480203 h 480203"/>
              <a:gd name="connsiteX15" fmla="*/ 243143 w 394945"/>
              <a:gd name="connsiteY15" fmla="*/ 466308 h 480203"/>
              <a:gd name="connsiteX16" fmla="*/ 272871 w 394945"/>
              <a:gd name="connsiteY16" fmla="*/ 430404 h 480203"/>
              <a:gd name="connsiteX17" fmla="*/ 309063 w 394945"/>
              <a:gd name="connsiteY17" fmla="*/ 379169 h 480203"/>
              <a:gd name="connsiteX18" fmla="*/ 307303 w 394945"/>
              <a:gd name="connsiteY18" fmla="*/ 365848 h 480203"/>
              <a:gd name="connsiteX19" fmla="*/ 394945 w 394945"/>
              <a:gd name="connsiteY19" fmla="*/ 365848 h 480203"/>
              <a:gd name="connsiteX20" fmla="*/ 394945 w 394945"/>
              <a:gd name="connsiteY20" fmla="*/ 365777 h 480203"/>
              <a:gd name="connsiteX21" fmla="*/ 337858 w 394945"/>
              <a:gd name="connsiteY21" fmla="*/ 301508 h 480203"/>
              <a:gd name="connsiteX22" fmla="*/ 350496 w 394945"/>
              <a:gd name="connsiteY22" fmla="*/ 327610 h 480203"/>
              <a:gd name="connsiteX23" fmla="*/ 302923 w 394945"/>
              <a:gd name="connsiteY23" fmla="*/ 327610 h 480203"/>
              <a:gd name="connsiteX24" fmla="*/ 302923 w 394945"/>
              <a:gd name="connsiteY24" fmla="*/ 266322 h 480203"/>
              <a:gd name="connsiteX25" fmla="*/ 337894 w 394945"/>
              <a:gd name="connsiteY25" fmla="*/ 301508 h 480203"/>
              <a:gd name="connsiteX26" fmla="*/ 127926 w 394945"/>
              <a:gd name="connsiteY26" fmla="*/ 223848 h 480203"/>
              <a:gd name="connsiteX27" fmla="*/ 127926 w 394945"/>
              <a:gd name="connsiteY27" fmla="*/ 131718 h 480203"/>
              <a:gd name="connsiteX28" fmla="*/ 197473 w 394945"/>
              <a:gd name="connsiteY28" fmla="*/ 49246 h 480203"/>
              <a:gd name="connsiteX29" fmla="*/ 267055 w 394945"/>
              <a:gd name="connsiteY29" fmla="*/ 131718 h 480203"/>
              <a:gd name="connsiteX30" fmla="*/ 267055 w 394945"/>
              <a:gd name="connsiteY30" fmla="*/ 327646 h 480203"/>
              <a:gd name="connsiteX31" fmla="*/ 127890 w 394945"/>
              <a:gd name="connsiteY31" fmla="*/ 327646 h 480203"/>
              <a:gd name="connsiteX32" fmla="*/ 127890 w 394945"/>
              <a:gd name="connsiteY32" fmla="*/ 223883 h 480203"/>
              <a:gd name="connsiteX33" fmla="*/ 44449 w 394945"/>
              <a:gd name="connsiteY33" fmla="*/ 327610 h 480203"/>
              <a:gd name="connsiteX34" fmla="*/ 92022 w 394945"/>
              <a:gd name="connsiteY34" fmla="*/ 266322 h 480203"/>
              <a:gd name="connsiteX35" fmla="*/ 92022 w 394945"/>
              <a:gd name="connsiteY35" fmla="*/ 327610 h 480203"/>
              <a:gd name="connsiteX36" fmla="*/ 44413 w 394945"/>
              <a:gd name="connsiteY36" fmla="*/ 327610 h 480203"/>
              <a:gd name="connsiteX37" fmla="*/ 262639 w 394945"/>
              <a:gd name="connsiteY37" fmla="*/ 392776 h 480203"/>
              <a:gd name="connsiteX38" fmla="*/ 253052 w 394945"/>
              <a:gd name="connsiteY38" fmla="*/ 394679 h 480203"/>
              <a:gd name="connsiteX39" fmla="*/ 242102 w 394945"/>
              <a:gd name="connsiteY39" fmla="*/ 393351 h 480203"/>
              <a:gd name="connsiteX40" fmla="*/ 240522 w 394945"/>
              <a:gd name="connsiteY40" fmla="*/ 404230 h 480203"/>
              <a:gd name="connsiteX41" fmla="*/ 197509 w 394945"/>
              <a:gd name="connsiteY41" fmla="*/ 441534 h 480203"/>
              <a:gd name="connsiteX42" fmla="*/ 154495 w 394945"/>
              <a:gd name="connsiteY42" fmla="*/ 404194 h 480203"/>
              <a:gd name="connsiteX43" fmla="*/ 152916 w 394945"/>
              <a:gd name="connsiteY43" fmla="*/ 393279 h 480203"/>
              <a:gd name="connsiteX44" fmla="*/ 141965 w 394945"/>
              <a:gd name="connsiteY44" fmla="*/ 394715 h 480203"/>
              <a:gd name="connsiteX45" fmla="*/ 132379 w 394945"/>
              <a:gd name="connsiteY45" fmla="*/ 392741 h 480203"/>
              <a:gd name="connsiteX46" fmla="*/ 124480 w 394945"/>
              <a:gd name="connsiteY46" fmla="*/ 379025 h 480203"/>
              <a:gd name="connsiteX47" fmla="*/ 132666 w 394945"/>
              <a:gd name="connsiteY47" fmla="*/ 365669 h 480203"/>
              <a:gd name="connsiteX48" fmla="*/ 262423 w 394945"/>
              <a:gd name="connsiteY48" fmla="*/ 365669 h 480203"/>
              <a:gd name="connsiteX49" fmla="*/ 270609 w 394945"/>
              <a:gd name="connsiteY49" fmla="*/ 379025 h 480203"/>
              <a:gd name="connsiteX50" fmla="*/ 262639 w 394945"/>
              <a:gd name="connsiteY50" fmla="*/ 392776 h 480203"/>
              <a:gd name="connsiteX51" fmla="*/ 170545 w 394945"/>
              <a:gd name="connsiteY51" fmla="*/ 177280 h 480203"/>
              <a:gd name="connsiteX52" fmla="*/ 197473 w 394945"/>
              <a:gd name="connsiteY52" fmla="*/ 204208 h 480203"/>
              <a:gd name="connsiteX53" fmla="*/ 224401 w 394945"/>
              <a:gd name="connsiteY53" fmla="*/ 177280 h 480203"/>
              <a:gd name="connsiteX54" fmla="*/ 197473 w 394945"/>
              <a:gd name="connsiteY54" fmla="*/ 150352 h 480203"/>
              <a:gd name="connsiteX55" fmla="*/ 170545 w 394945"/>
              <a:gd name="connsiteY55" fmla="*/ 177280 h 480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394945" h="480203">
                <a:moveTo>
                  <a:pt x="394945" y="365777"/>
                </a:moveTo>
                <a:cubicBezTo>
                  <a:pt x="394951" y="305110"/>
                  <a:pt x="360006" y="249868"/>
                  <a:pt x="305185" y="223883"/>
                </a:cubicBezTo>
                <a:lnTo>
                  <a:pt x="305185" y="130892"/>
                </a:lnTo>
                <a:cubicBezTo>
                  <a:pt x="305203" y="122422"/>
                  <a:pt x="302198" y="114223"/>
                  <a:pt x="296712" y="107770"/>
                </a:cubicBezTo>
                <a:lnTo>
                  <a:pt x="211224" y="6412"/>
                </a:lnTo>
                <a:cubicBezTo>
                  <a:pt x="204850" y="-1182"/>
                  <a:pt x="193527" y="-2172"/>
                  <a:pt x="185932" y="4201"/>
                </a:cubicBezTo>
                <a:cubicBezTo>
                  <a:pt x="185132" y="4872"/>
                  <a:pt x="184393" y="5612"/>
                  <a:pt x="183721" y="6412"/>
                </a:cubicBezTo>
                <a:lnTo>
                  <a:pt x="98234" y="107770"/>
                </a:lnTo>
                <a:cubicBezTo>
                  <a:pt x="92772" y="114237"/>
                  <a:pt x="89770" y="122426"/>
                  <a:pt x="89760" y="130892"/>
                </a:cubicBezTo>
                <a:lnTo>
                  <a:pt x="89760" y="223883"/>
                </a:lnTo>
                <a:cubicBezTo>
                  <a:pt x="34940" y="249868"/>
                  <a:pt x="-6" y="305110"/>
                  <a:pt x="0" y="365777"/>
                </a:cubicBezTo>
                <a:lnTo>
                  <a:pt x="87786" y="365777"/>
                </a:lnTo>
                <a:cubicBezTo>
                  <a:pt x="86446" y="370100"/>
                  <a:pt x="85792" y="374607"/>
                  <a:pt x="85847" y="379133"/>
                </a:cubicBezTo>
                <a:cubicBezTo>
                  <a:pt x="85857" y="402145"/>
                  <a:pt x="100330" y="422668"/>
                  <a:pt x="122002" y="430404"/>
                </a:cubicBezTo>
                <a:cubicBezTo>
                  <a:pt x="134863" y="460664"/>
                  <a:pt x="164593" y="480282"/>
                  <a:pt x="197473" y="480203"/>
                </a:cubicBezTo>
                <a:cubicBezTo>
                  <a:pt x="213809" y="480203"/>
                  <a:pt x="229607" y="475392"/>
                  <a:pt x="243143" y="466308"/>
                </a:cubicBezTo>
                <a:cubicBezTo>
                  <a:pt x="256391" y="457440"/>
                  <a:pt x="266660" y="445053"/>
                  <a:pt x="272871" y="430404"/>
                </a:cubicBezTo>
                <a:cubicBezTo>
                  <a:pt x="294552" y="422693"/>
                  <a:pt x="309042" y="402181"/>
                  <a:pt x="309063" y="379169"/>
                </a:cubicBezTo>
                <a:cubicBezTo>
                  <a:pt x="309063" y="374501"/>
                  <a:pt x="308452" y="369977"/>
                  <a:pt x="307303" y="365848"/>
                </a:cubicBezTo>
                <a:lnTo>
                  <a:pt x="394945" y="365848"/>
                </a:lnTo>
                <a:lnTo>
                  <a:pt x="394945" y="365777"/>
                </a:lnTo>
                <a:close/>
                <a:moveTo>
                  <a:pt x="337858" y="301508"/>
                </a:moveTo>
                <a:cubicBezTo>
                  <a:pt x="343172" y="309658"/>
                  <a:pt x="347444" y="318491"/>
                  <a:pt x="350496" y="327610"/>
                </a:cubicBezTo>
                <a:lnTo>
                  <a:pt x="302923" y="327610"/>
                </a:lnTo>
                <a:lnTo>
                  <a:pt x="302923" y="266322"/>
                </a:lnTo>
                <a:cubicBezTo>
                  <a:pt x="316854" y="275406"/>
                  <a:pt x="328774" y="287362"/>
                  <a:pt x="337894" y="301508"/>
                </a:cubicBezTo>
                <a:close/>
                <a:moveTo>
                  <a:pt x="127926" y="223848"/>
                </a:moveTo>
                <a:lnTo>
                  <a:pt x="127926" y="131718"/>
                </a:lnTo>
                <a:lnTo>
                  <a:pt x="197473" y="49246"/>
                </a:lnTo>
                <a:lnTo>
                  <a:pt x="267055" y="131718"/>
                </a:lnTo>
                <a:lnTo>
                  <a:pt x="267055" y="327646"/>
                </a:lnTo>
                <a:lnTo>
                  <a:pt x="127890" y="327646"/>
                </a:lnTo>
                <a:lnTo>
                  <a:pt x="127890" y="223883"/>
                </a:lnTo>
                <a:close/>
                <a:moveTo>
                  <a:pt x="44449" y="327610"/>
                </a:moveTo>
                <a:cubicBezTo>
                  <a:pt x="53041" y="302454"/>
                  <a:pt x="69783" y="280885"/>
                  <a:pt x="92022" y="266322"/>
                </a:cubicBezTo>
                <a:lnTo>
                  <a:pt x="92022" y="327610"/>
                </a:lnTo>
                <a:lnTo>
                  <a:pt x="44413" y="327610"/>
                </a:lnTo>
                <a:close/>
                <a:moveTo>
                  <a:pt x="262639" y="392776"/>
                </a:moveTo>
                <a:cubicBezTo>
                  <a:pt x="259742" y="394455"/>
                  <a:pt x="256370" y="395124"/>
                  <a:pt x="253052" y="394679"/>
                </a:cubicBezTo>
                <a:lnTo>
                  <a:pt x="242102" y="393351"/>
                </a:lnTo>
                <a:lnTo>
                  <a:pt x="240522" y="404230"/>
                </a:lnTo>
                <a:cubicBezTo>
                  <a:pt x="237506" y="425485"/>
                  <a:pt x="218979" y="441534"/>
                  <a:pt x="197509" y="441534"/>
                </a:cubicBezTo>
                <a:cubicBezTo>
                  <a:pt x="175908" y="441442"/>
                  <a:pt x="157622" y="425568"/>
                  <a:pt x="154495" y="404194"/>
                </a:cubicBezTo>
                <a:lnTo>
                  <a:pt x="152916" y="393279"/>
                </a:lnTo>
                <a:lnTo>
                  <a:pt x="141965" y="394715"/>
                </a:lnTo>
                <a:cubicBezTo>
                  <a:pt x="138640" y="395106"/>
                  <a:pt x="135278" y="394414"/>
                  <a:pt x="132379" y="392741"/>
                </a:cubicBezTo>
                <a:cubicBezTo>
                  <a:pt x="127480" y="389913"/>
                  <a:pt x="124467" y="384681"/>
                  <a:pt x="124480" y="379025"/>
                </a:cubicBezTo>
                <a:cubicBezTo>
                  <a:pt x="124480" y="373101"/>
                  <a:pt x="127783" y="368146"/>
                  <a:pt x="132666" y="365669"/>
                </a:cubicBezTo>
                <a:lnTo>
                  <a:pt x="262423" y="365669"/>
                </a:lnTo>
                <a:cubicBezTo>
                  <a:pt x="267342" y="368182"/>
                  <a:pt x="270609" y="373137"/>
                  <a:pt x="270609" y="379025"/>
                </a:cubicBezTo>
                <a:cubicBezTo>
                  <a:pt x="270598" y="384703"/>
                  <a:pt x="267560" y="389944"/>
                  <a:pt x="262639" y="392776"/>
                </a:cubicBezTo>
                <a:close/>
                <a:moveTo>
                  <a:pt x="170545" y="177280"/>
                </a:moveTo>
                <a:cubicBezTo>
                  <a:pt x="170545" y="192152"/>
                  <a:pt x="182601" y="204208"/>
                  <a:pt x="197473" y="204208"/>
                </a:cubicBezTo>
                <a:cubicBezTo>
                  <a:pt x="212345" y="204208"/>
                  <a:pt x="224401" y="192152"/>
                  <a:pt x="224401" y="177280"/>
                </a:cubicBezTo>
                <a:cubicBezTo>
                  <a:pt x="224401" y="162408"/>
                  <a:pt x="212345" y="150352"/>
                  <a:pt x="197473" y="150352"/>
                </a:cubicBezTo>
                <a:cubicBezTo>
                  <a:pt x="182601" y="150352"/>
                  <a:pt x="170545" y="162408"/>
                  <a:pt x="170545" y="177280"/>
                </a:cubicBezTo>
                <a:close/>
              </a:path>
            </a:pathLst>
          </a:custGeom>
          <a:solidFill>
            <a:schemeClr val="bg1"/>
          </a:solidFill>
          <a:ln w="558" cap="flat">
            <a:noFill/>
            <a:prstDash val="solid"/>
            <a:miter/>
          </a:ln>
        </p:spPr>
        <p:txBody>
          <a:bodyPr rtlCol="0" anchor="ctr"/>
          <a:lstStyle/>
          <a:p>
            <a:endParaRPr lang="zh-CN" altLang="en-US"/>
          </a:p>
        </p:txBody>
      </p:sp>
      <p:sp>
        <p:nvSpPr>
          <p:cNvPr id="69" name="图形 62"/>
          <p:cNvSpPr/>
          <p:nvPr/>
        </p:nvSpPr>
        <p:spPr>
          <a:xfrm>
            <a:off x="10214145" y="1589757"/>
            <a:ext cx="394945" cy="480203"/>
          </a:xfrm>
          <a:custGeom>
            <a:avLst/>
            <a:gdLst>
              <a:gd name="connsiteX0" fmla="*/ 394945 w 394945"/>
              <a:gd name="connsiteY0" fmla="*/ 365777 h 480203"/>
              <a:gd name="connsiteX1" fmla="*/ 305185 w 394945"/>
              <a:gd name="connsiteY1" fmla="*/ 223883 h 480203"/>
              <a:gd name="connsiteX2" fmla="*/ 305185 w 394945"/>
              <a:gd name="connsiteY2" fmla="*/ 130892 h 480203"/>
              <a:gd name="connsiteX3" fmla="*/ 296712 w 394945"/>
              <a:gd name="connsiteY3" fmla="*/ 107770 h 480203"/>
              <a:gd name="connsiteX4" fmla="*/ 211224 w 394945"/>
              <a:gd name="connsiteY4" fmla="*/ 6412 h 480203"/>
              <a:gd name="connsiteX5" fmla="*/ 185932 w 394945"/>
              <a:gd name="connsiteY5" fmla="*/ 4201 h 480203"/>
              <a:gd name="connsiteX6" fmla="*/ 183721 w 394945"/>
              <a:gd name="connsiteY6" fmla="*/ 6412 h 480203"/>
              <a:gd name="connsiteX7" fmla="*/ 98234 w 394945"/>
              <a:gd name="connsiteY7" fmla="*/ 107770 h 480203"/>
              <a:gd name="connsiteX8" fmla="*/ 89760 w 394945"/>
              <a:gd name="connsiteY8" fmla="*/ 130892 h 480203"/>
              <a:gd name="connsiteX9" fmla="*/ 89760 w 394945"/>
              <a:gd name="connsiteY9" fmla="*/ 223883 h 480203"/>
              <a:gd name="connsiteX10" fmla="*/ 0 w 394945"/>
              <a:gd name="connsiteY10" fmla="*/ 365777 h 480203"/>
              <a:gd name="connsiteX11" fmla="*/ 87786 w 394945"/>
              <a:gd name="connsiteY11" fmla="*/ 365777 h 480203"/>
              <a:gd name="connsiteX12" fmla="*/ 85847 w 394945"/>
              <a:gd name="connsiteY12" fmla="*/ 379133 h 480203"/>
              <a:gd name="connsiteX13" fmla="*/ 122002 w 394945"/>
              <a:gd name="connsiteY13" fmla="*/ 430404 h 480203"/>
              <a:gd name="connsiteX14" fmla="*/ 197473 w 394945"/>
              <a:gd name="connsiteY14" fmla="*/ 480203 h 480203"/>
              <a:gd name="connsiteX15" fmla="*/ 243143 w 394945"/>
              <a:gd name="connsiteY15" fmla="*/ 466308 h 480203"/>
              <a:gd name="connsiteX16" fmla="*/ 272871 w 394945"/>
              <a:gd name="connsiteY16" fmla="*/ 430404 h 480203"/>
              <a:gd name="connsiteX17" fmla="*/ 309063 w 394945"/>
              <a:gd name="connsiteY17" fmla="*/ 379169 h 480203"/>
              <a:gd name="connsiteX18" fmla="*/ 307303 w 394945"/>
              <a:gd name="connsiteY18" fmla="*/ 365848 h 480203"/>
              <a:gd name="connsiteX19" fmla="*/ 394945 w 394945"/>
              <a:gd name="connsiteY19" fmla="*/ 365848 h 480203"/>
              <a:gd name="connsiteX20" fmla="*/ 394945 w 394945"/>
              <a:gd name="connsiteY20" fmla="*/ 365777 h 480203"/>
              <a:gd name="connsiteX21" fmla="*/ 337858 w 394945"/>
              <a:gd name="connsiteY21" fmla="*/ 301508 h 480203"/>
              <a:gd name="connsiteX22" fmla="*/ 350496 w 394945"/>
              <a:gd name="connsiteY22" fmla="*/ 327610 h 480203"/>
              <a:gd name="connsiteX23" fmla="*/ 302923 w 394945"/>
              <a:gd name="connsiteY23" fmla="*/ 327610 h 480203"/>
              <a:gd name="connsiteX24" fmla="*/ 302923 w 394945"/>
              <a:gd name="connsiteY24" fmla="*/ 266322 h 480203"/>
              <a:gd name="connsiteX25" fmla="*/ 337894 w 394945"/>
              <a:gd name="connsiteY25" fmla="*/ 301508 h 480203"/>
              <a:gd name="connsiteX26" fmla="*/ 127926 w 394945"/>
              <a:gd name="connsiteY26" fmla="*/ 223848 h 480203"/>
              <a:gd name="connsiteX27" fmla="*/ 127926 w 394945"/>
              <a:gd name="connsiteY27" fmla="*/ 131718 h 480203"/>
              <a:gd name="connsiteX28" fmla="*/ 197473 w 394945"/>
              <a:gd name="connsiteY28" fmla="*/ 49246 h 480203"/>
              <a:gd name="connsiteX29" fmla="*/ 267055 w 394945"/>
              <a:gd name="connsiteY29" fmla="*/ 131718 h 480203"/>
              <a:gd name="connsiteX30" fmla="*/ 267055 w 394945"/>
              <a:gd name="connsiteY30" fmla="*/ 327646 h 480203"/>
              <a:gd name="connsiteX31" fmla="*/ 127890 w 394945"/>
              <a:gd name="connsiteY31" fmla="*/ 327646 h 480203"/>
              <a:gd name="connsiteX32" fmla="*/ 127890 w 394945"/>
              <a:gd name="connsiteY32" fmla="*/ 223883 h 480203"/>
              <a:gd name="connsiteX33" fmla="*/ 44449 w 394945"/>
              <a:gd name="connsiteY33" fmla="*/ 327610 h 480203"/>
              <a:gd name="connsiteX34" fmla="*/ 92022 w 394945"/>
              <a:gd name="connsiteY34" fmla="*/ 266322 h 480203"/>
              <a:gd name="connsiteX35" fmla="*/ 92022 w 394945"/>
              <a:gd name="connsiteY35" fmla="*/ 327610 h 480203"/>
              <a:gd name="connsiteX36" fmla="*/ 44413 w 394945"/>
              <a:gd name="connsiteY36" fmla="*/ 327610 h 480203"/>
              <a:gd name="connsiteX37" fmla="*/ 262639 w 394945"/>
              <a:gd name="connsiteY37" fmla="*/ 392776 h 480203"/>
              <a:gd name="connsiteX38" fmla="*/ 253052 w 394945"/>
              <a:gd name="connsiteY38" fmla="*/ 394679 h 480203"/>
              <a:gd name="connsiteX39" fmla="*/ 242102 w 394945"/>
              <a:gd name="connsiteY39" fmla="*/ 393351 h 480203"/>
              <a:gd name="connsiteX40" fmla="*/ 240522 w 394945"/>
              <a:gd name="connsiteY40" fmla="*/ 404230 h 480203"/>
              <a:gd name="connsiteX41" fmla="*/ 197509 w 394945"/>
              <a:gd name="connsiteY41" fmla="*/ 441534 h 480203"/>
              <a:gd name="connsiteX42" fmla="*/ 154495 w 394945"/>
              <a:gd name="connsiteY42" fmla="*/ 404194 h 480203"/>
              <a:gd name="connsiteX43" fmla="*/ 152916 w 394945"/>
              <a:gd name="connsiteY43" fmla="*/ 393279 h 480203"/>
              <a:gd name="connsiteX44" fmla="*/ 141965 w 394945"/>
              <a:gd name="connsiteY44" fmla="*/ 394715 h 480203"/>
              <a:gd name="connsiteX45" fmla="*/ 132379 w 394945"/>
              <a:gd name="connsiteY45" fmla="*/ 392741 h 480203"/>
              <a:gd name="connsiteX46" fmla="*/ 124480 w 394945"/>
              <a:gd name="connsiteY46" fmla="*/ 379025 h 480203"/>
              <a:gd name="connsiteX47" fmla="*/ 132666 w 394945"/>
              <a:gd name="connsiteY47" fmla="*/ 365669 h 480203"/>
              <a:gd name="connsiteX48" fmla="*/ 262423 w 394945"/>
              <a:gd name="connsiteY48" fmla="*/ 365669 h 480203"/>
              <a:gd name="connsiteX49" fmla="*/ 270609 w 394945"/>
              <a:gd name="connsiteY49" fmla="*/ 379025 h 480203"/>
              <a:gd name="connsiteX50" fmla="*/ 262639 w 394945"/>
              <a:gd name="connsiteY50" fmla="*/ 392776 h 480203"/>
              <a:gd name="connsiteX51" fmla="*/ 170545 w 394945"/>
              <a:gd name="connsiteY51" fmla="*/ 177280 h 480203"/>
              <a:gd name="connsiteX52" fmla="*/ 197473 w 394945"/>
              <a:gd name="connsiteY52" fmla="*/ 204208 h 480203"/>
              <a:gd name="connsiteX53" fmla="*/ 224401 w 394945"/>
              <a:gd name="connsiteY53" fmla="*/ 177280 h 480203"/>
              <a:gd name="connsiteX54" fmla="*/ 197473 w 394945"/>
              <a:gd name="connsiteY54" fmla="*/ 150352 h 480203"/>
              <a:gd name="connsiteX55" fmla="*/ 170545 w 394945"/>
              <a:gd name="connsiteY55" fmla="*/ 177280 h 4802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394945" h="480203">
                <a:moveTo>
                  <a:pt x="394945" y="365777"/>
                </a:moveTo>
                <a:cubicBezTo>
                  <a:pt x="394951" y="305110"/>
                  <a:pt x="360006" y="249868"/>
                  <a:pt x="305185" y="223883"/>
                </a:cubicBezTo>
                <a:lnTo>
                  <a:pt x="305185" y="130892"/>
                </a:lnTo>
                <a:cubicBezTo>
                  <a:pt x="305203" y="122422"/>
                  <a:pt x="302198" y="114223"/>
                  <a:pt x="296712" y="107770"/>
                </a:cubicBezTo>
                <a:lnTo>
                  <a:pt x="211224" y="6412"/>
                </a:lnTo>
                <a:cubicBezTo>
                  <a:pt x="204850" y="-1182"/>
                  <a:pt x="193527" y="-2172"/>
                  <a:pt x="185932" y="4201"/>
                </a:cubicBezTo>
                <a:cubicBezTo>
                  <a:pt x="185132" y="4872"/>
                  <a:pt x="184393" y="5612"/>
                  <a:pt x="183721" y="6412"/>
                </a:cubicBezTo>
                <a:lnTo>
                  <a:pt x="98234" y="107770"/>
                </a:lnTo>
                <a:cubicBezTo>
                  <a:pt x="92772" y="114237"/>
                  <a:pt x="89770" y="122426"/>
                  <a:pt x="89760" y="130892"/>
                </a:cubicBezTo>
                <a:lnTo>
                  <a:pt x="89760" y="223883"/>
                </a:lnTo>
                <a:cubicBezTo>
                  <a:pt x="34940" y="249868"/>
                  <a:pt x="-6" y="305110"/>
                  <a:pt x="0" y="365777"/>
                </a:cubicBezTo>
                <a:lnTo>
                  <a:pt x="87786" y="365777"/>
                </a:lnTo>
                <a:cubicBezTo>
                  <a:pt x="86446" y="370100"/>
                  <a:pt x="85792" y="374607"/>
                  <a:pt x="85847" y="379133"/>
                </a:cubicBezTo>
                <a:cubicBezTo>
                  <a:pt x="85857" y="402145"/>
                  <a:pt x="100330" y="422668"/>
                  <a:pt x="122002" y="430404"/>
                </a:cubicBezTo>
                <a:cubicBezTo>
                  <a:pt x="134863" y="460664"/>
                  <a:pt x="164593" y="480282"/>
                  <a:pt x="197473" y="480203"/>
                </a:cubicBezTo>
                <a:cubicBezTo>
                  <a:pt x="213809" y="480203"/>
                  <a:pt x="229607" y="475392"/>
                  <a:pt x="243143" y="466308"/>
                </a:cubicBezTo>
                <a:cubicBezTo>
                  <a:pt x="256391" y="457440"/>
                  <a:pt x="266660" y="445053"/>
                  <a:pt x="272871" y="430404"/>
                </a:cubicBezTo>
                <a:cubicBezTo>
                  <a:pt x="294552" y="422693"/>
                  <a:pt x="309042" y="402181"/>
                  <a:pt x="309063" y="379169"/>
                </a:cubicBezTo>
                <a:cubicBezTo>
                  <a:pt x="309063" y="374501"/>
                  <a:pt x="308452" y="369977"/>
                  <a:pt x="307303" y="365848"/>
                </a:cubicBezTo>
                <a:lnTo>
                  <a:pt x="394945" y="365848"/>
                </a:lnTo>
                <a:lnTo>
                  <a:pt x="394945" y="365777"/>
                </a:lnTo>
                <a:close/>
                <a:moveTo>
                  <a:pt x="337858" y="301508"/>
                </a:moveTo>
                <a:cubicBezTo>
                  <a:pt x="343172" y="309658"/>
                  <a:pt x="347444" y="318491"/>
                  <a:pt x="350496" y="327610"/>
                </a:cubicBezTo>
                <a:lnTo>
                  <a:pt x="302923" y="327610"/>
                </a:lnTo>
                <a:lnTo>
                  <a:pt x="302923" y="266322"/>
                </a:lnTo>
                <a:cubicBezTo>
                  <a:pt x="316854" y="275406"/>
                  <a:pt x="328774" y="287362"/>
                  <a:pt x="337894" y="301508"/>
                </a:cubicBezTo>
                <a:close/>
                <a:moveTo>
                  <a:pt x="127926" y="223848"/>
                </a:moveTo>
                <a:lnTo>
                  <a:pt x="127926" y="131718"/>
                </a:lnTo>
                <a:lnTo>
                  <a:pt x="197473" y="49246"/>
                </a:lnTo>
                <a:lnTo>
                  <a:pt x="267055" y="131718"/>
                </a:lnTo>
                <a:lnTo>
                  <a:pt x="267055" y="327646"/>
                </a:lnTo>
                <a:lnTo>
                  <a:pt x="127890" y="327646"/>
                </a:lnTo>
                <a:lnTo>
                  <a:pt x="127890" y="223883"/>
                </a:lnTo>
                <a:close/>
                <a:moveTo>
                  <a:pt x="44449" y="327610"/>
                </a:moveTo>
                <a:cubicBezTo>
                  <a:pt x="53041" y="302454"/>
                  <a:pt x="69783" y="280885"/>
                  <a:pt x="92022" y="266322"/>
                </a:cubicBezTo>
                <a:lnTo>
                  <a:pt x="92022" y="327610"/>
                </a:lnTo>
                <a:lnTo>
                  <a:pt x="44413" y="327610"/>
                </a:lnTo>
                <a:close/>
                <a:moveTo>
                  <a:pt x="262639" y="392776"/>
                </a:moveTo>
                <a:cubicBezTo>
                  <a:pt x="259742" y="394455"/>
                  <a:pt x="256370" y="395124"/>
                  <a:pt x="253052" y="394679"/>
                </a:cubicBezTo>
                <a:lnTo>
                  <a:pt x="242102" y="393351"/>
                </a:lnTo>
                <a:lnTo>
                  <a:pt x="240522" y="404230"/>
                </a:lnTo>
                <a:cubicBezTo>
                  <a:pt x="237506" y="425485"/>
                  <a:pt x="218979" y="441534"/>
                  <a:pt x="197509" y="441534"/>
                </a:cubicBezTo>
                <a:cubicBezTo>
                  <a:pt x="175908" y="441442"/>
                  <a:pt x="157622" y="425568"/>
                  <a:pt x="154495" y="404194"/>
                </a:cubicBezTo>
                <a:lnTo>
                  <a:pt x="152916" y="393279"/>
                </a:lnTo>
                <a:lnTo>
                  <a:pt x="141965" y="394715"/>
                </a:lnTo>
                <a:cubicBezTo>
                  <a:pt x="138640" y="395106"/>
                  <a:pt x="135278" y="394414"/>
                  <a:pt x="132379" y="392741"/>
                </a:cubicBezTo>
                <a:cubicBezTo>
                  <a:pt x="127480" y="389913"/>
                  <a:pt x="124467" y="384681"/>
                  <a:pt x="124480" y="379025"/>
                </a:cubicBezTo>
                <a:cubicBezTo>
                  <a:pt x="124480" y="373101"/>
                  <a:pt x="127783" y="368146"/>
                  <a:pt x="132666" y="365669"/>
                </a:cubicBezTo>
                <a:lnTo>
                  <a:pt x="262423" y="365669"/>
                </a:lnTo>
                <a:cubicBezTo>
                  <a:pt x="267342" y="368182"/>
                  <a:pt x="270609" y="373137"/>
                  <a:pt x="270609" y="379025"/>
                </a:cubicBezTo>
                <a:cubicBezTo>
                  <a:pt x="270598" y="384703"/>
                  <a:pt x="267560" y="389944"/>
                  <a:pt x="262639" y="392776"/>
                </a:cubicBezTo>
                <a:close/>
                <a:moveTo>
                  <a:pt x="170545" y="177280"/>
                </a:moveTo>
                <a:cubicBezTo>
                  <a:pt x="170545" y="192152"/>
                  <a:pt x="182601" y="204208"/>
                  <a:pt x="197473" y="204208"/>
                </a:cubicBezTo>
                <a:cubicBezTo>
                  <a:pt x="212345" y="204208"/>
                  <a:pt x="224401" y="192152"/>
                  <a:pt x="224401" y="177280"/>
                </a:cubicBezTo>
                <a:cubicBezTo>
                  <a:pt x="224401" y="162408"/>
                  <a:pt x="212345" y="150352"/>
                  <a:pt x="197473" y="150352"/>
                </a:cubicBezTo>
                <a:cubicBezTo>
                  <a:pt x="182601" y="150352"/>
                  <a:pt x="170545" y="162408"/>
                  <a:pt x="170545" y="177280"/>
                </a:cubicBezTo>
                <a:close/>
              </a:path>
            </a:pathLst>
          </a:custGeom>
          <a:solidFill>
            <a:schemeClr val="bg1"/>
          </a:solidFill>
          <a:ln w="558" cap="flat">
            <a:noFill/>
            <a:prstDash val="solid"/>
            <a:miter/>
          </a:ln>
        </p:spPr>
        <p:txBody>
          <a:bodyPr rtlCol="0" anchor="ctr"/>
          <a:lstStyle/>
          <a:p>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97832" y="6209630"/>
            <a:ext cx="2724794" cy="270250"/>
          </a:xfrm>
          <a:prstGeom prst="rect">
            <a:avLst/>
          </a:prstGeom>
        </p:spPr>
      </p:pic>
      <p:sp>
        <p:nvSpPr>
          <p:cNvPr id="7" name="圆角矩形 4"/>
          <p:cNvSpPr/>
          <p:nvPr/>
        </p:nvSpPr>
        <p:spPr>
          <a:xfrm>
            <a:off x="0" y="0"/>
            <a:ext cx="3752850" cy="6905625"/>
          </a:xfrm>
          <a:prstGeom prst="roundRect">
            <a:avLst>
              <a:gd name="adj" fmla="val 0"/>
            </a:avLst>
          </a:prstGeom>
          <a:blipFill rotWithShape="1">
            <a:blip r:embed="rId2"/>
            <a:stretch>
              <a:fillRect/>
            </a:stretch>
          </a:blip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endParaRPr lang="zh-CN" altLang="en-US" sz="1050" dirty="0">
              <a:solidFill>
                <a:schemeClr val="tx1"/>
              </a:solidFill>
            </a:endParaRPr>
          </a:p>
        </p:txBody>
      </p:sp>
      <p:sp>
        <p:nvSpPr>
          <p:cNvPr id="9" name="图形"/>
          <p:cNvSpPr/>
          <p:nvPr/>
        </p:nvSpPr>
        <p:spPr>
          <a:xfrm>
            <a:off x="0" y="-22225"/>
            <a:ext cx="3752850" cy="6906260"/>
          </a:xfrm>
          <a:prstGeom prst="rect">
            <a:avLst/>
          </a:prstGeom>
          <a:gradFill rotWithShape="0">
            <a:gsLst>
              <a:gs pos="100000">
                <a:srgbClr val="2D66FE">
                  <a:alpha val="0"/>
                </a:srgbClr>
              </a:gs>
              <a:gs pos="0">
                <a:srgbClr val="6EDEF8">
                  <a:alpha val="85000"/>
                </a:srgbClr>
              </a:gs>
              <a:gs pos="100000">
                <a:srgbClr val="1217DE">
                  <a:alpha val="85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字魂58号-创中黑" panose="00000500000000000000" charset="-122"/>
            </a:endParaRPr>
          </a:p>
        </p:txBody>
      </p:sp>
      <p:sp>
        <p:nvSpPr>
          <p:cNvPr id="11" name="标题 2"/>
          <p:cNvSpPr txBox="1"/>
          <p:nvPr/>
        </p:nvSpPr>
        <p:spPr>
          <a:xfrm>
            <a:off x="581025" y="637540"/>
            <a:ext cx="2891155" cy="936625"/>
          </a:xfrm>
          <a:prstGeom prst="rect">
            <a:avLst/>
          </a:prstGeom>
        </p:spPr>
        <p:txBody>
          <a:bodyPr/>
          <a:lstStyle>
            <a:lvl1pPr algn="l" defTabSz="914400" rtl="0" eaLnBrk="1" latinLnBrk="0" hangingPunct="1">
              <a:lnSpc>
                <a:spcPct val="100000"/>
              </a:lnSpc>
              <a:spcBef>
                <a:spcPct val="0"/>
              </a:spcBef>
              <a:buNone/>
              <a:defRPr sz="5400" b="1" kern="1200">
                <a:solidFill>
                  <a:schemeClr val="bg1"/>
                </a:solidFill>
                <a:latin typeface="微软雅黑" panose="020B0503020204020204" charset="-122"/>
                <a:ea typeface="微软雅黑" panose="020B0503020204020204" charset="-122"/>
                <a:cs typeface="+mj-cs"/>
              </a:defRPr>
            </a:lvl1pPr>
          </a:lstStyle>
          <a:p>
            <a:r>
              <a:rPr lang="zh-CN" altLang="en-US"/>
              <a:t>目录</a:t>
            </a:r>
            <a:endParaRPr lang="en-US" altLang="zh-CN"/>
          </a:p>
        </p:txBody>
      </p:sp>
      <p:sp>
        <p:nvSpPr>
          <p:cNvPr id="12" name="标题 2"/>
          <p:cNvSpPr>
            <a:spLocks noGrp="1"/>
          </p:cNvSpPr>
          <p:nvPr/>
        </p:nvSpPr>
        <p:spPr>
          <a:xfrm>
            <a:off x="581025" y="1609090"/>
            <a:ext cx="3328670" cy="908685"/>
          </a:xfrm>
        </p:spPr>
        <p:txBody>
          <a:bodyPr/>
          <a:lstStyle>
            <a:lvl1pPr>
              <a:lnSpc>
                <a:spcPct val="100000"/>
              </a:lnSpc>
              <a:defRPr sz="4000" b="1">
                <a:solidFill>
                  <a:srgbClr val="0070D8"/>
                </a:solidFill>
                <a:latin typeface="微软雅黑" panose="020B0503020204020204" charset="-122"/>
                <a:ea typeface="微软雅黑" panose="020B0503020204020204" charset="-122"/>
              </a:defRPr>
            </a:lvl1pPr>
          </a:lstStyle>
          <a:p>
            <a:r>
              <a:rPr lang="en-US" altLang="zh-CN" sz="2800">
                <a:solidFill>
                  <a:schemeClr val="bg1"/>
                </a:solidFill>
              </a:rPr>
              <a:t>CONTENTS</a:t>
            </a:r>
            <a:endParaRPr lang="en-US" altLang="zh-CN" sz="2800">
              <a:solidFill>
                <a:schemeClr val="bg1"/>
              </a:solidFill>
            </a:endParaRPr>
          </a:p>
        </p:txBody>
      </p:sp>
      <p:pic>
        <p:nvPicPr>
          <p:cNvPr id="13" name="图片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5140" y="6209665"/>
            <a:ext cx="2725200" cy="270578"/>
          </a:xfrm>
          <a:prstGeom prst="rect">
            <a:avLst/>
          </a:prstGeom>
        </p:spPr>
      </p:pic>
      <p:grpSp>
        <p:nvGrpSpPr>
          <p:cNvPr id="83" name="组合 82"/>
          <p:cNvGrpSpPr/>
          <p:nvPr>
            <p:custDataLst>
              <p:tags r:id="rId4"/>
            </p:custDataLst>
          </p:nvPr>
        </p:nvGrpSpPr>
        <p:grpSpPr>
          <a:xfrm>
            <a:off x="4209320" y="1438852"/>
            <a:ext cx="7244309" cy="3980296"/>
            <a:chOff x="4142645" y="1775604"/>
            <a:chExt cx="7244309" cy="3980296"/>
          </a:xfrm>
        </p:grpSpPr>
        <p:sp>
          <p:nvSpPr>
            <p:cNvPr id="19" name="矩形: 圆角 18"/>
            <p:cNvSpPr/>
            <p:nvPr>
              <p:custDataLst>
                <p:tags r:id="rId5"/>
              </p:custDataLst>
            </p:nvPr>
          </p:nvSpPr>
          <p:spPr>
            <a:xfrm>
              <a:off x="4142645" y="1775604"/>
              <a:ext cx="3420000" cy="1800000"/>
            </a:xfrm>
            <a:prstGeom prst="roundRect">
              <a:avLst>
                <a:gd name="adj" fmla="val 0"/>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占位符 43"/>
            <p:cNvSpPr txBox="1"/>
            <p:nvPr>
              <p:custDataLst>
                <p:tags r:id="rId6"/>
              </p:custDataLst>
            </p:nvPr>
          </p:nvSpPr>
          <p:spPr>
            <a:xfrm>
              <a:off x="4403781" y="2717359"/>
              <a:ext cx="18288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tx1"/>
                  </a:solidFill>
                  <a:sym typeface="+mn-ea"/>
                </a:rPr>
                <a:t>目前工作基础</a:t>
              </a:r>
              <a:endParaRPr lang="zh-CN" altLang="en-US" sz="2400" b="1" dirty="0">
                <a:solidFill>
                  <a:schemeClr val="tx1"/>
                </a:solidFill>
                <a:sym typeface="+mn-ea"/>
              </a:endParaRPr>
            </a:p>
          </p:txBody>
        </p:sp>
        <p:sp>
          <p:nvSpPr>
            <p:cNvPr id="8" name="文本占位符 43"/>
            <p:cNvSpPr txBox="1"/>
            <p:nvPr>
              <p:custDataLst>
                <p:tags r:id="rId7"/>
              </p:custDataLst>
            </p:nvPr>
          </p:nvSpPr>
          <p:spPr>
            <a:xfrm>
              <a:off x="4403781" y="1934471"/>
              <a:ext cx="514564"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tx1">
                      <a:alpha val="20000"/>
                    </a:schemeClr>
                  </a:solidFill>
                  <a:latin typeface="MiSans" pitchFamily="2" charset="-122"/>
                  <a:ea typeface="MiSans" pitchFamily="2" charset="-122"/>
                  <a:cs typeface="MiSans" pitchFamily="2" charset="-122"/>
                </a:rPr>
                <a:t>01</a:t>
              </a:r>
              <a:endParaRPr lang="zh-CN" altLang="en-US" sz="3400" b="1" dirty="0">
                <a:solidFill>
                  <a:schemeClr val="tx1">
                    <a:alpha val="20000"/>
                  </a:schemeClr>
                </a:solidFill>
                <a:latin typeface="MiSans" pitchFamily="2" charset="-122"/>
                <a:ea typeface="MiSans" pitchFamily="2" charset="-122"/>
                <a:cs typeface="MiSans" pitchFamily="2" charset="-122"/>
              </a:endParaRPr>
            </a:p>
          </p:txBody>
        </p:sp>
        <p:grpSp>
          <p:nvGrpSpPr>
            <p:cNvPr id="27" name="组合 26"/>
            <p:cNvGrpSpPr/>
            <p:nvPr/>
          </p:nvGrpSpPr>
          <p:grpSpPr>
            <a:xfrm rot="5400000">
              <a:off x="7191746" y="2155900"/>
              <a:ext cx="317922" cy="80362"/>
              <a:chOff x="9893117" y="424718"/>
              <a:chExt cx="704849" cy="178167"/>
            </a:xfrm>
            <a:solidFill>
              <a:srgbClr val="2E5BEA"/>
            </a:solidFill>
          </p:grpSpPr>
          <p:sp>
            <p:nvSpPr>
              <p:cNvPr id="28" name="椭圆 27"/>
              <p:cNvSpPr/>
              <p:nvPr>
                <p:custDataLst>
                  <p:tags r:id="rId8"/>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p:nvPr>
                <p:custDataLst>
                  <p:tags r:id="rId9"/>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custDataLst>
                  <p:tags r:id="rId10"/>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3" name="矩形: 圆角 42"/>
            <p:cNvSpPr/>
            <p:nvPr>
              <p:custDataLst>
                <p:tags r:id="rId11"/>
              </p:custDataLst>
            </p:nvPr>
          </p:nvSpPr>
          <p:spPr>
            <a:xfrm>
              <a:off x="7966954" y="1775604"/>
              <a:ext cx="3420000" cy="1800000"/>
            </a:xfrm>
            <a:prstGeom prst="roundRect">
              <a:avLst>
                <a:gd name="adj" fmla="val 0"/>
              </a:avLst>
            </a:prstGeom>
            <a:solidFill>
              <a:srgbClr val="0070D8"/>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4" name="文本占位符 43"/>
            <p:cNvSpPr txBox="1"/>
            <p:nvPr>
              <p:custDataLst>
                <p:tags r:id="rId12"/>
              </p:custDataLst>
            </p:nvPr>
          </p:nvSpPr>
          <p:spPr>
            <a:xfrm>
              <a:off x="8228090" y="2717359"/>
              <a:ext cx="18288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bg1"/>
                  </a:solidFill>
                  <a:sym typeface="+mn-ea"/>
                </a:rPr>
                <a:t>技术实施方案</a:t>
              </a:r>
              <a:endParaRPr lang="zh-CN" altLang="en-US" sz="2400" b="1" dirty="0">
                <a:solidFill>
                  <a:schemeClr val="bg1"/>
                </a:solidFill>
                <a:sym typeface="+mn-ea"/>
              </a:endParaRPr>
            </a:p>
          </p:txBody>
        </p:sp>
        <p:sp>
          <p:nvSpPr>
            <p:cNvPr id="45" name="文本占位符 43"/>
            <p:cNvSpPr txBox="1"/>
            <p:nvPr>
              <p:custDataLst>
                <p:tags r:id="rId13"/>
              </p:custDataLst>
            </p:nvPr>
          </p:nvSpPr>
          <p:spPr>
            <a:xfrm>
              <a:off x="8228090" y="1934471"/>
              <a:ext cx="569067"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bg1">
                      <a:alpha val="30000"/>
                    </a:schemeClr>
                  </a:solidFill>
                  <a:latin typeface="MiSans" pitchFamily="2" charset="-122"/>
                  <a:ea typeface="MiSans" pitchFamily="2" charset="-122"/>
                  <a:cs typeface="MiSans" pitchFamily="2" charset="-122"/>
                </a:rPr>
                <a:t>02</a:t>
              </a:r>
              <a:endParaRPr lang="zh-CN" altLang="en-US" sz="3400" b="1" dirty="0">
                <a:solidFill>
                  <a:schemeClr val="bg1">
                    <a:alpha val="30000"/>
                  </a:schemeClr>
                </a:solidFill>
                <a:latin typeface="MiSans" pitchFamily="2" charset="-122"/>
                <a:ea typeface="MiSans" pitchFamily="2" charset="-122"/>
                <a:cs typeface="MiSans" pitchFamily="2" charset="-122"/>
              </a:endParaRPr>
            </a:p>
          </p:txBody>
        </p:sp>
        <p:grpSp>
          <p:nvGrpSpPr>
            <p:cNvPr id="47" name="组合 46"/>
            <p:cNvGrpSpPr/>
            <p:nvPr/>
          </p:nvGrpSpPr>
          <p:grpSpPr>
            <a:xfrm rot="5400000">
              <a:off x="11016055" y="2155900"/>
              <a:ext cx="317922" cy="80362"/>
              <a:chOff x="9893117" y="424718"/>
              <a:chExt cx="704849" cy="178167"/>
            </a:xfrm>
            <a:solidFill>
              <a:srgbClr val="2E5BEA"/>
            </a:solidFill>
          </p:grpSpPr>
          <p:sp>
            <p:nvSpPr>
              <p:cNvPr id="48" name="椭圆 47"/>
              <p:cNvSpPr/>
              <p:nvPr>
                <p:custDataLst>
                  <p:tags r:id="rId14"/>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custDataLst>
                  <p:tags r:id="rId15"/>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custDataLst>
                  <p:tags r:id="rId16"/>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7" name="矩形: 圆角 66"/>
            <p:cNvSpPr/>
            <p:nvPr>
              <p:custDataLst>
                <p:tags r:id="rId17"/>
              </p:custDataLst>
            </p:nvPr>
          </p:nvSpPr>
          <p:spPr>
            <a:xfrm>
              <a:off x="4142645" y="3955900"/>
              <a:ext cx="3420000" cy="1800000"/>
            </a:xfrm>
            <a:prstGeom prst="roundRect">
              <a:avLst>
                <a:gd name="adj" fmla="val 0"/>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文本占位符 43"/>
            <p:cNvSpPr txBox="1"/>
            <p:nvPr>
              <p:custDataLst>
                <p:tags r:id="rId18"/>
              </p:custDataLst>
            </p:nvPr>
          </p:nvSpPr>
          <p:spPr>
            <a:xfrm>
              <a:off x="4403781" y="4909720"/>
              <a:ext cx="15240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tx1"/>
                  </a:solidFill>
                  <a:sym typeface="+mn-ea"/>
                </a:rPr>
                <a:t>成果与反思</a:t>
              </a:r>
              <a:endParaRPr lang="zh-CN" altLang="en-US" sz="2400" b="1" dirty="0">
                <a:solidFill>
                  <a:schemeClr val="tx1"/>
                </a:solidFill>
              </a:endParaRPr>
            </a:p>
          </p:txBody>
        </p:sp>
        <p:sp>
          <p:nvSpPr>
            <p:cNvPr id="69" name="文本占位符 43"/>
            <p:cNvSpPr txBox="1"/>
            <p:nvPr>
              <p:custDataLst>
                <p:tags r:id="rId19"/>
              </p:custDataLst>
            </p:nvPr>
          </p:nvSpPr>
          <p:spPr>
            <a:xfrm>
              <a:off x="4403781" y="4114767"/>
              <a:ext cx="570669"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tx1">
                      <a:alpha val="20000"/>
                    </a:schemeClr>
                  </a:solidFill>
                  <a:latin typeface="MiSans" pitchFamily="2" charset="-122"/>
                  <a:ea typeface="MiSans" pitchFamily="2" charset="-122"/>
                  <a:cs typeface="MiSans" pitchFamily="2" charset="-122"/>
                </a:rPr>
                <a:t>03</a:t>
              </a:r>
              <a:endParaRPr lang="zh-CN" altLang="en-US" sz="3400" b="1" dirty="0">
                <a:solidFill>
                  <a:schemeClr val="tx1">
                    <a:alpha val="20000"/>
                  </a:schemeClr>
                </a:solidFill>
                <a:latin typeface="MiSans" pitchFamily="2" charset="-122"/>
                <a:ea typeface="MiSans" pitchFamily="2" charset="-122"/>
                <a:cs typeface="MiSans" pitchFamily="2" charset="-122"/>
              </a:endParaRPr>
            </a:p>
          </p:txBody>
        </p:sp>
        <p:grpSp>
          <p:nvGrpSpPr>
            <p:cNvPr id="71" name="组合 70"/>
            <p:cNvGrpSpPr/>
            <p:nvPr/>
          </p:nvGrpSpPr>
          <p:grpSpPr>
            <a:xfrm rot="5400000">
              <a:off x="7191746" y="4336196"/>
              <a:ext cx="317922" cy="80362"/>
              <a:chOff x="9893117" y="424718"/>
              <a:chExt cx="704849" cy="178167"/>
            </a:xfrm>
            <a:solidFill>
              <a:srgbClr val="2E5BEA"/>
            </a:solidFill>
          </p:grpSpPr>
          <p:sp>
            <p:nvSpPr>
              <p:cNvPr id="72" name="椭圆 71"/>
              <p:cNvSpPr/>
              <p:nvPr>
                <p:custDataLst>
                  <p:tags r:id="rId20"/>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p:cNvSpPr/>
              <p:nvPr>
                <p:custDataLst>
                  <p:tags r:id="rId21"/>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custDataLst>
                  <p:tags r:id="rId22"/>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5" name="矩形: 圆角 74"/>
            <p:cNvSpPr/>
            <p:nvPr>
              <p:custDataLst>
                <p:tags r:id="rId23"/>
              </p:custDataLst>
            </p:nvPr>
          </p:nvSpPr>
          <p:spPr>
            <a:xfrm>
              <a:off x="7952440" y="3955900"/>
              <a:ext cx="3420000" cy="1800000"/>
            </a:xfrm>
            <a:prstGeom prst="roundRect">
              <a:avLst>
                <a:gd name="adj" fmla="val 0"/>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文本占位符 43"/>
            <p:cNvSpPr txBox="1"/>
            <p:nvPr>
              <p:custDataLst>
                <p:tags r:id="rId24"/>
              </p:custDataLst>
            </p:nvPr>
          </p:nvSpPr>
          <p:spPr>
            <a:xfrm>
              <a:off x="8213576" y="4909720"/>
              <a:ext cx="18288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tx1"/>
                  </a:solidFill>
                </a:rPr>
                <a:t>后续重点工作</a:t>
              </a:r>
              <a:endParaRPr lang="zh-CN" altLang="en-US" sz="2400" b="1" dirty="0">
                <a:solidFill>
                  <a:schemeClr val="tx1"/>
                </a:solidFill>
              </a:endParaRPr>
            </a:p>
          </p:txBody>
        </p:sp>
        <p:sp>
          <p:nvSpPr>
            <p:cNvPr id="77" name="文本占位符 43"/>
            <p:cNvSpPr txBox="1"/>
            <p:nvPr>
              <p:custDataLst>
                <p:tags r:id="rId25"/>
              </p:custDataLst>
            </p:nvPr>
          </p:nvSpPr>
          <p:spPr>
            <a:xfrm>
              <a:off x="8213576" y="4114767"/>
              <a:ext cx="578685"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tx1">
                      <a:alpha val="20000"/>
                    </a:schemeClr>
                  </a:solidFill>
                  <a:latin typeface="MiSans" pitchFamily="2" charset="-122"/>
                  <a:ea typeface="MiSans" pitchFamily="2" charset="-122"/>
                  <a:cs typeface="MiSans" pitchFamily="2" charset="-122"/>
                </a:rPr>
                <a:t>04</a:t>
              </a:r>
              <a:endParaRPr lang="zh-CN" altLang="en-US" sz="3400" b="1" dirty="0">
                <a:solidFill>
                  <a:schemeClr val="tx1">
                    <a:alpha val="20000"/>
                  </a:schemeClr>
                </a:solidFill>
                <a:latin typeface="MiSans" pitchFamily="2" charset="-122"/>
                <a:ea typeface="MiSans" pitchFamily="2" charset="-122"/>
                <a:cs typeface="MiSans" pitchFamily="2" charset="-122"/>
              </a:endParaRPr>
            </a:p>
          </p:txBody>
        </p:sp>
        <p:grpSp>
          <p:nvGrpSpPr>
            <p:cNvPr id="79" name="组合 78"/>
            <p:cNvGrpSpPr/>
            <p:nvPr/>
          </p:nvGrpSpPr>
          <p:grpSpPr>
            <a:xfrm rot="5400000">
              <a:off x="11001541" y="4336196"/>
              <a:ext cx="317922" cy="80362"/>
              <a:chOff x="9893117" y="424718"/>
              <a:chExt cx="704849" cy="178167"/>
            </a:xfrm>
            <a:solidFill>
              <a:srgbClr val="2E5BEA"/>
            </a:solidFill>
          </p:grpSpPr>
          <p:sp>
            <p:nvSpPr>
              <p:cNvPr id="80" name="椭圆 79"/>
              <p:cNvSpPr/>
              <p:nvPr>
                <p:custDataLst>
                  <p:tags r:id="rId26"/>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p:cNvSpPr/>
              <p:nvPr>
                <p:custDataLst>
                  <p:tags r:id="rId27"/>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p:cNvSpPr/>
              <p:nvPr>
                <p:custDataLst>
                  <p:tags r:id="rId28"/>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85" name="组合 84"/>
          <p:cNvGrpSpPr/>
          <p:nvPr/>
        </p:nvGrpSpPr>
        <p:grpSpPr>
          <a:xfrm rot="5400000">
            <a:off x="11614388" y="402046"/>
            <a:ext cx="317922" cy="80362"/>
            <a:chOff x="9893117" y="424718"/>
            <a:chExt cx="704849" cy="178167"/>
          </a:xfrm>
          <a:solidFill>
            <a:srgbClr val="2E5BEA"/>
          </a:solidFill>
        </p:grpSpPr>
        <p:sp>
          <p:nvSpPr>
            <p:cNvPr id="86" name="椭圆 85"/>
            <p:cNvSpPr/>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椭圆 86"/>
            <p:cNvSpPr/>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椭圆 87"/>
            <p:cNvSpPr/>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 name="矩形: 圆角 37"/>
          <p:cNvSpPr/>
          <p:nvPr/>
        </p:nvSpPr>
        <p:spPr>
          <a:xfrm>
            <a:off x="-1" y="0"/>
            <a:ext cx="12192001" cy="6858000"/>
          </a:xfrm>
          <a:prstGeom prst="roundRect">
            <a:avLst>
              <a:gd name="adj" fmla="val 0"/>
            </a:avLst>
          </a:prstGeom>
          <a:gradFill flip="none" rotWithShape="1">
            <a:gsLst>
              <a:gs pos="33000">
                <a:srgbClr val="0070D8">
                  <a:alpha val="0"/>
                </a:srgbClr>
              </a:gs>
              <a:gs pos="100000">
                <a:srgbClr val="0070D8">
                  <a:alpha val="5000"/>
                </a:srgbClr>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picture 80"/>
          <p:cNvPicPr>
            <a:picLocks noChangeAspect="1"/>
          </p:cNvPicPr>
          <p:nvPr/>
        </p:nvPicPr>
        <p:blipFill>
          <a:blip r:embed="rId1"/>
          <a:stretch>
            <a:fillRect/>
          </a:stretch>
        </p:blipFill>
        <p:spPr>
          <a:xfrm>
            <a:off x="9212985" y="408444"/>
            <a:ext cx="2674215" cy="220702"/>
          </a:xfrm>
          <a:prstGeom prst="rect">
            <a:avLst/>
          </a:prstGeom>
        </p:spPr>
      </p:pic>
      <p:sp>
        <p:nvSpPr>
          <p:cNvPr id="5" name="文本框 4"/>
          <p:cNvSpPr txBox="1"/>
          <p:nvPr/>
        </p:nvSpPr>
        <p:spPr>
          <a:xfrm>
            <a:off x="514350" y="303530"/>
            <a:ext cx="1996440" cy="430530"/>
          </a:xfrm>
          <a:prstGeom prst="rect">
            <a:avLst/>
          </a:prstGeom>
          <a:noFill/>
        </p:spPr>
        <p:txBody>
          <a:bodyPr wrap="none" rtlCol="0" anchor="t">
            <a:spAutoFit/>
          </a:bodyPr>
          <a:lstStyle/>
          <a:p>
            <a:pPr algn="l" eaLnBrk="0">
              <a:lnSpc>
                <a:spcPct val="96000"/>
              </a:lnSpc>
            </a:pPr>
            <a:r>
              <a:rPr lang="zh-CN" altLang="en-US" sz="2300" b="1" kern="0" spc="80" dirty="0">
                <a:solidFill>
                  <a:srgbClr val="000000">
                    <a:alpha val="100000"/>
                  </a:srgbClr>
                </a:solidFill>
                <a:cs typeface="+mn-ea"/>
                <a:sym typeface="+mn-lt"/>
              </a:rPr>
              <a:t>技术实施方案</a:t>
            </a:r>
            <a:endParaRPr lang="zh-CN" altLang="en-US" sz="2300" b="1" kern="0" spc="80" dirty="0">
              <a:solidFill>
                <a:srgbClr val="000000">
                  <a:alpha val="100000"/>
                </a:srgbClr>
              </a:solidFill>
              <a:cs typeface="+mn-ea"/>
              <a:sym typeface="+mn-lt"/>
            </a:endParaRPr>
          </a:p>
        </p:txBody>
      </p:sp>
      <p:sp>
        <p:nvSpPr>
          <p:cNvPr id="7" name="任意多边形 62"/>
          <p:cNvSpPr/>
          <p:nvPr/>
        </p:nvSpPr>
        <p:spPr>
          <a:xfrm>
            <a:off x="304800" y="374015"/>
            <a:ext cx="205740" cy="289560"/>
          </a:xfrm>
          <a:custGeom>
            <a:avLst/>
            <a:gdLst/>
            <a:ahLst/>
            <a:cxnLst>
              <a:cxn ang="3">
                <a:pos x="hc" y="t"/>
              </a:cxn>
              <a:cxn ang="cd2">
                <a:pos x="l" y="vc"/>
              </a:cxn>
              <a:cxn ang="cd4">
                <a:pos x="hc" y="b"/>
              </a:cxn>
              <a:cxn ang="0">
                <a:pos x="r" y="vc"/>
              </a:cxn>
            </a:cxnLst>
            <a:rect l="l" t="t" r="r" b="b"/>
            <a:pathLst>
              <a:path w="324" h="456">
                <a:moveTo>
                  <a:pt x="82" y="0"/>
                </a:moveTo>
                <a:lnTo>
                  <a:pt x="324" y="0"/>
                </a:lnTo>
                <a:lnTo>
                  <a:pt x="324" y="456"/>
                </a:lnTo>
                <a:lnTo>
                  <a:pt x="82" y="456"/>
                </a:lnTo>
                <a:lnTo>
                  <a:pt x="82" y="0"/>
                </a:lnTo>
                <a:close/>
                <a:moveTo>
                  <a:pt x="0" y="0"/>
                </a:moveTo>
                <a:lnTo>
                  <a:pt x="37" y="0"/>
                </a:lnTo>
                <a:lnTo>
                  <a:pt x="37" y="456"/>
                </a:lnTo>
                <a:lnTo>
                  <a:pt x="0" y="456"/>
                </a:lnTo>
                <a:lnTo>
                  <a:pt x="0" y="0"/>
                </a:lnTo>
                <a:close/>
              </a:path>
            </a:pathLst>
          </a:custGeom>
          <a:solidFill>
            <a:srgbClr val="0070D8"/>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cs typeface="+mn-ea"/>
              <a:sym typeface="+mn-lt"/>
            </a:endParaRPr>
          </a:p>
        </p:txBody>
      </p:sp>
      <p:pic>
        <p:nvPicPr>
          <p:cNvPr id="6" name="图片 5" descr="CIM自动化建模_实施技术流程图(1)"/>
          <p:cNvPicPr>
            <a:picLocks noChangeAspect="1"/>
          </p:cNvPicPr>
          <p:nvPr/>
        </p:nvPicPr>
        <p:blipFill>
          <a:blip r:embed="rId2"/>
          <a:stretch>
            <a:fillRect/>
          </a:stretch>
        </p:blipFill>
        <p:spPr>
          <a:xfrm>
            <a:off x="0" y="1590675"/>
            <a:ext cx="12192000" cy="36766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97832" y="6231855"/>
            <a:ext cx="2724794" cy="270250"/>
          </a:xfrm>
          <a:prstGeom prst="rect">
            <a:avLst/>
          </a:prstGeom>
        </p:spPr>
      </p:pic>
      <p:sp>
        <p:nvSpPr>
          <p:cNvPr id="3" name="圆角矩形 4"/>
          <p:cNvSpPr/>
          <p:nvPr/>
        </p:nvSpPr>
        <p:spPr>
          <a:xfrm>
            <a:off x="0" y="22225"/>
            <a:ext cx="3752850" cy="6905625"/>
          </a:xfrm>
          <a:prstGeom prst="roundRect">
            <a:avLst>
              <a:gd name="adj" fmla="val 0"/>
            </a:avLst>
          </a:prstGeom>
          <a:blipFill rotWithShape="1">
            <a:blip r:embed="rId2"/>
            <a:stretch>
              <a:fillRect/>
            </a:stretch>
          </a:blip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endParaRPr lang="zh-CN" altLang="en-US" sz="1050" dirty="0">
              <a:solidFill>
                <a:schemeClr val="tx1"/>
              </a:solidFill>
            </a:endParaRPr>
          </a:p>
        </p:txBody>
      </p:sp>
      <p:sp>
        <p:nvSpPr>
          <p:cNvPr id="4" name="图形"/>
          <p:cNvSpPr/>
          <p:nvPr/>
        </p:nvSpPr>
        <p:spPr>
          <a:xfrm>
            <a:off x="0" y="0"/>
            <a:ext cx="3752850" cy="6906260"/>
          </a:xfrm>
          <a:prstGeom prst="rect">
            <a:avLst/>
          </a:prstGeom>
          <a:gradFill rotWithShape="0">
            <a:gsLst>
              <a:gs pos="100000">
                <a:srgbClr val="2D66FE">
                  <a:alpha val="0"/>
                </a:srgbClr>
              </a:gs>
              <a:gs pos="0">
                <a:srgbClr val="6EDEF8">
                  <a:alpha val="85000"/>
                </a:srgbClr>
              </a:gs>
              <a:gs pos="100000">
                <a:srgbClr val="1217DE">
                  <a:alpha val="85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字魂58号-创中黑" panose="00000500000000000000" charset="-122"/>
            </a:endParaRPr>
          </a:p>
        </p:txBody>
      </p:sp>
      <p:sp>
        <p:nvSpPr>
          <p:cNvPr id="5" name="标题 2"/>
          <p:cNvSpPr txBox="1"/>
          <p:nvPr/>
        </p:nvSpPr>
        <p:spPr>
          <a:xfrm>
            <a:off x="581025" y="659765"/>
            <a:ext cx="2891155" cy="936625"/>
          </a:xfrm>
          <a:prstGeom prst="rect">
            <a:avLst/>
          </a:prstGeom>
        </p:spPr>
        <p:txBody>
          <a:bodyPr/>
          <a:lstStyle>
            <a:lvl1pPr algn="l" defTabSz="914400" rtl="0" eaLnBrk="1" latinLnBrk="0" hangingPunct="1">
              <a:lnSpc>
                <a:spcPct val="100000"/>
              </a:lnSpc>
              <a:spcBef>
                <a:spcPct val="0"/>
              </a:spcBef>
              <a:buNone/>
              <a:defRPr sz="5400" b="1" kern="1200">
                <a:solidFill>
                  <a:schemeClr val="bg1"/>
                </a:solidFill>
                <a:latin typeface="微软雅黑" panose="020B0503020204020204" charset="-122"/>
                <a:ea typeface="微软雅黑" panose="020B0503020204020204" charset="-122"/>
                <a:cs typeface="+mj-cs"/>
              </a:defRPr>
            </a:lvl1pPr>
          </a:lstStyle>
          <a:p>
            <a:r>
              <a:rPr lang="zh-CN" altLang="en-US"/>
              <a:t>目录</a:t>
            </a:r>
            <a:endParaRPr lang="en-US" altLang="zh-CN"/>
          </a:p>
        </p:txBody>
      </p:sp>
      <p:sp>
        <p:nvSpPr>
          <p:cNvPr id="10" name="标题 2"/>
          <p:cNvSpPr>
            <a:spLocks noGrp="1"/>
          </p:cNvSpPr>
          <p:nvPr/>
        </p:nvSpPr>
        <p:spPr>
          <a:xfrm>
            <a:off x="581025" y="1631315"/>
            <a:ext cx="3328670" cy="908685"/>
          </a:xfrm>
        </p:spPr>
        <p:txBody>
          <a:bodyPr/>
          <a:lstStyle>
            <a:lvl1pPr>
              <a:lnSpc>
                <a:spcPct val="100000"/>
              </a:lnSpc>
              <a:defRPr sz="4000" b="1">
                <a:solidFill>
                  <a:srgbClr val="0070D8"/>
                </a:solidFill>
                <a:latin typeface="微软雅黑" panose="020B0503020204020204" charset="-122"/>
                <a:ea typeface="微软雅黑" panose="020B0503020204020204" charset="-122"/>
              </a:defRPr>
            </a:lvl1pPr>
          </a:lstStyle>
          <a:p>
            <a:r>
              <a:rPr lang="en-US" altLang="zh-CN" sz="2800">
                <a:solidFill>
                  <a:schemeClr val="bg1"/>
                </a:solidFill>
              </a:rPr>
              <a:t>CONTENTS</a:t>
            </a:r>
            <a:endParaRPr lang="en-US" altLang="zh-CN" sz="2800">
              <a:solidFill>
                <a:schemeClr val="bg1"/>
              </a:solidFill>
            </a:endParaRPr>
          </a:p>
        </p:txBody>
      </p:sp>
      <p:pic>
        <p:nvPicPr>
          <p:cNvPr id="15" name="图片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5140" y="6231890"/>
            <a:ext cx="2725200" cy="270578"/>
          </a:xfrm>
          <a:prstGeom prst="rect">
            <a:avLst/>
          </a:prstGeom>
        </p:spPr>
      </p:pic>
      <p:grpSp>
        <p:nvGrpSpPr>
          <p:cNvPr id="16" name="组合 15"/>
          <p:cNvGrpSpPr/>
          <p:nvPr>
            <p:custDataLst>
              <p:tags r:id="rId4"/>
            </p:custDataLst>
          </p:nvPr>
        </p:nvGrpSpPr>
        <p:grpSpPr>
          <a:xfrm>
            <a:off x="4209320" y="1461077"/>
            <a:ext cx="7244309" cy="3980296"/>
            <a:chOff x="4142645" y="1775604"/>
            <a:chExt cx="7244309" cy="3980296"/>
          </a:xfrm>
        </p:grpSpPr>
        <p:sp>
          <p:nvSpPr>
            <p:cNvPr id="17" name="矩形: 圆角 18"/>
            <p:cNvSpPr/>
            <p:nvPr>
              <p:custDataLst>
                <p:tags r:id="rId5"/>
              </p:custDataLst>
            </p:nvPr>
          </p:nvSpPr>
          <p:spPr>
            <a:xfrm>
              <a:off x="4142645" y="1775604"/>
              <a:ext cx="3420000" cy="1800000"/>
            </a:xfrm>
            <a:prstGeom prst="roundRect">
              <a:avLst>
                <a:gd name="adj" fmla="val 0"/>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占位符 43"/>
            <p:cNvSpPr txBox="1"/>
            <p:nvPr>
              <p:custDataLst>
                <p:tags r:id="rId6"/>
              </p:custDataLst>
            </p:nvPr>
          </p:nvSpPr>
          <p:spPr>
            <a:xfrm>
              <a:off x="4403781" y="2693229"/>
              <a:ext cx="18288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tx1"/>
                  </a:solidFill>
                  <a:sym typeface="+mn-ea"/>
                </a:rPr>
                <a:t>目前工作基础</a:t>
              </a:r>
              <a:endParaRPr lang="zh-CN" altLang="en-US" sz="2400" b="1" dirty="0">
                <a:solidFill>
                  <a:schemeClr val="tx1"/>
                </a:solidFill>
              </a:endParaRPr>
            </a:p>
          </p:txBody>
        </p:sp>
        <p:sp>
          <p:nvSpPr>
            <p:cNvPr id="20" name="文本占位符 43"/>
            <p:cNvSpPr txBox="1"/>
            <p:nvPr>
              <p:custDataLst>
                <p:tags r:id="rId7"/>
              </p:custDataLst>
            </p:nvPr>
          </p:nvSpPr>
          <p:spPr>
            <a:xfrm>
              <a:off x="4403781" y="1934471"/>
              <a:ext cx="514564"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tx1">
                      <a:alpha val="20000"/>
                    </a:schemeClr>
                  </a:solidFill>
                  <a:latin typeface="MiSans" pitchFamily="2" charset="-122"/>
                  <a:ea typeface="MiSans" pitchFamily="2" charset="-122"/>
                  <a:cs typeface="MiSans" pitchFamily="2" charset="-122"/>
                </a:rPr>
                <a:t>01</a:t>
              </a:r>
              <a:endParaRPr lang="zh-CN" altLang="en-US" sz="3400" b="1" dirty="0">
                <a:solidFill>
                  <a:schemeClr val="tx1">
                    <a:alpha val="20000"/>
                  </a:schemeClr>
                </a:solidFill>
                <a:latin typeface="MiSans" pitchFamily="2" charset="-122"/>
                <a:ea typeface="MiSans" pitchFamily="2" charset="-122"/>
                <a:cs typeface="MiSans" pitchFamily="2" charset="-122"/>
              </a:endParaRPr>
            </a:p>
          </p:txBody>
        </p:sp>
        <p:grpSp>
          <p:nvGrpSpPr>
            <p:cNvPr id="21" name="组合 20"/>
            <p:cNvGrpSpPr/>
            <p:nvPr/>
          </p:nvGrpSpPr>
          <p:grpSpPr>
            <a:xfrm rot="5400000">
              <a:off x="7191746" y="2155900"/>
              <a:ext cx="317922" cy="80362"/>
              <a:chOff x="9893117" y="424718"/>
              <a:chExt cx="704849" cy="178167"/>
            </a:xfrm>
            <a:solidFill>
              <a:srgbClr val="2E5BEA"/>
            </a:solidFill>
          </p:grpSpPr>
          <p:sp>
            <p:nvSpPr>
              <p:cNvPr id="22" name="椭圆 21"/>
              <p:cNvSpPr/>
              <p:nvPr>
                <p:custDataLst>
                  <p:tags r:id="rId8"/>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custDataLst>
                  <p:tags r:id="rId9"/>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custDataLst>
                  <p:tags r:id="rId10"/>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矩形: 圆角 42"/>
            <p:cNvSpPr/>
            <p:nvPr>
              <p:custDataLst>
                <p:tags r:id="rId11"/>
              </p:custDataLst>
            </p:nvPr>
          </p:nvSpPr>
          <p:spPr>
            <a:xfrm>
              <a:off x="7966954" y="1775604"/>
              <a:ext cx="3420000" cy="1800000"/>
            </a:xfrm>
            <a:prstGeom prst="roundRect">
              <a:avLst>
                <a:gd name="adj" fmla="val 0"/>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endParaRPr>
            </a:p>
          </p:txBody>
        </p:sp>
        <p:sp>
          <p:nvSpPr>
            <p:cNvPr id="26" name="文本占位符 43"/>
            <p:cNvSpPr txBox="1"/>
            <p:nvPr>
              <p:custDataLst>
                <p:tags r:id="rId12"/>
              </p:custDataLst>
            </p:nvPr>
          </p:nvSpPr>
          <p:spPr>
            <a:xfrm>
              <a:off x="8228090" y="2693229"/>
              <a:ext cx="18288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tx1"/>
                  </a:solidFill>
                </a:rPr>
                <a:t>技术实施方案</a:t>
              </a:r>
              <a:endParaRPr lang="zh-CN" altLang="en-US" sz="2400" b="1" dirty="0">
                <a:solidFill>
                  <a:schemeClr val="tx1"/>
                </a:solidFill>
              </a:endParaRPr>
            </a:p>
          </p:txBody>
        </p:sp>
        <p:sp>
          <p:nvSpPr>
            <p:cNvPr id="31" name="文本占位符 43"/>
            <p:cNvSpPr txBox="1"/>
            <p:nvPr>
              <p:custDataLst>
                <p:tags r:id="rId13"/>
              </p:custDataLst>
            </p:nvPr>
          </p:nvSpPr>
          <p:spPr>
            <a:xfrm>
              <a:off x="8228090" y="1934471"/>
              <a:ext cx="569067"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tx1">
                      <a:alpha val="20000"/>
                    </a:schemeClr>
                  </a:solidFill>
                  <a:latin typeface="MiSans" pitchFamily="2" charset="-122"/>
                  <a:ea typeface="MiSans" pitchFamily="2" charset="-122"/>
                  <a:cs typeface="MiSans" pitchFamily="2" charset="-122"/>
                </a:rPr>
                <a:t>02</a:t>
              </a:r>
              <a:endParaRPr lang="zh-CN" altLang="en-US" sz="3400" b="1" dirty="0">
                <a:solidFill>
                  <a:schemeClr val="tx1">
                    <a:alpha val="20000"/>
                  </a:schemeClr>
                </a:solidFill>
                <a:latin typeface="MiSans" pitchFamily="2" charset="-122"/>
                <a:ea typeface="MiSans" pitchFamily="2" charset="-122"/>
                <a:cs typeface="MiSans" pitchFamily="2" charset="-122"/>
              </a:endParaRPr>
            </a:p>
          </p:txBody>
        </p:sp>
        <p:grpSp>
          <p:nvGrpSpPr>
            <p:cNvPr id="32" name="组合 31"/>
            <p:cNvGrpSpPr/>
            <p:nvPr/>
          </p:nvGrpSpPr>
          <p:grpSpPr>
            <a:xfrm rot="5400000">
              <a:off x="11016055" y="2155900"/>
              <a:ext cx="317922" cy="80362"/>
              <a:chOff x="9893117" y="424718"/>
              <a:chExt cx="704849" cy="178167"/>
            </a:xfrm>
            <a:solidFill>
              <a:srgbClr val="2E5BEA"/>
            </a:solidFill>
          </p:grpSpPr>
          <p:sp>
            <p:nvSpPr>
              <p:cNvPr id="33" name="椭圆 32"/>
              <p:cNvSpPr/>
              <p:nvPr>
                <p:custDataLst>
                  <p:tags r:id="rId14"/>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custDataLst>
                  <p:tags r:id="rId15"/>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custDataLst>
                  <p:tags r:id="rId16"/>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6" name="矩形: 圆角 66"/>
            <p:cNvSpPr/>
            <p:nvPr>
              <p:custDataLst>
                <p:tags r:id="rId17"/>
              </p:custDataLst>
            </p:nvPr>
          </p:nvSpPr>
          <p:spPr>
            <a:xfrm>
              <a:off x="4142645" y="3955900"/>
              <a:ext cx="3420000" cy="1800000"/>
            </a:xfrm>
            <a:prstGeom prst="roundRect">
              <a:avLst>
                <a:gd name="adj" fmla="val 0"/>
              </a:avLst>
            </a:prstGeom>
            <a:solidFill>
              <a:srgbClr val="0070D8"/>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文本占位符 43"/>
            <p:cNvSpPr txBox="1"/>
            <p:nvPr>
              <p:custDataLst>
                <p:tags r:id="rId18"/>
              </p:custDataLst>
            </p:nvPr>
          </p:nvSpPr>
          <p:spPr>
            <a:xfrm>
              <a:off x="4403781" y="4861460"/>
              <a:ext cx="15240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bg1"/>
                  </a:solidFill>
                  <a:sym typeface="+mn-ea"/>
                </a:rPr>
                <a:t>成果与反思</a:t>
              </a:r>
              <a:endParaRPr lang="zh-CN" altLang="en-US" sz="2400" b="1" dirty="0">
                <a:solidFill>
                  <a:schemeClr val="bg1"/>
                </a:solidFill>
                <a:sym typeface="+mn-ea"/>
              </a:endParaRPr>
            </a:p>
          </p:txBody>
        </p:sp>
        <p:sp>
          <p:nvSpPr>
            <p:cNvPr id="38" name="文本占位符 43"/>
            <p:cNvSpPr txBox="1"/>
            <p:nvPr>
              <p:custDataLst>
                <p:tags r:id="rId19"/>
              </p:custDataLst>
            </p:nvPr>
          </p:nvSpPr>
          <p:spPr>
            <a:xfrm>
              <a:off x="4403781" y="4114767"/>
              <a:ext cx="570669"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bg1">
                      <a:alpha val="30000"/>
                    </a:schemeClr>
                  </a:solidFill>
                  <a:latin typeface="MiSans" pitchFamily="2" charset="-122"/>
                  <a:ea typeface="MiSans" pitchFamily="2" charset="-122"/>
                  <a:cs typeface="MiSans" pitchFamily="2" charset="-122"/>
                </a:rPr>
                <a:t>03</a:t>
              </a:r>
              <a:endParaRPr lang="zh-CN" altLang="en-US" sz="3400" b="1" dirty="0">
                <a:solidFill>
                  <a:schemeClr val="bg1">
                    <a:alpha val="30000"/>
                  </a:schemeClr>
                </a:solidFill>
                <a:latin typeface="MiSans" pitchFamily="2" charset="-122"/>
                <a:ea typeface="MiSans" pitchFamily="2" charset="-122"/>
                <a:cs typeface="MiSans" pitchFamily="2" charset="-122"/>
              </a:endParaRPr>
            </a:p>
          </p:txBody>
        </p:sp>
        <p:grpSp>
          <p:nvGrpSpPr>
            <p:cNvPr id="39" name="组合 38"/>
            <p:cNvGrpSpPr/>
            <p:nvPr/>
          </p:nvGrpSpPr>
          <p:grpSpPr>
            <a:xfrm rot="5400000">
              <a:off x="7191746" y="4336196"/>
              <a:ext cx="317922" cy="80362"/>
              <a:chOff x="9893117" y="424718"/>
              <a:chExt cx="704849" cy="178167"/>
            </a:xfrm>
            <a:solidFill>
              <a:srgbClr val="2E5BEA"/>
            </a:solidFill>
          </p:grpSpPr>
          <p:sp>
            <p:nvSpPr>
              <p:cNvPr id="40" name="椭圆 39"/>
              <p:cNvSpPr/>
              <p:nvPr>
                <p:custDataLst>
                  <p:tags r:id="rId20"/>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p:cNvSpPr/>
              <p:nvPr>
                <p:custDataLst>
                  <p:tags r:id="rId21"/>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p:custDataLst>
                  <p:tags r:id="rId22"/>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6" name="矩形: 圆角 74"/>
            <p:cNvSpPr/>
            <p:nvPr>
              <p:custDataLst>
                <p:tags r:id="rId23"/>
              </p:custDataLst>
            </p:nvPr>
          </p:nvSpPr>
          <p:spPr>
            <a:xfrm>
              <a:off x="7952440" y="3955900"/>
              <a:ext cx="3420000" cy="1800000"/>
            </a:xfrm>
            <a:prstGeom prst="roundRect">
              <a:avLst>
                <a:gd name="adj" fmla="val 0"/>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占位符 43"/>
            <p:cNvSpPr txBox="1"/>
            <p:nvPr>
              <p:custDataLst>
                <p:tags r:id="rId24"/>
              </p:custDataLst>
            </p:nvPr>
          </p:nvSpPr>
          <p:spPr>
            <a:xfrm>
              <a:off x="8213576" y="4861460"/>
              <a:ext cx="18288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tx1"/>
                  </a:solidFill>
                  <a:sym typeface="+mn-ea"/>
                </a:rPr>
                <a:t>后续重点工作</a:t>
              </a:r>
              <a:endParaRPr lang="zh-CN" altLang="en-US" sz="2400" b="1" dirty="0">
                <a:solidFill>
                  <a:schemeClr val="tx1"/>
                </a:solidFill>
              </a:endParaRPr>
            </a:p>
          </p:txBody>
        </p:sp>
        <p:sp>
          <p:nvSpPr>
            <p:cNvPr id="52" name="文本占位符 43"/>
            <p:cNvSpPr txBox="1"/>
            <p:nvPr>
              <p:custDataLst>
                <p:tags r:id="rId25"/>
              </p:custDataLst>
            </p:nvPr>
          </p:nvSpPr>
          <p:spPr>
            <a:xfrm>
              <a:off x="8213576" y="4114767"/>
              <a:ext cx="578685"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tx1">
                      <a:alpha val="20000"/>
                    </a:schemeClr>
                  </a:solidFill>
                  <a:latin typeface="MiSans" pitchFamily="2" charset="-122"/>
                  <a:ea typeface="MiSans" pitchFamily="2" charset="-122"/>
                  <a:cs typeface="MiSans" pitchFamily="2" charset="-122"/>
                </a:rPr>
                <a:t>04</a:t>
              </a:r>
              <a:endParaRPr lang="zh-CN" altLang="en-US" sz="3400" b="1" dirty="0">
                <a:solidFill>
                  <a:schemeClr val="tx1">
                    <a:alpha val="20000"/>
                  </a:schemeClr>
                </a:solidFill>
                <a:latin typeface="MiSans" pitchFamily="2" charset="-122"/>
                <a:ea typeface="MiSans" pitchFamily="2" charset="-122"/>
                <a:cs typeface="MiSans" pitchFamily="2" charset="-122"/>
              </a:endParaRPr>
            </a:p>
          </p:txBody>
        </p:sp>
        <p:grpSp>
          <p:nvGrpSpPr>
            <p:cNvPr id="53" name="组合 52"/>
            <p:cNvGrpSpPr/>
            <p:nvPr/>
          </p:nvGrpSpPr>
          <p:grpSpPr>
            <a:xfrm rot="5400000">
              <a:off x="11001541" y="4336196"/>
              <a:ext cx="317922" cy="80362"/>
              <a:chOff x="9893117" y="424718"/>
              <a:chExt cx="704849" cy="178167"/>
            </a:xfrm>
            <a:solidFill>
              <a:srgbClr val="2E5BEA"/>
            </a:solidFill>
          </p:grpSpPr>
          <p:sp>
            <p:nvSpPr>
              <p:cNvPr id="54" name="椭圆 53"/>
              <p:cNvSpPr/>
              <p:nvPr>
                <p:custDataLst>
                  <p:tags r:id="rId26"/>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custDataLst>
                  <p:tags r:id="rId27"/>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custDataLst>
                  <p:tags r:id="rId28"/>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57" name="组合 56"/>
          <p:cNvGrpSpPr/>
          <p:nvPr/>
        </p:nvGrpSpPr>
        <p:grpSpPr>
          <a:xfrm rot="5400000">
            <a:off x="11614388" y="424271"/>
            <a:ext cx="317922" cy="80362"/>
            <a:chOff x="9893117" y="424718"/>
            <a:chExt cx="704849" cy="178167"/>
          </a:xfrm>
          <a:solidFill>
            <a:srgbClr val="2E5BEA"/>
          </a:solidFill>
        </p:grpSpPr>
        <p:sp>
          <p:nvSpPr>
            <p:cNvPr id="58" name="椭圆 57"/>
            <p:cNvSpPr/>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37" name="组合 36"/>
          <p:cNvGrpSpPr/>
          <p:nvPr>
            <p:custDataLst>
              <p:tags r:id="rId1"/>
            </p:custDataLst>
          </p:nvPr>
        </p:nvGrpSpPr>
        <p:grpSpPr>
          <a:xfrm>
            <a:off x="5070" y="1680209"/>
            <a:ext cx="12182475" cy="3124199"/>
            <a:chOff x="5070" y="2705099"/>
            <a:chExt cx="12182475" cy="3124199"/>
          </a:xfrm>
          <a:effectLst/>
        </p:grpSpPr>
        <p:sp>
          <p:nvSpPr>
            <p:cNvPr id="23" name="矩形 22"/>
            <p:cNvSpPr/>
            <p:nvPr>
              <p:custDataLst>
                <p:tags r:id="rId2"/>
              </p:custDataLst>
            </p:nvPr>
          </p:nvSpPr>
          <p:spPr>
            <a:xfrm>
              <a:off x="8218795" y="3038474"/>
              <a:ext cx="3968750" cy="2466340"/>
            </a:xfrm>
            <a:prstGeom prst="rect">
              <a:avLst/>
            </a:prstGeom>
            <a:gradFill>
              <a:gsLst>
                <a:gs pos="0">
                  <a:srgbClr val="0070D8"/>
                </a:gs>
                <a:gs pos="100000">
                  <a:srgbClr val="0070D8"/>
                </a:gs>
              </a:gsLst>
              <a:lin ang="0" scaled="0"/>
            </a:gradFill>
            <a:ln>
              <a:noFill/>
            </a:ln>
            <a:scene3d>
              <a:camera prst="orthographicFront"/>
              <a:lightRig rig="threePt" dir="t"/>
            </a:scene3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8" name="矩形 7"/>
            <p:cNvSpPr/>
            <p:nvPr>
              <p:custDataLst>
                <p:tags r:id="rId3"/>
              </p:custDataLst>
            </p:nvPr>
          </p:nvSpPr>
          <p:spPr>
            <a:xfrm>
              <a:off x="5070" y="3038475"/>
              <a:ext cx="3957503" cy="2466074"/>
            </a:xfrm>
            <a:prstGeom prst="rect">
              <a:avLst/>
            </a:prstGeom>
            <a:gradFill>
              <a:gsLst>
                <a:gs pos="0">
                  <a:srgbClr val="0070D8"/>
                </a:gs>
                <a:gs pos="100000">
                  <a:srgbClr val="0070D8"/>
                </a:gs>
              </a:gsLst>
              <a:lin ang="0" scaled="0"/>
            </a:gradFill>
            <a:ln>
              <a:noFill/>
            </a:ln>
            <a:scene3d>
              <a:camera prst="orthographicFront"/>
              <a:lightRig rig="threePt" dir="t"/>
            </a:scene3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 name="矩形 3"/>
            <p:cNvSpPr/>
            <p:nvPr>
              <p:custDataLst>
                <p:tags r:id="rId4"/>
              </p:custDataLst>
            </p:nvPr>
          </p:nvSpPr>
          <p:spPr>
            <a:xfrm>
              <a:off x="4111848" y="2713725"/>
              <a:ext cx="3957503" cy="3115573"/>
            </a:xfrm>
            <a:prstGeom prst="rect">
              <a:avLst/>
            </a:prstGeom>
            <a:gradFill>
              <a:gsLst>
                <a:gs pos="0">
                  <a:srgbClr val="0070D8"/>
                </a:gs>
                <a:gs pos="100000">
                  <a:srgbClr val="0070D8"/>
                </a:gs>
              </a:gsLst>
              <a:lin ang="0" scaled="0"/>
            </a:gradFill>
            <a:ln>
              <a:noFill/>
            </a:ln>
            <a:scene3d>
              <a:camera prst="orthographicFront"/>
              <a:lightRig rig="threePt" dir="t"/>
            </a:scene3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9" name="矩形 8"/>
            <p:cNvSpPr/>
            <p:nvPr>
              <p:custDataLst>
                <p:tags r:id="rId5"/>
              </p:custDataLst>
            </p:nvPr>
          </p:nvSpPr>
          <p:spPr>
            <a:xfrm>
              <a:off x="3962573" y="2705099"/>
              <a:ext cx="149274" cy="3123299"/>
            </a:xfrm>
            <a:custGeom>
              <a:avLst/>
              <a:gdLst>
                <a:gd name="connsiteX0" fmla="*/ 0 w 149274"/>
                <a:gd name="connsiteY0" fmla="*/ 0 h 2466074"/>
                <a:gd name="connsiteX1" fmla="*/ 149274 w 149274"/>
                <a:gd name="connsiteY1" fmla="*/ 0 h 2466074"/>
                <a:gd name="connsiteX2" fmla="*/ 149274 w 149274"/>
                <a:gd name="connsiteY2" fmla="*/ 2466074 h 2466074"/>
                <a:gd name="connsiteX3" fmla="*/ 0 w 149274"/>
                <a:gd name="connsiteY3" fmla="*/ 2466074 h 2466074"/>
                <a:gd name="connsiteX4" fmla="*/ 0 w 149274"/>
                <a:gd name="connsiteY4" fmla="*/ 0 h 2466074"/>
                <a:gd name="connsiteX0-1" fmla="*/ 0 w 149274"/>
                <a:gd name="connsiteY0-2" fmla="*/ 333375 h 2799449"/>
                <a:gd name="connsiteX1-3" fmla="*/ 149274 w 149274"/>
                <a:gd name="connsiteY1-4" fmla="*/ 0 h 2799449"/>
                <a:gd name="connsiteX2-5" fmla="*/ 149274 w 149274"/>
                <a:gd name="connsiteY2-6" fmla="*/ 2799449 h 2799449"/>
                <a:gd name="connsiteX3-7" fmla="*/ 0 w 149274"/>
                <a:gd name="connsiteY3-8" fmla="*/ 2799449 h 2799449"/>
                <a:gd name="connsiteX4-9" fmla="*/ 0 w 149274"/>
                <a:gd name="connsiteY4-10" fmla="*/ 333375 h 2799449"/>
                <a:gd name="connsiteX0-11" fmla="*/ 0 w 149274"/>
                <a:gd name="connsiteY0-12" fmla="*/ 333375 h 3123299"/>
                <a:gd name="connsiteX1-13" fmla="*/ 149274 w 149274"/>
                <a:gd name="connsiteY1-14" fmla="*/ 0 h 3123299"/>
                <a:gd name="connsiteX2-15" fmla="*/ 146099 w 149274"/>
                <a:gd name="connsiteY2-16" fmla="*/ 3123299 h 3123299"/>
                <a:gd name="connsiteX3-17" fmla="*/ 0 w 149274"/>
                <a:gd name="connsiteY3-18" fmla="*/ 2799449 h 3123299"/>
                <a:gd name="connsiteX4-19" fmla="*/ 0 w 149274"/>
                <a:gd name="connsiteY4-20" fmla="*/ 333375 h 312329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9274" h="3123299">
                  <a:moveTo>
                    <a:pt x="0" y="333375"/>
                  </a:moveTo>
                  <a:lnTo>
                    <a:pt x="149274" y="0"/>
                  </a:lnTo>
                  <a:cubicBezTo>
                    <a:pt x="148216" y="1041100"/>
                    <a:pt x="147157" y="2082199"/>
                    <a:pt x="146099" y="3123299"/>
                  </a:cubicBezTo>
                  <a:lnTo>
                    <a:pt x="0" y="2799449"/>
                  </a:lnTo>
                  <a:lnTo>
                    <a:pt x="0" y="333375"/>
                  </a:lnTo>
                  <a:close/>
                </a:path>
              </a:pathLst>
            </a:custGeom>
            <a:solidFill>
              <a:srgbClr val="005CB0"/>
            </a:solidFill>
            <a:ln>
              <a:noFill/>
            </a:ln>
            <a:scene3d>
              <a:camera prst="orthographicFront"/>
              <a:lightRig rig="threePt" dir="t"/>
            </a:scene3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0" name="矩形 8"/>
            <p:cNvSpPr/>
            <p:nvPr>
              <p:custDataLst>
                <p:tags r:id="rId6"/>
              </p:custDataLst>
            </p:nvPr>
          </p:nvSpPr>
          <p:spPr>
            <a:xfrm flipH="1">
              <a:off x="8069350" y="2705099"/>
              <a:ext cx="149274" cy="3123299"/>
            </a:xfrm>
            <a:custGeom>
              <a:avLst/>
              <a:gdLst>
                <a:gd name="connsiteX0" fmla="*/ 0 w 149274"/>
                <a:gd name="connsiteY0" fmla="*/ 0 h 2466074"/>
                <a:gd name="connsiteX1" fmla="*/ 149274 w 149274"/>
                <a:gd name="connsiteY1" fmla="*/ 0 h 2466074"/>
                <a:gd name="connsiteX2" fmla="*/ 149274 w 149274"/>
                <a:gd name="connsiteY2" fmla="*/ 2466074 h 2466074"/>
                <a:gd name="connsiteX3" fmla="*/ 0 w 149274"/>
                <a:gd name="connsiteY3" fmla="*/ 2466074 h 2466074"/>
                <a:gd name="connsiteX4" fmla="*/ 0 w 149274"/>
                <a:gd name="connsiteY4" fmla="*/ 0 h 2466074"/>
                <a:gd name="connsiteX0-1" fmla="*/ 0 w 149274"/>
                <a:gd name="connsiteY0-2" fmla="*/ 333375 h 2799449"/>
                <a:gd name="connsiteX1-3" fmla="*/ 149274 w 149274"/>
                <a:gd name="connsiteY1-4" fmla="*/ 0 h 2799449"/>
                <a:gd name="connsiteX2-5" fmla="*/ 149274 w 149274"/>
                <a:gd name="connsiteY2-6" fmla="*/ 2799449 h 2799449"/>
                <a:gd name="connsiteX3-7" fmla="*/ 0 w 149274"/>
                <a:gd name="connsiteY3-8" fmla="*/ 2799449 h 2799449"/>
                <a:gd name="connsiteX4-9" fmla="*/ 0 w 149274"/>
                <a:gd name="connsiteY4-10" fmla="*/ 333375 h 2799449"/>
                <a:gd name="connsiteX0-11" fmla="*/ 0 w 149274"/>
                <a:gd name="connsiteY0-12" fmla="*/ 333375 h 3123299"/>
                <a:gd name="connsiteX1-13" fmla="*/ 149274 w 149274"/>
                <a:gd name="connsiteY1-14" fmla="*/ 0 h 3123299"/>
                <a:gd name="connsiteX2-15" fmla="*/ 146099 w 149274"/>
                <a:gd name="connsiteY2-16" fmla="*/ 3123299 h 3123299"/>
                <a:gd name="connsiteX3-17" fmla="*/ 0 w 149274"/>
                <a:gd name="connsiteY3-18" fmla="*/ 2799449 h 3123299"/>
                <a:gd name="connsiteX4-19" fmla="*/ 0 w 149274"/>
                <a:gd name="connsiteY4-20" fmla="*/ 333375 h 312329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9274" h="3123299">
                  <a:moveTo>
                    <a:pt x="0" y="333375"/>
                  </a:moveTo>
                  <a:lnTo>
                    <a:pt x="149274" y="0"/>
                  </a:lnTo>
                  <a:cubicBezTo>
                    <a:pt x="148216" y="1041100"/>
                    <a:pt x="147157" y="2082199"/>
                    <a:pt x="146099" y="3123299"/>
                  </a:cubicBezTo>
                  <a:lnTo>
                    <a:pt x="0" y="2799449"/>
                  </a:lnTo>
                  <a:lnTo>
                    <a:pt x="0" y="333375"/>
                  </a:lnTo>
                  <a:close/>
                </a:path>
              </a:pathLst>
            </a:custGeom>
            <a:solidFill>
              <a:srgbClr val="005CB0"/>
            </a:solidFill>
            <a:ln>
              <a:noFill/>
            </a:ln>
            <a:scene3d>
              <a:camera prst="orthographicFront"/>
              <a:lightRig rig="threePt" dir="t"/>
            </a:scene3d>
            <a:sp3d/>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pic>
        <p:nvPicPr>
          <p:cNvPr id="3" name="picture 80"/>
          <p:cNvPicPr>
            <a:picLocks noChangeAspect="1"/>
          </p:cNvPicPr>
          <p:nvPr/>
        </p:nvPicPr>
        <p:blipFill>
          <a:blip r:embed="rId7"/>
          <a:stretch>
            <a:fillRect/>
          </a:stretch>
        </p:blipFill>
        <p:spPr>
          <a:xfrm>
            <a:off x="9212985" y="408444"/>
            <a:ext cx="2674215" cy="220702"/>
          </a:xfrm>
          <a:prstGeom prst="rect">
            <a:avLst/>
          </a:prstGeom>
        </p:spPr>
      </p:pic>
      <p:sp>
        <p:nvSpPr>
          <p:cNvPr id="5" name="文本框 4"/>
          <p:cNvSpPr txBox="1"/>
          <p:nvPr/>
        </p:nvSpPr>
        <p:spPr>
          <a:xfrm>
            <a:off x="514350" y="303530"/>
            <a:ext cx="1351280" cy="430530"/>
          </a:xfrm>
          <a:prstGeom prst="rect">
            <a:avLst/>
          </a:prstGeom>
          <a:noFill/>
        </p:spPr>
        <p:txBody>
          <a:bodyPr wrap="none" rtlCol="0" anchor="t">
            <a:spAutoFit/>
          </a:bodyPr>
          <a:lstStyle/>
          <a:p>
            <a:pPr indent="0" algn="l" rtl="0" eaLnBrk="0" fontAlgn="auto">
              <a:lnSpc>
                <a:spcPct val="96000"/>
              </a:lnSpc>
              <a:spcBef>
                <a:spcPts val="0"/>
              </a:spcBef>
            </a:pPr>
            <a:r>
              <a:rPr lang="zh-CN" altLang="en-US" sz="2300" b="1" kern="0" dirty="0">
                <a:cs typeface="+mn-ea"/>
                <a:sym typeface="+mn-lt"/>
              </a:rPr>
              <a:t>当</a:t>
            </a:r>
            <a:r>
              <a:rPr lang="zh-CN" altLang="en-US" sz="2300" b="1" kern="0" dirty="0">
                <a:cs typeface="+mn-ea"/>
                <a:sym typeface="+mn-lt"/>
              </a:rPr>
              <a:t>前成果</a:t>
            </a:r>
            <a:endParaRPr lang="zh-CN" altLang="en-US" sz="2300" b="1" kern="0" dirty="0">
              <a:cs typeface="+mn-ea"/>
              <a:sym typeface="+mn-lt"/>
            </a:endParaRPr>
          </a:p>
        </p:txBody>
      </p:sp>
      <p:sp>
        <p:nvSpPr>
          <p:cNvPr id="7" name="任意多边形 62"/>
          <p:cNvSpPr/>
          <p:nvPr/>
        </p:nvSpPr>
        <p:spPr>
          <a:xfrm>
            <a:off x="304800" y="374015"/>
            <a:ext cx="205740" cy="289560"/>
          </a:xfrm>
          <a:custGeom>
            <a:avLst/>
            <a:gdLst/>
            <a:ahLst/>
            <a:cxnLst>
              <a:cxn ang="3">
                <a:pos x="hc" y="t"/>
              </a:cxn>
              <a:cxn ang="cd2">
                <a:pos x="l" y="vc"/>
              </a:cxn>
              <a:cxn ang="cd4">
                <a:pos x="hc" y="b"/>
              </a:cxn>
              <a:cxn ang="0">
                <a:pos x="r" y="vc"/>
              </a:cxn>
            </a:cxnLst>
            <a:rect l="l" t="t" r="r" b="b"/>
            <a:pathLst>
              <a:path w="324" h="456">
                <a:moveTo>
                  <a:pt x="82" y="0"/>
                </a:moveTo>
                <a:lnTo>
                  <a:pt x="324" y="0"/>
                </a:lnTo>
                <a:lnTo>
                  <a:pt x="324" y="456"/>
                </a:lnTo>
                <a:lnTo>
                  <a:pt x="82" y="456"/>
                </a:lnTo>
                <a:lnTo>
                  <a:pt x="82" y="0"/>
                </a:lnTo>
                <a:close/>
                <a:moveTo>
                  <a:pt x="0" y="0"/>
                </a:moveTo>
                <a:lnTo>
                  <a:pt x="37" y="0"/>
                </a:lnTo>
                <a:lnTo>
                  <a:pt x="37" y="456"/>
                </a:lnTo>
                <a:lnTo>
                  <a:pt x="0" y="456"/>
                </a:lnTo>
                <a:lnTo>
                  <a:pt x="0" y="0"/>
                </a:lnTo>
                <a:close/>
              </a:path>
            </a:pathLst>
          </a:custGeom>
          <a:solidFill>
            <a:srgbClr val="0070D8"/>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cs typeface="+mn-ea"/>
              <a:sym typeface="+mn-lt"/>
            </a:endParaRPr>
          </a:p>
        </p:txBody>
      </p:sp>
      <p:sp>
        <p:nvSpPr>
          <p:cNvPr id="12" name="文本框 62"/>
          <p:cNvSpPr txBox="1"/>
          <p:nvPr>
            <p:custDataLst>
              <p:tags r:id="rId8"/>
            </p:custDataLst>
          </p:nvPr>
        </p:nvSpPr>
        <p:spPr>
          <a:xfrm>
            <a:off x="304800" y="2125420"/>
            <a:ext cx="367030" cy="368935"/>
          </a:xfrm>
          <a:prstGeom prst="rect">
            <a:avLst/>
          </a:prstGeom>
          <a:noFill/>
          <a:ln w="19050" cmpd="sng">
            <a:noFill/>
            <a:prstDash val="solid"/>
          </a:ln>
          <a:effectLst/>
        </p:spPr>
        <p:txBody>
          <a:bodyPr wrap="none" lIns="0" tIns="0" rIns="0" bIns="0"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schemeClr val="bg1">
                    <a:alpha val="40000"/>
                  </a:schemeClr>
                </a:solidFill>
                <a:effectLst/>
                <a:uLnTx/>
                <a:uFillTx/>
                <a:latin typeface="MiSans" pitchFamily="2" charset="-122"/>
                <a:ea typeface="MiSans" pitchFamily="2" charset="-122"/>
                <a:cs typeface="MiSans" pitchFamily="2" charset="-122"/>
                <a:sym typeface="+mn-lt"/>
              </a:rPr>
              <a:t>02</a:t>
            </a:r>
            <a:endParaRPr kumimoji="0" lang="zh-CN" altLang="en-US" sz="2400" b="1" i="0" u="none" strike="noStrike" kern="0" cap="none" spc="0" normalizeH="0" baseline="0" noProof="0" dirty="0">
              <a:ln>
                <a:noFill/>
              </a:ln>
              <a:solidFill>
                <a:schemeClr val="bg1">
                  <a:alpha val="40000"/>
                </a:schemeClr>
              </a:solidFill>
              <a:effectLst/>
              <a:uLnTx/>
              <a:uFillTx/>
              <a:latin typeface="MiSans" pitchFamily="2" charset="-122"/>
              <a:ea typeface="MiSans" pitchFamily="2" charset="-122"/>
              <a:cs typeface="MiSans" pitchFamily="2" charset="-122"/>
              <a:sym typeface="+mn-lt"/>
            </a:endParaRPr>
          </a:p>
        </p:txBody>
      </p:sp>
      <p:sp>
        <p:nvSpPr>
          <p:cNvPr id="18" name="文本框 62"/>
          <p:cNvSpPr txBox="1"/>
          <p:nvPr>
            <p:custDataLst>
              <p:tags r:id="rId9"/>
            </p:custDataLst>
          </p:nvPr>
        </p:nvSpPr>
        <p:spPr>
          <a:xfrm>
            <a:off x="4337810" y="1953970"/>
            <a:ext cx="308610" cy="368935"/>
          </a:xfrm>
          <a:prstGeom prst="rect">
            <a:avLst/>
          </a:prstGeom>
          <a:noFill/>
          <a:ln w="19050" cmpd="sng">
            <a:noFill/>
            <a:prstDash val="solid"/>
          </a:ln>
          <a:effectLst/>
        </p:spPr>
        <p:txBody>
          <a:bodyPr wrap="none" lIns="0" tIns="0" rIns="0" bIns="0"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schemeClr val="bg1">
                    <a:alpha val="40000"/>
                  </a:schemeClr>
                </a:solidFill>
                <a:effectLst/>
                <a:uLnTx/>
                <a:uFillTx/>
                <a:latin typeface="MiSans" pitchFamily="2" charset="-122"/>
                <a:ea typeface="MiSans" pitchFamily="2" charset="-122"/>
                <a:cs typeface="MiSans" pitchFamily="2" charset="-122"/>
                <a:sym typeface="+mn-lt"/>
              </a:rPr>
              <a:t>01</a:t>
            </a:r>
            <a:endParaRPr kumimoji="0" lang="zh-CN" altLang="en-US" sz="2400" b="1" i="0" u="none" strike="noStrike" kern="0" cap="none" spc="0" normalizeH="0" baseline="0" noProof="0" dirty="0">
              <a:ln>
                <a:noFill/>
              </a:ln>
              <a:solidFill>
                <a:schemeClr val="bg1">
                  <a:alpha val="40000"/>
                </a:schemeClr>
              </a:solidFill>
              <a:effectLst/>
              <a:uLnTx/>
              <a:uFillTx/>
              <a:latin typeface="MiSans" pitchFamily="2" charset="-122"/>
              <a:ea typeface="MiSans" pitchFamily="2" charset="-122"/>
              <a:cs typeface="MiSans" pitchFamily="2" charset="-122"/>
              <a:sym typeface="+mn-lt"/>
            </a:endParaRPr>
          </a:p>
        </p:txBody>
      </p:sp>
      <p:sp>
        <p:nvSpPr>
          <p:cNvPr id="28" name="文本框 62"/>
          <p:cNvSpPr txBox="1"/>
          <p:nvPr>
            <p:custDataLst>
              <p:tags r:id="rId10"/>
            </p:custDataLst>
          </p:nvPr>
        </p:nvSpPr>
        <p:spPr>
          <a:xfrm>
            <a:off x="8312184" y="2159511"/>
            <a:ext cx="403957" cy="369332"/>
          </a:xfrm>
          <a:prstGeom prst="rect">
            <a:avLst/>
          </a:prstGeom>
          <a:noFill/>
          <a:ln w="19050" cmpd="sng">
            <a:noFill/>
            <a:prstDash val="solid"/>
          </a:ln>
          <a:effectLst/>
        </p:spPr>
        <p:txBody>
          <a:bodyPr wrap="none" lIns="0" tIns="0" rIns="0" bIns="0"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schemeClr val="bg1">
                    <a:alpha val="40000"/>
                  </a:schemeClr>
                </a:solidFill>
                <a:effectLst/>
                <a:uLnTx/>
                <a:uFillTx/>
                <a:latin typeface="MiSans" pitchFamily="2" charset="-122"/>
                <a:ea typeface="MiSans" pitchFamily="2" charset="-122"/>
                <a:cs typeface="MiSans" pitchFamily="2" charset="-122"/>
                <a:sym typeface="+mn-lt"/>
              </a:rPr>
              <a:t>03</a:t>
            </a:r>
            <a:endParaRPr kumimoji="0" lang="zh-CN" altLang="en-US" sz="2400" b="1" i="0" u="none" strike="noStrike" kern="0" cap="none" spc="0" normalizeH="0" baseline="0" noProof="0" dirty="0">
              <a:ln>
                <a:noFill/>
              </a:ln>
              <a:solidFill>
                <a:schemeClr val="bg1">
                  <a:alpha val="40000"/>
                </a:schemeClr>
              </a:solidFill>
              <a:effectLst/>
              <a:uLnTx/>
              <a:uFillTx/>
              <a:latin typeface="MiSans" pitchFamily="2" charset="-122"/>
              <a:ea typeface="MiSans" pitchFamily="2" charset="-122"/>
              <a:cs typeface="MiSans" pitchFamily="2" charset="-122"/>
              <a:sym typeface="+mn-lt"/>
            </a:endParaRPr>
          </a:p>
        </p:txBody>
      </p:sp>
      <p:grpSp>
        <p:nvGrpSpPr>
          <p:cNvPr id="86" name="组合 85"/>
          <p:cNvGrpSpPr/>
          <p:nvPr>
            <p:custDataLst>
              <p:tags r:id="rId11"/>
            </p:custDataLst>
          </p:nvPr>
        </p:nvGrpSpPr>
        <p:grpSpPr>
          <a:xfrm>
            <a:off x="618911" y="2176854"/>
            <a:ext cx="2936821" cy="312031"/>
            <a:chOff x="304800" y="3264933"/>
            <a:chExt cx="3636000" cy="386317"/>
          </a:xfrm>
        </p:grpSpPr>
        <p:sp>
          <p:nvSpPr>
            <p:cNvPr id="46" name="文本框 27"/>
            <p:cNvSpPr txBox="1"/>
            <p:nvPr>
              <p:custDataLst>
                <p:tags r:id="rId12"/>
              </p:custDataLst>
            </p:nvPr>
          </p:nvSpPr>
          <p:spPr>
            <a:xfrm>
              <a:off x="418009" y="3264933"/>
              <a:ext cx="1197347" cy="274376"/>
            </a:xfrm>
            <a:prstGeom prst="rect">
              <a:avLst/>
            </a:prstGeom>
            <a:noFill/>
          </p:spPr>
          <p:txBody>
            <a:bodyPr wrap="none" lIns="0" tIns="0" rIns="0" bIns="0" rtlCol="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rtl="0" eaLnBrk="0" fontAlgn="auto">
                <a:lnSpc>
                  <a:spcPct val="96000"/>
                </a:lnSpc>
                <a:spcBef>
                  <a:spcPts val="0"/>
                </a:spcBef>
              </a:pPr>
              <a:r>
                <a:rPr lang="zh-CN" altLang="en-US" sz="1400" b="1" kern="0" spc="80" dirty="0">
                  <a:solidFill>
                    <a:schemeClr val="bg1"/>
                  </a:solidFill>
                  <a:latin typeface="微软雅黑" panose="020B0503020204020204" charset="-122"/>
                  <a:ea typeface="微软雅黑" panose="020B0503020204020204" charset="-122"/>
                  <a:cs typeface="微软雅黑" panose="020B0503020204020204" charset="-122"/>
                  <a:sym typeface="+mn-ea"/>
                </a:rPr>
                <a:t>地铁区间</a:t>
              </a:r>
              <a:r>
                <a:rPr lang="zh-CN" altLang="en-US" sz="1400" b="1" kern="0" spc="80" dirty="0">
                  <a:solidFill>
                    <a:schemeClr val="bg1"/>
                  </a:solidFill>
                  <a:latin typeface="微软雅黑" panose="020B0503020204020204" charset="-122"/>
                  <a:ea typeface="微软雅黑" panose="020B0503020204020204" charset="-122"/>
                  <a:cs typeface="微软雅黑" panose="020B0503020204020204" charset="-122"/>
                  <a:sym typeface="+mn-ea"/>
                </a:rPr>
                <a:t>隧道</a:t>
              </a:r>
              <a:endParaRPr lang="zh-CN" altLang="en-US" sz="1400" b="1" kern="0" spc="80"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cxnSp>
          <p:nvCxnSpPr>
            <p:cNvPr id="47" name="直接连接符 46"/>
            <p:cNvCxnSpPr/>
            <p:nvPr>
              <p:custDataLst>
                <p:tags r:id="rId13"/>
              </p:custDataLst>
            </p:nvPr>
          </p:nvCxnSpPr>
          <p:spPr>
            <a:xfrm>
              <a:off x="304800" y="3651250"/>
              <a:ext cx="3636000" cy="0"/>
            </a:xfrm>
            <a:prstGeom prst="line">
              <a:avLst/>
            </a:prstGeom>
            <a:ln w="25400">
              <a:gradFill>
                <a:gsLst>
                  <a:gs pos="0">
                    <a:schemeClr val="bg1">
                      <a:alpha val="0"/>
                    </a:schemeClr>
                  </a:gs>
                  <a:gs pos="25000">
                    <a:schemeClr val="bg1"/>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24" name="组合 23"/>
          <p:cNvGrpSpPr/>
          <p:nvPr>
            <p:custDataLst>
              <p:tags r:id="rId14"/>
            </p:custDataLst>
          </p:nvPr>
        </p:nvGrpSpPr>
        <p:grpSpPr>
          <a:xfrm>
            <a:off x="8575074" y="2199714"/>
            <a:ext cx="2936821" cy="289171"/>
            <a:chOff x="304800" y="3293235"/>
            <a:chExt cx="3636000" cy="358015"/>
          </a:xfrm>
        </p:grpSpPr>
        <p:sp>
          <p:nvSpPr>
            <p:cNvPr id="25" name="文本框 27"/>
            <p:cNvSpPr txBox="1"/>
            <p:nvPr>
              <p:custDataLst>
                <p:tags r:id="rId15"/>
              </p:custDataLst>
            </p:nvPr>
          </p:nvSpPr>
          <p:spPr>
            <a:xfrm>
              <a:off x="474612" y="3293235"/>
              <a:ext cx="930833" cy="255507"/>
            </a:xfrm>
            <a:prstGeom prst="rect">
              <a:avLst/>
            </a:prstGeom>
            <a:noFill/>
          </p:spPr>
          <p:txBody>
            <a:bodyPr wrap="none" lIns="0" tIns="0" rIns="0" bIns="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rtl="0" eaLnBrk="0" fontAlgn="auto">
                <a:lnSpc>
                  <a:spcPct val="96000"/>
                </a:lnSpc>
                <a:spcBef>
                  <a:spcPts val="0"/>
                </a:spcBef>
              </a:pPr>
              <a:r>
                <a:rPr lang="zh-CN" altLang="en-US" sz="1400" b="1" kern="0" spc="80" dirty="0">
                  <a:solidFill>
                    <a:schemeClr val="bg1"/>
                  </a:solidFill>
                  <a:latin typeface="微软雅黑" panose="020B0503020204020204" charset="-122"/>
                  <a:ea typeface="微软雅黑" panose="020B0503020204020204" charset="-122"/>
                  <a:cs typeface="微软雅黑" panose="020B0503020204020204" charset="-122"/>
                  <a:sym typeface="+mn-ea"/>
                </a:rPr>
                <a:t>地下管线</a:t>
              </a:r>
              <a:endParaRPr lang="zh-CN" altLang="en-US" sz="1400" b="1" kern="0" spc="80"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cxnSp>
          <p:nvCxnSpPr>
            <p:cNvPr id="26" name="直接连接符 25"/>
            <p:cNvCxnSpPr/>
            <p:nvPr>
              <p:custDataLst>
                <p:tags r:id="rId16"/>
              </p:custDataLst>
            </p:nvPr>
          </p:nvCxnSpPr>
          <p:spPr>
            <a:xfrm>
              <a:off x="304800" y="3651250"/>
              <a:ext cx="3636000" cy="0"/>
            </a:xfrm>
            <a:prstGeom prst="line">
              <a:avLst/>
            </a:prstGeom>
            <a:ln w="25400">
              <a:gradFill>
                <a:gsLst>
                  <a:gs pos="0">
                    <a:schemeClr val="bg1">
                      <a:alpha val="0"/>
                    </a:schemeClr>
                  </a:gs>
                  <a:gs pos="25000">
                    <a:schemeClr val="bg1"/>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85" name="组合 84"/>
          <p:cNvGrpSpPr/>
          <p:nvPr>
            <p:custDataLst>
              <p:tags r:id="rId17"/>
            </p:custDataLst>
          </p:nvPr>
        </p:nvGrpSpPr>
        <p:grpSpPr>
          <a:xfrm>
            <a:off x="4272600" y="2013487"/>
            <a:ext cx="3636000" cy="273287"/>
            <a:chOff x="4615202" y="3377963"/>
            <a:chExt cx="3636000" cy="273287"/>
          </a:xfrm>
        </p:grpSpPr>
        <p:sp>
          <p:nvSpPr>
            <p:cNvPr id="77" name="文本框 27"/>
            <p:cNvSpPr txBox="1"/>
            <p:nvPr>
              <p:custDataLst>
                <p:tags r:id="rId18"/>
              </p:custDataLst>
            </p:nvPr>
          </p:nvSpPr>
          <p:spPr>
            <a:xfrm>
              <a:off x="5046367" y="3377963"/>
              <a:ext cx="751840" cy="206375"/>
            </a:xfrm>
            <a:prstGeom prst="rect">
              <a:avLst/>
            </a:prstGeom>
            <a:noFill/>
          </p:spPr>
          <p:txBody>
            <a:bodyPr wrap="none" lIns="0" tIns="0" rIns="0" bIns="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l" rtl="0" eaLnBrk="0" fontAlgn="auto">
                <a:lnSpc>
                  <a:spcPct val="96000"/>
                </a:lnSpc>
                <a:spcBef>
                  <a:spcPts val="0"/>
                </a:spcBef>
              </a:pPr>
              <a:r>
                <a:rPr lang="zh-CN" altLang="en-US" sz="1400" b="1" kern="0" spc="80" dirty="0">
                  <a:solidFill>
                    <a:schemeClr val="bg1"/>
                  </a:solidFill>
                  <a:latin typeface="微软雅黑" panose="020B0503020204020204" charset="-122"/>
                  <a:ea typeface="微软雅黑" panose="020B0503020204020204" charset="-122"/>
                  <a:cs typeface="微软雅黑" panose="020B0503020204020204" charset="-122"/>
                  <a:sym typeface="+mn-ea"/>
                </a:rPr>
                <a:t>公共道路</a:t>
              </a:r>
              <a:endParaRPr lang="zh-CN" altLang="en-US" sz="1400" b="1" kern="0" spc="80"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cxnSp>
          <p:nvCxnSpPr>
            <p:cNvPr id="78" name="直接连接符 77"/>
            <p:cNvCxnSpPr/>
            <p:nvPr>
              <p:custDataLst>
                <p:tags r:id="rId19"/>
              </p:custDataLst>
            </p:nvPr>
          </p:nvCxnSpPr>
          <p:spPr>
            <a:xfrm>
              <a:off x="4615202" y="3651250"/>
              <a:ext cx="3636000" cy="0"/>
            </a:xfrm>
            <a:prstGeom prst="line">
              <a:avLst/>
            </a:prstGeom>
            <a:ln w="25400">
              <a:gradFill>
                <a:gsLst>
                  <a:gs pos="0">
                    <a:schemeClr val="bg1">
                      <a:alpha val="0"/>
                    </a:schemeClr>
                  </a:gs>
                  <a:gs pos="25000">
                    <a:schemeClr val="bg1"/>
                  </a:gs>
                </a:gsLst>
                <a:lin ang="0" scaled="0"/>
              </a:gradFill>
            </a:ln>
          </p:spPr>
          <p:style>
            <a:lnRef idx="1">
              <a:schemeClr val="accent1"/>
            </a:lnRef>
            <a:fillRef idx="0">
              <a:schemeClr val="accent1"/>
            </a:fillRef>
            <a:effectRef idx="0">
              <a:schemeClr val="accent1"/>
            </a:effectRef>
            <a:fontRef idx="minor">
              <a:schemeClr val="tx1"/>
            </a:fontRef>
          </p:style>
        </p:cxnSp>
      </p:grpSp>
      <p:sp>
        <p:nvSpPr>
          <p:cNvPr id="55" name="Text 15"/>
          <p:cNvSpPr/>
          <p:nvPr/>
        </p:nvSpPr>
        <p:spPr>
          <a:xfrm>
            <a:off x="3737610" y="4966970"/>
            <a:ext cx="4837430" cy="1358265"/>
          </a:xfrm>
          <a:prstGeom prst="rect">
            <a:avLst/>
          </a:prstGeom>
          <a:ln>
            <a:noFill/>
          </a:ln>
        </p:spPr>
        <p:style>
          <a:lnRef idx="3">
            <a:schemeClr val="accent1"/>
          </a:lnRef>
          <a:fillRef idx="0">
            <a:srgbClr val="FFFFFF"/>
          </a:fillRef>
          <a:effectRef idx="0">
            <a:srgbClr val="FFFFFF"/>
          </a:effectRef>
          <a:fontRef idx="minor">
            <a:schemeClr val="tx1"/>
          </a:fontRef>
        </p:style>
        <p:txBody>
          <a:bodyPr wrap="square" lIns="0" tIns="0" rIns="0" bIns="0" rtlCol="0" anchor="ctr">
            <a:noAutofit/>
          </a:bodyPr>
          <a:lstStyle/>
          <a:p>
            <a:pPr marL="0" indent="0" algn="ctr">
              <a:buNone/>
            </a:pPr>
            <a:r>
              <a:rPr lang="zh-CN" altLang="en-US" sz="1400" b="1" dirty="0">
                <a:solidFill>
                  <a:schemeClr val="tx1"/>
                </a:solidFill>
                <a:latin typeface="微软雅黑" panose="020B0503020204020204" charset="-122"/>
                <a:ea typeface="微软雅黑" panose="020B0503020204020204" charset="-122"/>
                <a:cs typeface="微软雅黑" panose="020B0503020204020204" pitchFamily="34" charset="-120"/>
              </a:rPr>
              <a:t>公共</a:t>
            </a:r>
            <a:r>
              <a:rPr lang="en-US" sz="1400" b="1" dirty="0">
                <a:solidFill>
                  <a:schemeClr val="tx1"/>
                </a:solidFill>
                <a:latin typeface="微软雅黑" panose="020B0503020204020204" charset="-122"/>
                <a:ea typeface="微软雅黑" panose="020B0503020204020204" charset="-122"/>
                <a:cs typeface="微软雅黑" panose="020B0503020204020204" pitchFamily="34" charset="-120"/>
              </a:rPr>
              <a:t>道路成果：</a:t>
            </a:r>
            <a:endParaRPr lang="en-US" sz="1400" b="1" dirty="0">
              <a:solidFill>
                <a:schemeClr val="tx1"/>
              </a:solidFill>
              <a:latin typeface="微软雅黑" panose="020B0503020204020204" charset="-122"/>
              <a:ea typeface="微软雅黑" panose="020B0503020204020204" charset="-122"/>
              <a:cs typeface="微软雅黑" panose="020B0503020204020204" pitchFamily="34" charset="-120"/>
            </a:endParaRPr>
          </a:p>
          <a:p>
            <a:pPr marL="0" indent="0" algn="ctr">
              <a:buNone/>
            </a:pPr>
            <a:r>
              <a:rPr lang="en-US" sz="1400" b="1" dirty="0">
                <a:solidFill>
                  <a:schemeClr val="tx1"/>
                </a:solidFill>
                <a:latin typeface="微软雅黑" panose="020B0503020204020204" charset="-122"/>
                <a:ea typeface="微软雅黑" panose="020B0503020204020204" charset="-122"/>
                <a:cs typeface="微软雅黑" panose="020B0503020204020204" pitchFamily="34" charset="-120"/>
              </a:rPr>
              <a:t>车行道、人行道、绿化带、路缘与道路附属对象</a:t>
            </a:r>
            <a:endParaRPr lang="en-US" sz="1400" b="1" dirty="0">
              <a:solidFill>
                <a:schemeClr val="tx1"/>
              </a:solidFill>
              <a:latin typeface="微软雅黑" panose="020B0503020204020204" charset="-122"/>
              <a:ea typeface="微软雅黑" panose="020B0503020204020204" charset="-122"/>
              <a:cs typeface="微软雅黑" panose="020B0503020204020204" pitchFamily="34" charset="-120"/>
            </a:endParaRPr>
          </a:p>
        </p:txBody>
      </p:sp>
      <p:sp>
        <p:nvSpPr>
          <p:cNvPr id="57" name="Text 15"/>
          <p:cNvSpPr/>
          <p:nvPr/>
        </p:nvSpPr>
        <p:spPr>
          <a:xfrm>
            <a:off x="-454025" y="4966970"/>
            <a:ext cx="4837430" cy="1358265"/>
          </a:xfrm>
          <a:prstGeom prst="rect">
            <a:avLst/>
          </a:prstGeom>
          <a:ln>
            <a:noFill/>
          </a:ln>
        </p:spPr>
        <p:style>
          <a:lnRef idx="3">
            <a:schemeClr val="accent1"/>
          </a:lnRef>
          <a:fillRef idx="0">
            <a:srgbClr val="FFFFFF"/>
          </a:fillRef>
          <a:effectRef idx="0">
            <a:srgbClr val="FFFFFF"/>
          </a:effectRef>
          <a:fontRef idx="minor">
            <a:schemeClr val="tx1"/>
          </a:fontRef>
        </p:style>
        <p:txBody>
          <a:bodyPr wrap="square" lIns="0" tIns="0" rIns="0" bIns="0" rtlCol="0" anchor="ctr">
            <a:noAutofit/>
          </a:bodyPr>
          <a:lstStyle/>
          <a:p>
            <a:pPr marL="0" indent="0" algn="ctr">
              <a:buNone/>
            </a:pPr>
            <a:r>
              <a:rPr lang="zh-CN" altLang="en-US" sz="1400" b="1" dirty="0">
                <a:solidFill>
                  <a:schemeClr val="tx1"/>
                </a:solidFill>
                <a:latin typeface="微软雅黑" panose="020B0503020204020204" charset="-122"/>
                <a:ea typeface="微软雅黑" panose="020B0503020204020204" charset="-122"/>
                <a:cs typeface="微软雅黑" panose="020B0503020204020204" pitchFamily="34" charset="-120"/>
              </a:rPr>
              <a:t>地铁区间隧道</a:t>
            </a:r>
            <a:r>
              <a:rPr lang="en-US" sz="1400" b="1" dirty="0">
                <a:solidFill>
                  <a:schemeClr val="tx1"/>
                </a:solidFill>
                <a:latin typeface="微软雅黑" panose="020B0503020204020204" charset="-122"/>
                <a:ea typeface="微软雅黑" panose="020B0503020204020204" charset="-122"/>
                <a:cs typeface="微软雅黑" panose="020B0503020204020204" pitchFamily="34" charset="-120"/>
              </a:rPr>
              <a:t>成果：</a:t>
            </a:r>
            <a:endParaRPr lang="en-US" sz="1400" b="1" dirty="0">
              <a:solidFill>
                <a:schemeClr val="tx1"/>
              </a:solidFill>
              <a:latin typeface="微软雅黑" panose="020B0503020204020204" charset="-122"/>
              <a:ea typeface="微软雅黑" panose="020B0503020204020204" charset="-122"/>
              <a:cs typeface="微软雅黑" panose="020B0503020204020204" pitchFamily="34" charset="-120"/>
            </a:endParaRPr>
          </a:p>
          <a:p>
            <a:pPr marL="0" indent="0" algn="ctr">
              <a:buNone/>
            </a:pPr>
            <a:r>
              <a:rPr lang="zh-CN" altLang="en-US" sz="1400" b="1" dirty="0">
                <a:solidFill>
                  <a:schemeClr val="tx1"/>
                </a:solidFill>
                <a:latin typeface="微软雅黑" panose="020B0503020204020204" charset="-122"/>
                <a:ea typeface="微软雅黑" panose="020B0503020204020204" charset="-122"/>
                <a:cs typeface="微软雅黑" panose="020B0503020204020204" pitchFamily="34" charset="-120"/>
              </a:rPr>
              <a:t>结构、轨道、疏散、机电与通信专业构件</a:t>
            </a:r>
            <a:endParaRPr lang="zh-CN" altLang="en-US" sz="1400" b="1" dirty="0">
              <a:solidFill>
                <a:schemeClr val="tx1"/>
              </a:solidFill>
              <a:latin typeface="微软雅黑" panose="020B0503020204020204" charset="-122"/>
              <a:ea typeface="微软雅黑" panose="020B0503020204020204" charset="-122"/>
              <a:cs typeface="微软雅黑" panose="020B0503020204020204" pitchFamily="34" charset="-120"/>
            </a:endParaRPr>
          </a:p>
          <a:p>
            <a:pPr marL="0" indent="0" algn="ctr">
              <a:buNone/>
            </a:pPr>
            <a:endParaRPr lang="zh-CN" altLang="en-US" sz="1400" b="1" dirty="0">
              <a:solidFill>
                <a:schemeClr val="tx1"/>
              </a:solidFill>
              <a:latin typeface="微软雅黑" panose="020B0503020204020204" charset="-122"/>
              <a:ea typeface="微软雅黑" panose="020B0503020204020204" charset="-122"/>
              <a:cs typeface="微软雅黑" panose="020B0503020204020204" pitchFamily="34" charset="-120"/>
            </a:endParaRPr>
          </a:p>
        </p:txBody>
      </p:sp>
      <p:sp>
        <p:nvSpPr>
          <p:cNvPr id="58" name="Text 15"/>
          <p:cNvSpPr/>
          <p:nvPr/>
        </p:nvSpPr>
        <p:spPr>
          <a:xfrm>
            <a:off x="7625080" y="4966970"/>
            <a:ext cx="4837430" cy="1358265"/>
          </a:xfrm>
          <a:prstGeom prst="rect">
            <a:avLst/>
          </a:prstGeom>
          <a:ln>
            <a:noFill/>
          </a:ln>
        </p:spPr>
        <p:style>
          <a:lnRef idx="3">
            <a:schemeClr val="accent1"/>
          </a:lnRef>
          <a:fillRef idx="0">
            <a:srgbClr val="FFFFFF"/>
          </a:fillRef>
          <a:effectRef idx="0">
            <a:srgbClr val="FFFFFF"/>
          </a:effectRef>
          <a:fontRef idx="minor">
            <a:schemeClr val="tx1"/>
          </a:fontRef>
        </p:style>
        <p:txBody>
          <a:bodyPr wrap="square" lIns="0" tIns="0" rIns="0" bIns="0" rtlCol="0" anchor="ctr">
            <a:noAutofit/>
          </a:bodyPr>
          <a:lstStyle/>
          <a:p>
            <a:pPr marL="0" indent="0" algn="ctr">
              <a:buNone/>
            </a:pPr>
            <a:endParaRPr lang="zh-CN" altLang="en-US" sz="1400" b="1" dirty="0">
              <a:solidFill>
                <a:schemeClr val="tx1"/>
              </a:solidFill>
              <a:latin typeface="微软雅黑" panose="020B0503020204020204" charset="-122"/>
              <a:ea typeface="微软雅黑" panose="020B0503020204020204" charset="-122"/>
              <a:cs typeface="微软雅黑" panose="020B0503020204020204" pitchFamily="34" charset="-120"/>
            </a:endParaRPr>
          </a:p>
          <a:p>
            <a:pPr marL="0" indent="0" algn="ctr">
              <a:buNone/>
            </a:pPr>
            <a:endParaRPr lang="zh-CN" altLang="en-US" sz="1400" b="1" dirty="0">
              <a:solidFill>
                <a:schemeClr val="tx1"/>
              </a:solidFill>
              <a:latin typeface="微软雅黑" panose="020B0503020204020204" charset="-122"/>
              <a:ea typeface="微软雅黑" panose="020B0503020204020204" charset="-122"/>
              <a:cs typeface="微软雅黑" panose="020B0503020204020204" pitchFamily="34" charset="-120"/>
            </a:endParaRPr>
          </a:p>
        </p:txBody>
      </p:sp>
      <p:sp>
        <p:nvSpPr>
          <p:cNvPr id="61" name="Text 15"/>
          <p:cNvSpPr/>
          <p:nvPr/>
        </p:nvSpPr>
        <p:spPr>
          <a:xfrm>
            <a:off x="7658100" y="4966970"/>
            <a:ext cx="4837430" cy="1358265"/>
          </a:xfrm>
          <a:prstGeom prst="rect">
            <a:avLst/>
          </a:prstGeom>
          <a:ln>
            <a:noFill/>
          </a:ln>
        </p:spPr>
        <p:style>
          <a:lnRef idx="3">
            <a:schemeClr val="accent1"/>
          </a:lnRef>
          <a:fillRef idx="0">
            <a:srgbClr val="FFFFFF"/>
          </a:fillRef>
          <a:effectRef idx="0">
            <a:srgbClr val="FFFFFF"/>
          </a:effectRef>
          <a:fontRef idx="minor">
            <a:schemeClr val="tx1"/>
          </a:fontRef>
        </p:style>
        <p:txBody>
          <a:bodyPr wrap="square" lIns="0" tIns="0" rIns="0" bIns="0" rtlCol="0" anchor="ctr">
            <a:noAutofit/>
          </a:bodyPr>
          <a:lstStyle/>
          <a:p>
            <a:pPr marL="0" indent="0" algn="ctr">
              <a:buNone/>
            </a:pPr>
            <a:r>
              <a:rPr lang="zh-CN" altLang="en-US" sz="1400" b="1" dirty="0">
                <a:solidFill>
                  <a:schemeClr val="tx1"/>
                </a:solidFill>
                <a:latin typeface="微软雅黑" panose="020B0503020204020204" charset="-122"/>
                <a:ea typeface="微软雅黑" panose="020B0503020204020204" charset="-122"/>
                <a:cs typeface="微软雅黑" panose="020B0503020204020204" pitchFamily="34" charset="-120"/>
              </a:rPr>
              <a:t>地下管线</a:t>
            </a:r>
            <a:r>
              <a:rPr lang="en-US" sz="1400" b="1" dirty="0">
                <a:solidFill>
                  <a:schemeClr val="tx1"/>
                </a:solidFill>
                <a:latin typeface="微软雅黑" panose="020B0503020204020204" charset="-122"/>
                <a:ea typeface="微软雅黑" panose="020B0503020204020204" charset="-122"/>
                <a:cs typeface="微软雅黑" panose="020B0503020204020204" pitchFamily="34" charset="-120"/>
              </a:rPr>
              <a:t>成果：</a:t>
            </a:r>
            <a:endParaRPr lang="en-US" sz="1400" b="1" dirty="0">
              <a:solidFill>
                <a:schemeClr val="tx1"/>
              </a:solidFill>
              <a:latin typeface="微软雅黑" panose="020B0503020204020204" charset="-122"/>
              <a:ea typeface="微软雅黑" panose="020B0503020204020204" charset="-122"/>
              <a:cs typeface="微软雅黑" panose="020B0503020204020204" pitchFamily="34" charset="-120"/>
            </a:endParaRPr>
          </a:p>
          <a:p>
            <a:pPr marL="0" indent="0" algn="ctr">
              <a:buNone/>
            </a:pPr>
            <a:r>
              <a:rPr lang="zh-CN" altLang="en-US" sz="1400" b="1" dirty="0">
                <a:solidFill>
                  <a:schemeClr val="tx1"/>
                </a:solidFill>
                <a:latin typeface="微软雅黑" panose="020B0503020204020204" charset="-122"/>
                <a:ea typeface="微软雅黑" panose="020B0503020204020204" charset="-122"/>
                <a:cs typeface="微软雅黑" panose="020B0503020204020204" pitchFamily="34" charset="-120"/>
              </a:rPr>
              <a:t>供水管道和污水管道赋予不同的颜色</a:t>
            </a:r>
            <a:endParaRPr lang="zh-CN" altLang="en-US" sz="1400" b="1" dirty="0">
              <a:solidFill>
                <a:schemeClr val="tx1"/>
              </a:solidFill>
              <a:latin typeface="微软雅黑" panose="020B0503020204020204" charset="-122"/>
              <a:ea typeface="微软雅黑" panose="020B0503020204020204" charset="-122"/>
              <a:cs typeface="微软雅黑" panose="020B0503020204020204" pitchFamily="34" charset="-120"/>
            </a:endParaRPr>
          </a:p>
          <a:p>
            <a:pPr marL="0" indent="0" algn="ctr">
              <a:buNone/>
            </a:pPr>
            <a:endParaRPr lang="zh-CN" altLang="en-US" sz="1400" b="1" dirty="0">
              <a:solidFill>
                <a:schemeClr val="tx1"/>
              </a:solidFill>
              <a:latin typeface="微软雅黑" panose="020B0503020204020204" charset="-122"/>
              <a:ea typeface="微软雅黑" panose="020B0503020204020204" charset="-122"/>
              <a:cs typeface="微软雅黑" panose="020B0503020204020204" pitchFamily="34" charset="-120"/>
            </a:endParaRPr>
          </a:p>
        </p:txBody>
      </p:sp>
      <p:pic>
        <p:nvPicPr>
          <p:cNvPr id="66" name="图片 65"/>
          <p:cNvPicPr>
            <a:picLocks noChangeAspect="1"/>
          </p:cNvPicPr>
          <p:nvPr/>
        </p:nvPicPr>
        <p:blipFill>
          <a:blip r:embed="rId20"/>
          <a:stretch>
            <a:fillRect/>
          </a:stretch>
        </p:blipFill>
        <p:spPr>
          <a:xfrm>
            <a:off x="671830" y="2580005"/>
            <a:ext cx="2430145" cy="1895475"/>
          </a:xfrm>
          <a:prstGeom prst="rect">
            <a:avLst/>
          </a:prstGeom>
        </p:spPr>
      </p:pic>
      <p:pic>
        <p:nvPicPr>
          <p:cNvPr id="67" name="图片 66"/>
          <p:cNvPicPr>
            <a:picLocks noChangeAspect="1"/>
          </p:cNvPicPr>
          <p:nvPr/>
        </p:nvPicPr>
        <p:blipFill>
          <a:blip r:embed="rId21"/>
          <a:stretch>
            <a:fillRect/>
          </a:stretch>
        </p:blipFill>
        <p:spPr>
          <a:xfrm>
            <a:off x="4197350" y="2559050"/>
            <a:ext cx="3786505" cy="1798955"/>
          </a:xfrm>
          <a:prstGeom prst="rect">
            <a:avLst/>
          </a:prstGeom>
        </p:spPr>
      </p:pic>
      <p:pic>
        <p:nvPicPr>
          <p:cNvPr id="68" name="图片 67"/>
          <p:cNvPicPr>
            <a:picLocks noChangeAspect="1"/>
          </p:cNvPicPr>
          <p:nvPr/>
        </p:nvPicPr>
        <p:blipFill>
          <a:blip r:embed="rId22"/>
          <a:stretch>
            <a:fillRect/>
          </a:stretch>
        </p:blipFill>
        <p:spPr>
          <a:xfrm>
            <a:off x="8869680" y="2593340"/>
            <a:ext cx="2348865" cy="176339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Rectangle 1"/>
          <p:cNvSpPr/>
          <p:nvPr/>
        </p:nvSpPr>
        <p:spPr>
          <a:xfrm>
            <a:off x="292608" y="356616"/>
            <a:ext cx="82296" cy="256032"/>
          </a:xfrm>
          <a:prstGeom prst="rect">
            <a:avLst/>
          </a:prstGeom>
          <a:solidFill>
            <a:srgbClr val="EF1F37"/>
          </a:solidFill>
          <a:ln w="1270">
            <a:solidFill>
              <a:srgbClr val="EF1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92608" y="612648"/>
            <a:ext cx="82296" cy="182880"/>
          </a:xfrm>
          <a:prstGeom prst="rect">
            <a:avLst/>
          </a:prstGeom>
          <a:solidFill>
            <a:srgbClr val="1070E0"/>
          </a:solidFill>
          <a:ln w="1270">
            <a:solidFill>
              <a:srgbClr val="107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12064" y="274320"/>
            <a:ext cx="6812280" cy="457200"/>
          </a:xfrm>
          <a:prstGeom prst="rect">
            <a:avLst/>
          </a:prstGeom>
          <a:noFill/>
        </p:spPr>
        <p:txBody>
          <a:bodyPr wrap="square" lIns="27432" rIns="27432" tIns="27432" bIns="27432" anchor="ctr">
            <a:spAutoFit/>
          </a:bodyPr>
          <a:lstStyle/>
          <a:p>
            <a:pPr algn="l">
              <a:lnSpc>
                <a:spcPct val="102000"/>
              </a:lnSpc>
              <a:spcAft>
                <a:spcPts val="0"/>
              </a:spcAft>
            </a:pPr>
            <a:r>
              <a:rPr sz="2300" b="1">
                <a:solidFill>
                  <a:srgbClr val="1A2E46"/>
                </a:solidFill>
                <a:latin typeface="Microsoft YaHei"/>
              </a:rPr>
              <a:t>反思：道路路口问题的定位与修正</a:t>
            </a:r>
          </a:p>
        </p:txBody>
      </p:sp>
      <p:sp>
        <p:nvSpPr>
          <p:cNvPr id="5" name="TextBox 4"/>
          <p:cNvSpPr txBox="1"/>
          <p:nvPr/>
        </p:nvSpPr>
        <p:spPr>
          <a:xfrm>
            <a:off x="530352" y="786384"/>
            <a:ext cx="8046720" cy="274320"/>
          </a:xfrm>
          <a:prstGeom prst="rect">
            <a:avLst/>
          </a:prstGeom>
          <a:noFill/>
        </p:spPr>
        <p:txBody>
          <a:bodyPr wrap="square" lIns="27432" rIns="27432" tIns="27432" bIns="27432" anchor="ctr">
            <a:spAutoFit/>
          </a:bodyPr>
          <a:lstStyle/>
          <a:p>
            <a:pPr algn="l">
              <a:lnSpc>
                <a:spcPct val="102000"/>
              </a:lnSpc>
              <a:spcAft>
                <a:spcPts val="0"/>
              </a:spcAft>
            </a:pPr>
            <a:r>
              <a:rPr sz="1050" b="0">
                <a:solidFill>
                  <a:srgbClr val="536982"/>
                </a:solidFill>
                <a:latin typeface="Microsoft YaHei"/>
              </a:rPr>
              <a:t>案例：斜交支路接入主路时，路侧构件未按路口边界收口</a:t>
            </a:r>
          </a:p>
        </p:txBody>
      </p:sp>
      <p:pic>
        <p:nvPicPr>
          <p:cNvPr id="6" name="Picture 5" descr="image.png"/>
          <p:cNvPicPr>
            <a:picLocks noChangeAspect="1"/>
          </p:cNvPicPr>
          <p:nvPr/>
        </p:nvPicPr>
        <p:blipFill>
          <a:blip r:embed="rId22"/>
          <a:stretch>
            <a:fillRect/>
          </a:stretch>
        </p:blipFill>
        <p:spPr>
          <a:xfrm>
            <a:off x="9217152" y="393192"/>
            <a:ext cx="2596896" cy="221012"/>
          </a:xfrm>
          <a:prstGeom prst="rect">
            <a:avLst/>
          </a:prstGeom>
        </p:spPr>
      </p:pic>
      <p:sp>
        <p:nvSpPr>
          <p:cNvPr id="7" name="Rounded Rectangle 6"/>
          <p:cNvSpPr/>
          <p:nvPr/>
        </p:nvSpPr>
        <p:spPr>
          <a:xfrm>
            <a:off x="512064" y="1216152"/>
            <a:ext cx="3346704" cy="3502152"/>
          </a:xfrm>
          <a:prstGeom prst="roundRect">
            <a:avLst>
              <a:gd name="adj" fmla="val 7000"/>
            </a:avLst>
          </a:prstGeom>
          <a:solidFill>
            <a:srgbClr val="FFFFFF"/>
          </a:solidFill>
          <a:ln w="15240">
            <a:solidFill>
              <a:srgbClr val="EF1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12064" y="1216152"/>
            <a:ext cx="3346704" cy="393192"/>
          </a:xfrm>
          <a:prstGeom prst="roundRect">
            <a:avLst>
              <a:gd name="adj" fmla="val 7000"/>
            </a:avLst>
          </a:prstGeom>
          <a:solidFill>
            <a:srgbClr val="FFF1F3"/>
          </a:solidFill>
          <a:ln w="10160">
            <a:solidFill>
              <a:srgbClr val="FFF1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 y="1307592"/>
            <a:ext cx="749808" cy="164592"/>
          </a:xfrm>
          <a:prstGeom prst="rect">
            <a:avLst/>
          </a:prstGeom>
          <a:noFill/>
        </p:spPr>
        <p:txBody>
          <a:bodyPr wrap="square" lIns="27432" rIns="27432" tIns="27432" bIns="27432" anchor="ctr">
            <a:spAutoFit/>
          </a:bodyPr>
          <a:lstStyle/>
          <a:p>
            <a:pPr algn="l">
              <a:lnSpc>
                <a:spcPct val="102000"/>
              </a:lnSpc>
              <a:spcAft>
                <a:spcPts val="0"/>
              </a:spcAft>
            </a:pPr>
            <a:r>
              <a:rPr sz="1100" b="1">
                <a:solidFill>
                  <a:srgbClr val="EF1F37"/>
                </a:solidFill>
                <a:latin typeface="Microsoft YaHei"/>
              </a:rPr>
              <a:t>问题发现</a:t>
            </a:r>
          </a:p>
        </p:txBody>
      </p:sp>
      <p:sp>
        <p:nvSpPr>
          <p:cNvPr id="10" name="TextBox 9"/>
          <p:cNvSpPr txBox="1"/>
          <p:nvPr/>
        </p:nvSpPr>
        <p:spPr>
          <a:xfrm>
            <a:off x="1453896" y="1307592"/>
            <a:ext cx="2176272" cy="164592"/>
          </a:xfrm>
          <a:prstGeom prst="rect">
            <a:avLst/>
          </a:prstGeom>
          <a:noFill/>
        </p:spPr>
        <p:txBody>
          <a:bodyPr wrap="square" lIns="27432" rIns="27432" tIns="27432" bIns="27432" anchor="ctr">
            <a:spAutoFit/>
          </a:bodyPr>
          <a:lstStyle/>
          <a:p>
            <a:pPr algn="r">
              <a:lnSpc>
                <a:spcPct val="102000"/>
              </a:lnSpc>
              <a:spcAft>
                <a:spcPts val="0"/>
              </a:spcAft>
            </a:pPr>
            <a:r>
              <a:rPr sz="900" b="1">
                <a:solidFill>
                  <a:srgbClr val="1A2E46"/>
                </a:solidFill>
                <a:latin typeface="Microsoft YaHei"/>
              </a:rPr>
              <a:t>直线延伸造成穿插与硬折</a:t>
            </a:r>
          </a:p>
        </p:txBody>
      </p:sp>
      <p:pic>
        <p:nvPicPr>
          <p:cNvPr id="11" name="Picture 10" descr="codex-clipboard-93e914ba-7187-438a-ac00-e9317b774306.png"/>
          <p:cNvPicPr>
            <a:picLocks noChangeAspect="1"/>
          </p:cNvPicPr>
          <p:nvPr/>
        </p:nvPicPr>
        <p:blipFill>
          <a:blip r:embed="rId23"/>
          <a:stretch>
            <a:fillRect/>
          </a:stretch>
        </p:blipFill>
        <p:spPr>
          <a:xfrm>
            <a:off x="701286" y="1673352"/>
            <a:ext cx="2968258" cy="2880360"/>
          </a:xfrm>
          <a:prstGeom prst="rect">
            <a:avLst/>
          </a:prstGeom>
        </p:spPr>
      </p:pic>
      <p:sp>
        <p:nvSpPr>
          <p:cNvPr id="12" name="Oval 11"/>
          <p:cNvSpPr/>
          <p:nvPr/>
        </p:nvSpPr>
        <p:spPr>
          <a:xfrm>
            <a:off x="1354303" y="2566263"/>
            <a:ext cx="1454446" cy="1296162"/>
          </a:xfrm>
          <a:prstGeom prst="ellipse">
            <a:avLst/>
          </a:prstGeom>
          <a:noFill/>
          <a:ln w="31750">
            <a:solidFill>
              <a:srgbClr val="EF1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13232" y="4288536"/>
            <a:ext cx="2596896" cy="228600"/>
          </a:xfrm>
          <a:prstGeom prst="roundRect">
            <a:avLst>
              <a:gd name="adj" fmla="val 7000"/>
            </a:avLst>
          </a:prstGeom>
          <a:solidFill>
            <a:srgbClr val="EF1F37"/>
          </a:solidFill>
          <a:ln w="10160">
            <a:solidFill>
              <a:srgbClr val="EF1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4306824"/>
            <a:ext cx="2523744" cy="146304"/>
          </a:xfrm>
          <a:prstGeom prst="rect">
            <a:avLst/>
          </a:prstGeom>
          <a:noFill/>
        </p:spPr>
        <p:txBody>
          <a:bodyPr wrap="square" lIns="27432" rIns="27432" tIns="27432" bIns="27432" anchor="ctr">
            <a:spAutoFit/>
          </a:bodyPr>
          <a:lstStyle/>
          <a:p>
            <a:pPr algn="ctr">
              <a:lnSpc>
                <a:spcPct val="102000"/>
              </a:lnSpc>
              <a:spcAft>
                <a:spcPts val="0"/>
              </a:spcAft>
            </a:pPr>
            <a:r>
              <a:rPr sz="760" b="1">
                <a:solidFill>
                  <a:srgbClr val="FFFFFF"/>
                </a:solidFill>
                <a:latin typeface="Microsoft YaHei"/>
              </a:rPr>
              <a:t>路缘/人行道仍沿原道路方向直线扫掠</a:t>
            </a:r>
          </a:p>
        </p:txBody>
      </p:sp>
      <p:sp>
        <p:nvSpPr>
          <p:cNvPr id="15" name="TextBox 14"/>
          <p:cNvSpPr txBox="1"/>
          <p:nvPr/>
        </p:nvSpPr>
        <p:spPr>
          <a:xfrm>
            <a:off x="4133087" y="1234440"/>
            <a:ext cx="1188720" cy="237744"/>
          </a:xfrm>
          <a:prstGeom prst="rect">
            <a:avLst/>
          </a:prstGeom>
          <a:noFill/>
        </p:spPr>
        <p:txBody>
          <a:bodyPr wrap="square" lIns="27432" rIns="27432" tIns="27432" bIns="27432" anchor="ctr">
            <a:spAutoFit/>
          </a:bodyPr>
          <a:lstStyle/>
          <a:p>
            <a:pPr algn="l">
              <a:lnSpc>
                <a:spcPct val="102000"/>
              </a:lnSpc>
              <a:spcAft>
                <a:spcPts val="0"/>
              </a:spcAft>
            </a:pPr>
            <a:r>
              <a:rPr sz="1120" b="1">
                <a:solidFill>
                  <a:srgbClr val="103258"/>
                </a:solidFill>
                <a:latin typeface="Microsoft YaHei"/>
              </a:rPr>
              <a:t>真实定位过程</a:t>
            </a:r>
          </a:p>
        </p:txBody>
      </p:sp>
      <p:sp>
        <p:nvSpPr>
          <p:cNvPr id="16" name="TextBox 15"/>
          <p:cNvSpPr txBox="1"/>
          <p:nvPr/>
        </p:nvSpPr>
        <p:spPr>
          <a:xfrm>
            <a:off x="5724144" y="1261872"/>
            <a:ext cx="2267712" cy="182880"/>
          </a:xfrm>
          <a:prstGeom prst="rect">
            <a:avLst/>
          </a:prstGeom>
          <a:noFill/>
        </p:spPr>
        <p:txBody>
          <a:bodyPr wrap="square" lIns="27432" rIns="27432" tIns="27432" bIns="27432" anchor="ctr">
            <a:spAutoFit/>
          </a:bodyPr>
          <a:lstStyle/>
          <a:p>
            <a:pPr algn="r">
              <a:lnSpc>
                <a:spcPct val="102000"/>
              </a:lnSpc>
              <a:spcAft>
                <a:spcPts val="0"/>
              </a:spcAft>
            </a:pPr>
            <a:r>
              <a:rPr sz="830" b="0">
                <a:solidFill>
                  <a:srgbClr val="536982"/>
                </a:solidFill>
                <a:latin typeface="Microsoft YaHei"/>
              </a:rPr>
              <a:t>从可见缺陷追溯到几何规则</a:t>
            </a:r>
          </a:p>
        </p:txBody>
      </p:sp>
      <p:sp>
        <p:nvSpPr>
          <p:cNvPr id="17" name="Rounded Rectangle 16"/>
          <p:cNvSpPr/>
          <p:nvPr/>
        </p:nvSpPr>
        <p:spPr>
          <a:xfrm>
            <a:off x="4078224" y="1554480"/>
            <a:ext cx="4023360" cy="557784"/>
          </a:xfrm>
          <a:prstGeom prst="roundRect">
            <a:avLst>
              <a:gd name="adj" fmla="val 7000"/>
            </a:avLst>
          </a:prstGeom>
          <a:solidFill>
            <a:srgbClr val="FFFFFF"/>
          </a:solidFill>
          <a:ln w="8890">
            <a:solidFill>
              <a:srgbClr val="D3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78224" y="1554480"/>
            <a:ext cx="73152" cy="557784"/>
          </a:xfrm>
          <a:prstGeom prst="rect">
            <a:avLst/>
          </a:prstGeom>
          <a:solidFill>
            <a:srgbClr val="1070E0"/>
          </a:solidFill>
          <a:ln w="1270">
            <a:solidFill>
              <a:srgbClr val="107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242816" y="1645920"/>
            <a:ext cx="374904" cy="374904"/>
          </a:xfrm>
          <a:prstGeom prst="ellipse">
            <a:avLst/>
          </a:prstGeom>
          <a:solidFill>
            <a:srgbClr val="1070E0"/>
          </a:solidFill>
          <a:ln>
            <a:solidFill>
              <a:srgbClr val="107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42816" y="1741932"/>
            <a:ext cx="374904" cy="137160"/>
          </a:xfrm>
          <a:prstGeom prst="rect">
            <a:avLst/>
          </a:prstGeom>
          <a:noFill/>
        </p:spPr>
        <p:txBody>
          <a:bodyPr wrap="square" lIns="27432" rIns="27432" tIns="27432" bIns="27432" anchor="ctr">
            <a:spAutoFit/>
          </a:bodyPr>
          <a:lstStyle/>
          <a:p>
            <a:pPr algn="ctr">
              <a:lnSpc>
                <a:spcPct val="102000"/>
              </a:lnSpc>
              <a:spcAft>
                <a:spcPts val="0"/>
              </a:spcAft>
            </a:pPr>
            <a:r>
              <a:rPr sz="880" b="1">
                <a:solidFill>
                  <a:srgbClr val="FFFFFF"/>
                </a:solidFill>
                <a:latin typeface="Microsoft YaHei"/>
              </a:rPr>
              <a:t>1</a:t>
            </a:r>
          </a:p>
        </p:txBody>
      </p:sp>
      <p:sp>
        <p:nvSpPr>
          <p:cNvPr id="21" name="TextBox 20"/>
          <p:cNvSpPr txBox="1"/>
          <p:nvPr/>
        </p:nvSpPr>
        <p:spPr>
          <a:xfrm>
            <a:off x="4718304" y="1636776"/>
            <a:ext cx="658368" cy="182880"/>
          </a:xfrm>
          <a:prstGeom prst="rect">
            <a:avLst/>
          </a:prstGeom>
          <a:noFill/>
        </p:spPr>
        <p:txBody>
          <a:bodyPr wrap="square" lIns="27432" rIns="27432" tIns="27432" bIns="27432" anchor="ctr">
            <a:spAutoFit/>
          </a:bodyPr>
          <a:lstStyle/>
          <a:p>
            <a:pPr algn="l">
              <a:lnSpc>
                <a:spcPct val="102000"/>
              </a:lnSpc>
              <a:spcAft>
                <a:spcPts val="0"/>
              </a:spcAft>
            </a:pPr>
            <a:r>
              <a:rPr sz="1030" b="1">
                <a:solidFill>
                  <a:srgbClr val="1070E0"/>
                </a:solidFill>
                <a:latin typeface="Microsoft YaHei"/>
              </a:rPr>
              <a:t>发现</a:t>
            </a:r>
          </a:p>
        </p:txBody>
      </p:sp>
      <p:sp>
        <p:nvSpPr>
          <p:cNvPr id="22" name="TextBox 21"/>
          <p:cNvSpPr txBox="1"/>
          <p:nvPr/>
        </p:nvSpPr>
        <p:spPr>
          <a:xfrm>
            <a:off x="4718304" y="1819656"/>
            <a:ext cx="3182112" cy="201168"/>
          </a:xfrm>
          <a:prstGeom prst="rect">
            <a:avLst/>
          </a:prstGeom>
          <a:noFill/>
        </p:spPr>
        <p:txBody>
          <a:bodyPr wrap="square" lIns="27432" rIns="27432" tIns="27432" bIns="27432" anchor="ctr">
            <a:spAutoFit/>
          </a:bodyPr>
          <a:lstStyle/>
          <a:p>
            <a:pPr algn="l">
              <a:lnSpc>
                <a:spcPct val="102000"/>
              </a:lnSpc>
              <a:spcAft>
                <a:spcPts val="0"/>
              </a:spcAft>
            </a:pPr>
            <a:r>
              <a:rPr sz="825" b="0">
                <a:solidFill>
                  <a:srgbClr val="1A2E46"/>
                </a:solidFill>
                <a:latin typeface="Microsoft YaHei"/>
              </a:rPr>
              <a:t>斜交支路两侧路侧带横穿主路，出现硬折、重叠与断口</a:t>
            </a:r>
          </a:p>
        </p:txBody>
      </p:sp>
      <p:sp>
        <p:nvSpPr>
          <p:cNvPr id="23" name="Rounded Rectangle 22"/>
          <p:cNvSpPr/>
          <p:nvPr/>
        </p:nvSpPr>
        <p:spPr>
          <a:xfrm>
            <a:off x="4078224" y="2176272"/>
            <a:ext cx="4023360" cy="557784"/>
          </a:xfrm>
          <a:prstGeom prst="roundRect">
            <a:avLst>
              <a:gd name="adj" fmla="val 7000"/>
            </a:avLst>
          </a:prstGeom>
          <a:solidFill>
            <a:srgbClr val="FFFFFF"/>
          </a:solidFill>
          <a:ln w="8890">
            <a:solidFill>
              <a:srgbClr val="D3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078224" y="2176272"/>
            <a:ext cx="73152" cy="557784"/>
          </a:xfrm>
          <a:prstGeom prst="rect">
            <a:avLst/>
          </a:prstGeom>
          <a:solidFill>
            <a:srgbClr val="1FA9CE"/>
          </a:solidFill>
          <a:ln w="1270">
            <a:solidFill>
              <a:srgbClr val="1FA9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242816" y="2267712"/>
            <a:ext cx="374904" cy="374904"/>
          </a:xfrm>
          <a:prstGeom prst="ellipse">
            <a:avLst/>
          </a:prstGeom>
          <a:solidFill>
            <a:srgbClr val="1FA9CE"/>
          </a:solidFill>
          <a:ln>
            <a:solidFill>
              <a:srgbClr val="1FA9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242816" y="2363724"/>
            <a:ext cx="374904" cy="137160"/>
          </a:xfrm>
          <a:prstGeom prst="rect">
            <a:avLst/>
          </a:prstGeom>
          <a:noFill/>
        </p:spPr>
        <p:txBody>
          <a:bodyPr wrap="square" lIns="27432" rIns="27432" tIns="27432" bIns="27432" anchor="ctr">
            <a:spAutoFit/>
          </a:bodyPr>
          <a:lstStyle/>
          <a:p>
            <a:pPr algn="ctr">
              <a:lnSpc>
                <a:spcPct val="102000"/>
              </a:lnSpc>
              <a:spcAft>
                <a:spcPts val="0"/>
              </a:spcAft>
            </a:pPr>
            <a:r>
              <a:rPr sz="880" b="1">
                <a:solidFill>
                  <a:srgbClr val="FFFFFF"/>
                </a:solidFill>
                <a:latin typeface="Microsoft YaHei"/>
              </a:rPr>
              <a:t>2</a:t>
            </a:r>
          </a:p>
        </p:txBody>
      </p:sp>
      <p:sp>
        <p:nvSpPr>
          <p:cNvPr id="27" name="TextBox 26"/>
          <p:cNvSpPr txBox="1"/>
          <p:nvPr/>
        </p:nvSpPr>
        <p:spPr>
          <a:xfrm>
            <a:off x="4718304" y="2258568"/>
            <a:ext cx="658368" cy="182880"/>
          </a:xfrm>
          <a:prstGeom prst="rect">
            <a:avLst/>
          </a:prstGeom>
          <a:noFill/>
        </p:spPr>
        <p:txBody>
          <a:bodyPr wrap="square" lIns="27432" rIns="27432" tIns="27432" bIns="27432" anchor="ctr">
            <a:spAutoFit/>
          </a:bodyPr>
          <a:lstStyle/>
          <a:p>
            <a:pPr algn="l">
              <a:lnSpc>
                <a:spcPct val="102000"/>
              </a:lnSpc>
              <a:spcAft>
                <a:spcPts val="0"/>
              </a:spcAft>
            </a:pPr>
            <a:r>
              <a:rPr sz="1030" b="1">
                <a:solidFill>
                  <a:srgbClr val="1FA9CE"/>
                </a:solidFill>
                <a:latin typeface="Microsoft YaHei"/>
              </a:rPr>
              <a:t>隔离</a:t>
            </a:r>
          </a:p>
        </p:txBody>
      </p:sp>
      <p:sp>
        <p:nvSpPr>
          <p:cNvPr id="28" name="TextBox 27"/>
          <p:cNvSpPr txBox="1"/>
          <p:nvPr/>
        </p:nvSpPr>
        <p:spPr>
          <a:xfrm>
            <a:off x="4718304" y="2441448"/>
            <a:ext cx="3182112" cy="201168"/>
          </a:xfrm>
          <a:prstGeom prst="rect">
            <a:avLst/>
          </a:prstGeom>
          <a:noFill/>
        </p:spPr>
        <p:txBody>
          <a:bodyPr wrap="square" lIns="27432" rIns="27432" tIns="27432" bIns="27432" anchor="ctr">
            <a:spAutoFit/>
          </a:bodyPr>
          <a:lstStyle/>
          <a:p>
            <a:pPr algn="l">
              <a:lnSpc>
                <a:spcPct val="102000"/>
              </a:lnSpc>
              <a:spcAft>
                <a:spcPts val="0"/>
              </a:spcAft>
            </a:pPr>
            <a:r>
              <a:rPr sz="825" b="0">
                <a:solidFill>
                  <a:srgbClr val="1A2E46"/>
                </a:solidFill>
                <a:latin typeface="Microsoft YaHei"/>
              </a:rPr>
              <a:t>单独导出问题路口 OBJ/FBX，逐层隐藏后锁定路侧构件</a:t>
            </a:r>
          </a:p>
        </p:txBody>
      </p:sp>
      <p:sp>
        <p:nvSpPr>
          <p:cNvPr id="29" name="Rounded Rectangle 28"/>
          <p:cNvSpPr/>
          <p:nvPr/>
        </p:nvSpPr>
        <p:spPr>
          <a:xfrm>
            <a:off x="4078224" y="2798064"/>
            <a:ext cx="4023360" cy="557784"/>
          </a:xfrm>
          <a:prstGeom prst="roundRect">
            <a:avLst>
              <a:gd name="adj" fmla="val 7000"/>
            </a:avLst>
          </a:prstGeom>
          <a:solidFill>
            <a:srgbClr val="FFFFFF"/>
          </a:solidFill>
          <a:ln w="8890">
            <a:solidFill>
              <a:srgbClr val="D3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078224" y="2798064"/>
            <a:ext cx="73152" cy="557784"/>
          </a:xfrm>
          <a:prstGeom prst="rect">
            <a:avLst/>
          </a:prstGeom>
          <a:solidFill>
            <a:srgbClr val="F28F23"/>
          </a:solidFill>
          <a:ln w="1270">
            <a:solidFill>
              <a:srgbClr val="F28F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242816" y="2889504"/>
            <a:ext cx="374904" cy="374904"/>
          </a:xfrm>
          <a:prstGeom prst="ellipse">
            <a:avLst/>
          </a:prstGeom>
          <a:solidFill>
            <a:srgbClr val="F28F23"/>
          </a:solidFill>
          <a:ln>
            <a:solidFill>
              <a:srgbClr val="F28F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242816" y="2985516"/>
            <a:ext cx="374904" cy="137160"/>
          </a:xfrm>
          <a:prstGeom prst="rect">
            <a:avLst/>
          </a:prstGeom>
          <a:noFill/>
        </p:spPr>
        <p:txBody>
          <a:bodyPr wrap="square" lIns="27432" rIns="27432" tIns="27432" bIns="27432" anchor="ctr">
            <a:spAutoFit/>
          </a:bodyPr>
          <a:lstStyle/>
          <a:p>
            <a:pPr algn="ctr">
              <a:lnSpc>
                <a:spcPct val="102000"/>
              </a:lnSpc>
              <a:spcAft>
                <a:spcPts val="0"/>
              </a:spcAft>
            </a:pPr>
            <a:r>
              <a:rPr sz="880" b="1">
                <a:solidFill>
                  <a:srgbClr val="FFFFFF"/>
                </a:solidFill>
                <a:latin typeface="Microsoft YaHei"/>
              </a:rPr>
              <a:t>3</a:t>
            </a:r>
          </a:p>
        </p:txBody>
      </p:sp>
      <p:sp>
        <p:nvSpPr>
          <p:cNvPr id="33" name="TextBox 32"/>
          <p:cNvSpPr txBox="1"/>
          <p:nvPr/>
        </p:nvSpPr>
        <p:spPr>
          <a:xfrm>
            <a:off x="4718304" y="2880360"/>
            <a:ext cx="658368" cy="182880"/>
          </a:xfrm>
          <a:prstGeom prst="rect">
            <a:avLst/>
          </a:prstGeom>
          <a:noFill/>
        </p:spPr>
        <p:txBody>
          <a:bodyPr wrap="square" lIns="27432" rIns="27432" tIns="27432" bIns="27432" anchor="ctr">
            <a:spAutoFit/>
          </a:bodyPr>
          <a:lstStyle/>
          <a:p>
            <a:pPr algn="l">
              <a:lnSpc>
                <a:spcPct val="102000"/>
              </a:lnSpc>
              <a:spcAft>
                <a:spcPts val="0"/>
              </a:spcAft>
            </a:pPr>
            <a:r>
              <a:rPr sz="1030" b="1">
                <a:solidFill>
                  <a:srgbClr val="F28F23"/>
                </a:solidFill>
                <a:latin typeface="Microsoft YaHei"/>
              </a:rPr>
              <a:t>解释</a:t>
            </a:r>
          </a:p>
        </p:txBody>
      </p:sp>
      <p:sp>
        <p:nvSpPr>
          <p:cNvPr id="34" name="TextBox 33"/>
          <p:cNvSpPr txBox="1"/>
          <p:nvPr/>
        </p:nvSpPr>
        <p:spPr>
          <a:xfrm>
            <a:off x="4718304" y="3063240"/>
            <a:ext cx="3182112" cy="201168"/>
          </a:xfrm>
          <a:prstGeom prst="rect">
            <a:avLst/>
          </a:prstGeom>
          <a:noFill/>
        </p:spPr>
        <p:txBody>
          <a:bodyPr wrap="square" lIns="27432" rIns="27432" tIns="27432" bIns="27432" anchor="ctr">
            <a:spAutoFit/>
          </a:bodyPr>
          <a:lstStyle/>
          <a:p>
            <a:pPr algn="l">
              <a:lnSpc>
                <a:spcPct val="102000"/>
              </a:lnSpc>
              <a:spcAft>
                <a:spcPts val="0"/>
              </a:spcAft>
            </a:pPr>
            <a:r>
              <a:rPr sz="825" b="0">
                <a:solidFill>
                  <a:srgbClr val="1A2E46"/>
                </a:solidFill>
                <a:latin typeface="Microsoft YaHei"/>
              </a:rPr>
              <a:t>道路面已连通；路侧带仍独立直扫，端部继续采用直线裁剪</a:t>
            </a:r>
          </a:p>
        </p:txBody>
      </p:sp>
      <p:sp>
        <p:nvSpPr>
          <p:cNvPr id="35" name="Rounded Rectangle 34"/>
          <p:cNvSpPr/>
          <p:nvPr/>
        </p:nvSpPr>
        <p:spPr>
          <a:xfrm>
            <a:off x="4078224" y="3419856"/>
            <a:ext cx="4023360" cy="557784"/>
          </a:xfrm>
          <a:prstGeom prst="roundRect">
            <a:avLst>
              <a:gd name="adj" fmla="val 7000"/>
            </a:avLst>
          </a:prstGeom>
          <a:solidFill>
            <a:srgbClr val="FFFFFF"/>
          </a:solidFill>
          <a:ln w="8890">
            <a:solidFill>
              <a:srgbClr val="D3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078224" y="3419856"/>
            <a:ext cx="73152" cy="557784"/>
          </a:xfrm>
          <a:prstGeom prst="rect">
            <a:avLst/>
          </a:prstGeom>
          <a:solidFill>
            <a:srgbClr val="EF1F37"/>
          </a:solidFill>
          <a:ln w="1270">
            <a:solidFill>
              <a:srgbClr val="EF1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4242816" y="3511296"/>
            <a:ext cx="374904" cy="374904"/>
          </a:xfrm>
          <a:prstGeom prst="ellipse">
            <a:avLst/>
          </a:prstGeom>
          <a:solidFill>
            <a:srgbClr val="EF1F37"/>
          </a:solidFill>
          <a:ln>
            <a:solidFill>
              <a:srgbClr val="EF1F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242816" y="3607308"/>
            <a:ext cx="374904" cy="137160"/>
          </a:xfrm>
          <a:prstGeom prst="rect">
            <a:avLst/>
          </a:prstGeom>
          <a:noFill/>
        </p:spPr>
        <p:txBody>
          <a:bodyPr wrap="square" lIns="27432" rIns="27432" tIns="27432" bIns="27432" anchor="ctr">
            <a:spAutoFit/>
          </a:bodyPr>
          <a:lstStyle/>
          <a:p>
            <a:pPr algn="ctr">
              <a:lnSpc>
                <a:spcPct val="102000"/>
              </a:lnSpc>
              <a:spcAft>
                <a:spcPts val="0"/>
              </a:spcAft>
            </a:pPr>
            <a:r>
              <a:rPr sz="880" b="1">
                <a:solidFill>
                  <a:srgbClr val="FFFFFF"/>
                </a:solidFill>
                <a:latin typeface="Microsoft YaHei"/>
              </a:rPr>
              <a:t>4</a:t>
            </a:r>
          </a:p>
        </p:txBody>
      </p:sp>
      <p:sp>
        <p:nvSpPr>
          <p:cNvPr id="39" name="TextBox 38"/>
          <p:cNvSpPr txBox="1"/>
          <p:nvPr/>
        </p:nvSpPr>
        <p:spPr>
          <a:xfrm>
            <a:off x="4718304" y="3502152"/>
            <a:ext cx="658368" cy="182880"/>
          </a:xfrm>
          <a:prstGeom prst="rect">
            <a:avLst/>
          </a:prstGeom>
          <a:noFill/>
        </p:spPr>
        <p:txBody>
          <a:bodyPr wrap="square" lIns="27432" rIns="27432" tIns="27432" bIns="27432" anchor="ctr">
            <a:spAutoFit/>
          </a:bodyPr>
          <a:lstStyle/>
          <a:p>
            <a:pPr algn="l">
              <a:lnSpc>
                <a:spcPct val="102000"/>
              </a:lnSpc>
              <a:spcAft>
                <a:spcPts val="0"/>
              </a:spcAft>
            </a:pPr>
            <a:r>
              <a:rPr sz="1030" b="1">
                <a:solidFill>
                  <a:srgbClr val="EF1F37"/>
                </a:solidFill>
                <a:latin typeface="Microsoft YaHei"/>
              </a:rPr>
              <a:t>修正</a:t>
            </a:r>
          </a:p>
        </p:txBody>
      </p:sp>
      <p:sp>
        <p:nvSpPr>
          <p:cNvPr id="40" name="TextBox 39"/>
          <p:cNvSpPr txBox="1"/>
          <p:nvPr/>
        </p:nvSpPr>
        <p:spPr>
          <a:xfrm>
            <a:off x="4718304" y="3685032"/>
            <a:ext cx="3182112" cy="201168"/>
          </a:xfrm>
          <a:prstGeom prst="rect">
            <a:avLst/>
          </a:prstGeom>
          <a:noFill/>
        </p:spPr>
        <p:txBody>
          <a:bodyPr wrap="square" lIns="27432" rIns="27432" tIns="27432" bIns="27432" anchor="ctr">
            <a:spAutoFit/>
          </a:bodyPr>
          <a:lstStyle/>
          <a:p>
            <a:pPr algn="l">
              <a:lnSpc>
                <a:spcPct val="102000"/>
              </a:lnSpc>
              <a:spcAft>
                <a:spcPts val="0"/>
              </a:spcAft>
            </a:pPr>
            <a:r>
              <a:rPr sz="825" b="0">
                <a:solidFill>
                  <a:srgbClr val="1A2E46"/>
                </a:solidFill>
                <a:latin typeface="Microsoft YaHei"/>
              </a:rPr>
              <a:t>依据 arms 方向与断面宽度，生成变宽曲线连接并统一裁剪</a:t>
            </a:r>
          </a:p>
        </p:txBody>
      </p:sp>
      <p:sp>
        <p:nvSpPr>
          <p:cNvPr id="41" name="Rounded Rectangle 40"/>
          <p:cNvSpPr/>
          <p:nvPr/>
        </p:nvSpPr>
        <p:spPr>
          <a:xfrm>
            <a:off x="4078224" y="4041648"/>
            <a:ext cx="4023360" cy="557784"/>
          </a:xfrm>
          <a:prstGeom prst="roundRect">
            <a:avLst>
              <a:gd name="adj" fmla="val 7000"/>
            </a:avLst>
          </a:prstGeom>
          <a:solidFill>
            <a:srgbClr val="FFFFFF"/>
          </a:solidFill>
          <a:ln w="8890">
            <a:solidFill>
              <a:srgbClr val="D3E2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078224" y="4041648"/>
            <a:ext cx="73152" cy="557784"/>
          </a:xfrm>
          <a:prstGeom prst="rect">
            <a:avLst/>
          </a:prstGeom>
          <a:solidFill>
            <a:srgbClr val="279268"/>
          </a:solidFill>
          <a:ln w="1270">
            <a:solidFill>
              <a:srgbClr val="2792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4242816" y="4133087"/>
            <a:ext cx="374904" cy="374904"/>
          </a:xfrm>
          <a:prstGeom prst="ellipse">
            <a:avLst/>
          </a:prstGeom>
          <a:solidFill>
            <a:srgbClr val="279268"/>
          </a:solidFill>
          <a:ln>
            <a:solidFill>
              <a:srgbClr val="2792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242816" y="4229100"/>
            <a:ext cx="374904" cy="137160"/>
          </a:xfrm>
          <a:prstGeom prst="rect">
            <a:avLst/>
          </a:prstGeom>
          <a:noFill/>
        </p:spPr>
        <p:txBody>
          <a:bodyPr wrap="square" lIns="27432" rIns="27432" tIns="27432" bIns="27432" anchor="ctr">
            <a:spAutoFit/>
          </a:bodyPr>
          <a:lstStyle/>
          <a:p>
            <a:pPr algn="ctr">
              <a:lnSpc>
                <a:spcPct val="102000"/>
              </a:lnSpc>
              <a:spcAft>
                <a:spcPts val="0"/>
              </a:spcAft>
            </a:pPr>
            <a:r>
              <a:rPr sz="880" b="1">
                <a:solidFill>
                  <a:srgbClr val="FFFFFF"/>
                </a:solidFill>
                <a:latin typeface="Microsoft YaHei"/>
              </a:rPr>
              <a:t>5</a:t>
            </a:r>
          </a:p>
        </p:txBody>
      </p:sp>
      <p:sp>
        <p:nvSpPr>
          <p:cNvPr id="45" name="TextBox 44"/>
          <p:cNvSpPr txBox="1"/>
          <p:nvPr/>
        </p:nvSpPr>
        <p:spPr>
          <a:xfrm>
            <a:off x="4718304" y="4123944"/>
            <a:ext cx="658368" cy="182880"/>
          </a:xfrm>
          <a:prstGeom prst="rect">
            <a:avLst/>
          </a:prstGeom>
          <a:noFill/>
        </p:spPr>
        <p:txBody>
          <a:bodyPr wrap="square" lIns="27432" rIns="27432" tIns="27432" bIns="27432" anchor="ctr">
            <a:spAutoFit/>
          </a:bodyPr>
          <a:lstStyle/>
          <a:p>
            <a:pPr algn="l">
              <a:lnSpc>
                <a:spcPct val="102000"/>
              </a:lnSpc>
              <a:spcAft>
                <a:spcPts val="0"/>
              </a:spcAft>
            </a:pPr>
            <a:r>
              <a:rPr sz="1030" b="1">
                <a:solidFill>
                  <a:srgbClr val="279268"/>
                </a:solidFill>
                <a:latin typeface="Microsoft YaHei"/>
              </a:rPr>
              <a:t>检查</a:t>
            </a:r>
          </a:p>
        </p:txBody>
      </p:sp>
      <p:sp>
        <p:nvSpPr>
          <p:cNvPr id="46" name="TextBox 45"/>
          <p:cNvSpPr txBox="1"/>
          <p:nvPr/>
        </p:nvSpPr>
        <p:spPr>
          <a:xfrm>
            <a:off x="4718304" y="4306824"/>
            <a:ext cx="3182112" cy="201168"/>
          </a:xfrm>
          <a:prstGeom prst="rect">
            <a:avLst/>
          </a:prstGeom>
          <a:noFill/>
        </p:spPr>
        <p:txBody>
          <a:bodyPr wrap="square" lIns="27432" rIns="27432" tIns="27432" bIns="27432" anchor="ctr">
            <a:spAutoFit/>
          </a:bodyPr>
          <a:lstStyle/>
          <a:p>
            <a:pPr algn="l">
              <a:lnSpc>
                <a:spcPct val="102000"/>
              </a:lnSpc>
              <a:spcAft>
                <a:spcPts val="0"/>
              </a:spcAft>
            </a:pPr>
            <a:r>
              <a:rPr sz="825" b="0">
                <a:solidFill>
                  <a:srgbClr val="1A2E46"/>
                </a:solidFill>
                <a:latin typeface="Microsoft YaHei"/>
              </a:rPr>
              <a:t>单路口前后对照，再回归全量模型及 CIM3/CIM4 共用逻辑</a:t>
            </a:r>
          </a:p>
        </p:txBody>
      </p:sp>
      <p:sp>
        <p:nvSpPr>
          <p:cNvPr id="47" name="Rounded Rectangle 46"/>
          <p:cNvSpPr/>
          <p:nvPr/>
        </p:nvSpPr>
        <p:spPr>
          <a:xfrm>
            <a:off x="8321040" y="1216152"/>
            <a:ext cx="3346704" cy="3502152"/>
          </a:xfrm>
          <a:prstGeom prst="roundRect">
            <a:avLst>
              <a:gd name="adj" fmla="val 7000"/>
            </a:avLst>
          </a:prstGeom>
          <a:solidFill>
            <a:srgbClr val="FFFFFF"/>
          </a:solidFill>
          <a:ln w="15240">
            <a:solidFill>
              <a:srgbClr val="2792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8321040" y="1216152"/>
            <a:ext cx="3346704" cy="393192"/>
          </a:xfrm>
          <a:prstGeom prst="roundRect">
            <a:avLst>
              <a:gd name="adj" fmla="val 7000"/>
            </a:avLst>
          </a:prstGeom>
          <a:solidFill>
            <a:srgbClr val="ECF8F3"/>
          </a:solidFill>
          <a:ln w="10160">
            <a:solidFill>
              <a:srgbClr val="ECF8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503920" y="1307592"/>
            <a:ext cx="749808" cy="164592"/>
          </a:xfrm>
          <a:prstGeom prst="rect">
            <a:avLst/>
          </a:prstGeom>
          <a:noFill/>
        </p:spPr>
        <p:txBody>
          <a:bodyPr wrap="square" lIns="27432" rIns="27432" tIns="27432" bIns="27432" anchor="ctr">
            <a:spAutoFit/>
          </a:bodyPr>
          <a:lstStyle/>
          <a:p>
            <a:pPr algn="l">
              <a:lnSpc>
                <a:spcPct val="102000"/>
              </a:lnSpc>
              <a:spcAft>
                <a:spcPts val="0"/>
              </a:spcAft>
            </a:pPr>
            <a:r>
              <a:rPr sz="1100" b="1">
                <a:solidFill>
                  <a:srgbClr val="279268"/>
                </a:solidFill>
                <a:latin typeface="Microsoft YaHei"/>
              </a:rPr>
              <a:t>修正结果</a:t>
            </a:r>
          </a:p>
        </p:txBody>
      </p:sp>
      <p:sp>
        <p:nvSpPr>
          <p:cNvPr id="50" name="TextBox 49"/>
          <p:cNvSpPr txBox="1"/>
          <p:nvPr/>
        </p:nvSpPr>
        <p:spPr>
          <a:xfrm>
            <a:off x="9262872" y="1307592"/>
            <a:ext cx="2176272" cy="164592"/>
          </a:xfrm>
          <a:prstGeom prst="rect">
            <a:avLst/>
          </a:prstGeom>
          <a:noFill/>
        </p:spPr>
        <p:txBody>
          <a:bodyPr wrap="square" lIns="27432" rIns="27432" tIns="27432" bIns="27432" anchor="ctr">
            <a:spAutoFit/>
          </a:bodyPr>
          <a:lstStyle/>
          <a:p>
            <a:pPr algn="r">
              <a:lnSpc>
                <a:spcPct val="102000"/>
              </a:lnSpc>
              <a:spcAft>
                <a:spcPts val="0"/>
              </a:spcAft>
            </a:pPr>
            <a:r>
              <a:rPr sz="900" b="1">
                <a:solidFill>
                  <a:srgbClr val="1A2E46"/>
                </a:solidFill>
                <a:latin typeface="Microsoft YaHei"/>
              </a:rPr>
              <a:t>按路口边界生成曲线连接</a:t>
            </a:r>
          </a:p>
        </p:txBody>
      </p:sp>
      <p:pic>
        <p:nvPicPr>
          <p:cNvPr id="51" name="Picture 50" descr="codex-clipboard-eaada0e2-3bc5-43d6-a9e8-46c39863bd78.png"/>
          <p:cNvPicPr>
            <a:picLocks noChangeAspect="1"/>
          </p:cNvPicPr>
          <p:nvPr/>
        </p:nvPicPr>
        <p:blipFill>
          <a:blip r:embed="rId24"/>
          <a:stretch>
            <a:fillRect/>
          </a:stretch>
        </p:blipFill>
        <p:spPr>
          <a:xfrm>
            <a:off x="8531247" y="1673352"/>
            <a:ext cx="2926288" cy="2880360"/>
          </a:xfrm>
          <a:prstGeom prst="rect">
            <a:avLst/>
          </a:prstGeom>
        </p:spPr>
      </p:pic>
      <p:sp>
        <p:nvSpPr>
          <p:cNvPr id="52" name="Oval 51"/>
          <p:cNvSpPr/>
          <p:nvPr/>
        </p:nvSpPr>
        <p:spPr>
          <a:xfrm>
            <a:off x="9116505" y="2249424"/>
            <a:ext cx="1755772" cy="1670608"/>
          </a:xfrm>
          <a:prstGeom prst="ellipse">
            <a:avLst/>
          </a:prstGeom>
          <a:noFill/>
          <a:ln w="31750">
            <a:solidFill>
              <a:srgbClr val="2792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8686800" y="4288536"/>
            <a:ext cx="2596896" cy="228600"/>
          </a:xfrm>
          <a:prstGeom prst="roundRect">
            <a:avLst>
              <a:gd name="adj" fmla="val 7000"/>
            </a:avLst>
          </a:prstGeom>
          <a:solidFill>
            <a:srgbClr val="279268"/>
          </a:solidFill>
          <a:ln w="10160">
            <a:solidFill>
              <a:srgbClr val="27926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723376" y="4306824"/>
            <a:ext cx="2523744" cy="146304"/>
          </a:xfrm>
          <a:prstGeom prst="rect">
            <a:avLst/>
          </a:prstGeom>
          <a:noFill/>
        </p:spPr>
        <p:txBody>
          <a:bodyPr wrap="square" lIns="27432" rIns="27432" tIns="27432" bIns="27432" anchor="ctr">
            <a:spAutoFit/>
          </a:bodyPr>
          <a:lstStyle/>
          <a:p>
            <a:pPr algn="ctr">
              <a:lnSpc>
                <a:spcPct val="102000"/>
              </a:lnSpc>
              <a:spcAft>
                <a:spcPts val="0"/>
              </a:spcAft>
            </a:pPr>
            <a:r>
              <a:rPr sz="760" b="1">
                <a:solidFill>
                  <a:srgbClr val="FFFFFF"/>
                </a:solidFill>
                <a:latin typeface="Microsoft YaHei"/>
              </a:rPr>
              <a:t>曲线连续，路侧构件不再侵入主路</a:t>
            </a:r>
          </a:p>
        </p:txBody>
      </p:sp>
      <p:sp>
        <p:nvSpPr>
          <p:cNvPr id="55" name="Rounded Rectangle 54"/>
          <p:cNvSpPr/>
          <p:nvPr/>
        </p:nvSpPr>
        <p:spPr>
          <a:xfrm>
            <a:off x="530352" y="4974336"/>
            <a:ext cx="5394960" cy="749808"/>
          </a:xfrm>
          <a:prstGeom prst="roundRect">
            <a:avLst>
              <a:gd name="adj" fmla="val 7000"/>
            </a:avLst>
          </a:prstGeom>
          <a:solidFill>
            <a:srgbClr val="FFF1F3"/>
          </a:solidFill>
          <a:ln w="10160">
            <a:solidFill>
              <a:srgbClr val="FFF1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49808" y="5111496"/>
            <a:ext cx="731520" cy="219456"/>
          </a:xfrm>
          <a:prstGeom prst="rect">
            <a:avLst/>
          </a:prstGeom>
          <a:noFill/>
        </p:spPr>
        <p:txBody>
          <a:bodyPr wrap="square" lIns="27432" rIns="27432" tIns="27432" bIns="27432" anchor="ctr">
            <a:spAutoFit/>
          </a:bodyPr>
          <a:lstStyle/>
          <a:p>
            <a:pPr algn="l">
              <a:lnSpc>
                <a:spcPct val="102000"/>
              </a:lnSpc>
              <a:spcAft>
                <a:spcPts val="0"/>
              </a:spcAft>
            </a:pPr>
            <a:r>
              <a:rPr sz="1050" b="1">
                <a:solidFill>
                  <a:srgbClr val="EF1F37"/>
                </a:solidFill>
                <a:latin typeface="Microsoft YaHei"/>
              </a:rPr>
              <a:t>问题本质</a:t>
            </a:r>
          </a:p>
        </p:txBody>
      </p:sp>
      <p:sp>
        <p:nvSpPr>
          <p:cNvPr id="57" name="TextBox 56"/>
          <p:cNvSpPr txBox="1"/>
          <p:nvPr/>
        </p:nvSpPr>
        <p:spPr>
          <a:xfrm>
            <a:off x="1581912" y="5065776"/>
            <a:ext cx="4069080" cy="301752"/>
          </a:xfrm>
          <a:prstGeom prst="rect">
            <a:avLst/>
          </a:prstGeom>
          <a:noFill/>
        </p:spPr>
        <p:txBody>
          <a:bodyPr wrap="square" lIns="27432" rIns="27432" tIns="27432" bIns="27432" anchor="ctr">
            <a:spAutoFit/>
          </a:bodyPr>
          <a:lstStyle/>
          <a:p>
            <a:pPr algn="l">
              <a:lnSpc>
                <a:spcPct val="102000"/>
              </a:lnSpc>
              <a:spcAft>
                <a:spcPts val="0"/>
              </a:spcAft>
            </a:pPr>
            <a:r>
              <a:rPr sz="930" b="1">
                <a:solidFill>
                  <a:srgbClr val="1A2E46"/>
                </a:solidFill>
                <a:latin typeface="Microsoft YaHei"/>
              </a:rPr>
              <a:t>不是参数偏差，而是“直线道路断面规则”没有覆盖“斜交路口连接规则”。</a:t>
            </a:r>
          </a:p>
        </p:txBody>
      </p:sp>
      <p:sp>
        <p:nvSpPr>
          <p:cNvPr id="58" name="Rounded Rectangle 57"/>
          <p:cNvSpPr/>
          <p:nvPr/>
        </p:nvSpPr>
        <p:spPr>
          <a:xfrm>
            <a:off x="6089904" y="4974336"/>
            <a:ext cx="5550408" cy="749808"/>
          </a:xfrm>
          <a:prstGeom prst="roundRect">
            <a:avLst>
              <a:gd name="adj" fmla="val 7000"/>
            </a:avLst>
          </a:prstGeom>
          <a:solidFill>
            <a:srgbClr val="ECF8F3"/>
          </a:solidFill>
          <a:ln w="10160">
            <a:solidFill>
              <a:srgbClr val="ECF8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309360" y="5111496"/>
            <a:ext cx="731520" cy="219456"/>
          </a:xfrm>
          <a:prstGeom prst="rect">
            <a:avLst/>
          </a:prstGeom>
          <a:noFill/>
        </p:spPr>
        <p:txBody>
          <a:bodyPr wrap="square" lIns="27432" rIns="27432" tIns="27432" bIns="27432" anchor="ctr">
            <a:spAutoFit/>
          </a:bodyPr>
          <a:lstStyle/>
          <a:p>
            <a:pPr algn="l">
              <a:lnSpc>
                <a:spcPct val="102000"/>
              </a:lnSpc>
              <a:spcAft>
                <a:spcPts val="0"/>
              </a:spcAft>
            </a:pPr>
            <a:r>
              <a:rPr sz="1050" b="1">
                <a:solidFill>
                  <a:srgbClr val="279268"/>
                </a:solidFill>
                <a:latin typeface="Microsoft YaHei"/>
              </a:rPr>
              <a:t>形成能力</a:t>
            </a:r>
          </a:p>
        </p:txBody>
      </p:sp>
      <p:sp>
        <p:nvSpPr>
          <p:cNvPr id="60" name="TextBox 59"/>
          <p:cNvSpPr txBox="1"/>
          <p:nvPr/>
        </p:nvSpPr>
        <p:spPr>
          <a:xfrm>
            <a:off x="7141464" y="5065776"/>
            <a:ext cx="4224528" cy="301752"/>
          </a:xfrm>
          <a:prstGeom prst="rect">
            <a:avLst/>
          </a:prstGeom>
          <a:noFill/>
        </p:spPr>
        <p:txBody>
          <a:bodyPr wrap="square" lIns="27432" rIns="27432" tIns="27432" bIns="27432" anchor="ctr">
            <a:spAutoFit/>
          </a:bodyPr>
          <a:lstStyle/>
          <a:p>
            <a:pPr algn="l">
              <a:lnSpc>
                <a:spcPct val="102000"/>
              </a:lnSpc>
              <a:spcAft>
                <a:spcPts val="0"/>
              </a:spcAft>
            </a:pPr>
            <a:r>
              <a:rPr sz="930" b="1">
                <a:solidFill>
                  <a:srgbClr val="1A2E46"/>
                </a:solidFill>
                <a:latin typeface="Microsoft YaHei"/>
              </a:rPr>
              <a:t>将夹角、断面宽度和构件类型纳入统一约束，沉淀为可复用的路口连接规则。</a:t>
            </a:r>
          </a:p>
        </p:txBody>
      </p:sp>
      <p:sp>
        <p:nvSpPr>
          <p:cNvPr id="61" name="Rounded Rectangle 60"/>
          <p:cNvSpPr/>
          <p:nvPr/>
        </p:nvSpPr>
        <p:spPr>
          <a:xfrm>
            <a:off x="530352" y="5879592"/>
            <a:ext cx="11109960" cy="429768"/>
          </a:xfrm>
          <a:prstGeom prst="roundRect">
            <a:avLst>
              <a:gd name="adj" fmla="val 7000"/>
            </a:avLst>
          </a:prstGeom>
          <a:solidFill>
            <a:srgbClr val="103258"/>
          </a:solidFill>
          <a:ln w="10160">
            <a:solidFill>
              <a:srgbClr val="1032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49808" y="5961888"/>
            <a:ext cx="10661904" cy="192024"/>
          </a:xfrm>
          <a:prstGeom prst="rect">
            <a:avLst/>
          </a:prstGeom>
          <a:noFill/>
        </p:spPr>
        <p:txBody>
          <a:bodyPr wrap="square" lIns="27432" rIns="27432" tIns="27432" bIns="27432" anchor="ctr">
            <a:spAutoFit/>
          </a:bodyPr>
          <a:lstStyle/>
          <a:p>
            <a:pPr algn="ctr">
              <a:lnSpc>
                <a:spcPct val="102000"/>
              </a:lnSpc>
              <a:spcAft>
                <a:spcPts val="0"/>
              </a:spcAft>
            </a:pPr>
            <a:r>
              <a:rPr sz="1010" b="1">
                <a:solidFill>
                  <a:srgbClr val="FFFFFF"/>
                </a:solidFill>
                <a:latin typeface="Microsoft YaHei"/>
              </a:rPr>
              <a:t>定位方法：对象层隔离 → 几何层比对 → 规则层解释 → 单路口验证 → 全量模型回归</a:t>
            </a:r>
          </a:p>
        </p:txBody>
      </p:sp>
      <p:cxnSp>
        <p:nvCxnSpPr>
          <p:cNvPr id="63" name="Connector 62"/>
          <p:cNvCxnSpPr/>
          <p:nvPr/>
        </p:nvCxnSpPr>
        <p:spPr>
          <a:xfrm>
            <a:off x="530352" y="6437376"/>
            <a:ext cx="11119104" cy="0"/>
          </a:xfrm>
          <a:prstGeom prst="line">
            <a:avLst/>
          </a:prstGeom>
          <a:ln w="8890">
            <a:solidFill>
              <a:srgbClr val="D3E2EF"/>
            </a:solidFill>
          </a:ln>
        </p:spPr>
        <p:style>
          <a:lnRef idx="2">
            <a:schemeClr val="accent1"/>
          </a:lnRef>
          <a:fillRef idx="0">
            <a:schemeClr val="accent1"/>
          </a:fillRef>
          <a:effectRef idx="1">
            <a:schemeClr val="accent1"/>
          </a:effectRef>
          <a:fontRef idx="minor">
            <a:schemeClr val="tx1"/>
          </a:fontRef>
        </p:style>
      </p:cxnSp>
      <p:sp>
        <p:nvSpPr>
          <p:cNvPr id="64" name="TextBox 63"/>
          <p:cNvSpPr txBox="1"/>
          <p:nvPr/>
        </p:nvSpPr>
        <p:spPr>
          <a:xfrm>
            <a:off x="530352" y="6483096"/>
            <a:ext cx="1371600" cy="164592"/>
          </a:xfrm>
          <a:prstGeom prst="rect">
            <a:avLst/>
          </a:prstGeom>
          <a:noFill/>
        </p:spPr>
        <p:txBody>
          <a:bodyPr wrap="square" lIns="27432" rIns="27432" tIns="27432" bIns="27432" anchor="ctr">
            <a:spAutoFit/>
          </a:bodyPr>
          <a:lstStyle/>
          <a:p>
            <a:pPr algn="l">
              <a:lnSpc>
                <a:spcPct val="102000"/>
              </a:lnSpc>
              <a:spcAft>
                <a:spcPts val="0"/>
              </a:spcAft>
            </a:pPr>
            <a:r>
              <a:rPr sz="750" b="0">
                <a:solidFill>
                  <a:srgbClr val="536982"/>
                </a:solidFill>
                <a:latin typeface="Microsoft YaHei"/>
              </a:rPr>
              <a:t>成果与反思</a:t>
            </a:r>
          </a:p>
        </p:txBody>
      </p:sp>
      <p:sp>
        <p:nvSpPr>
          <p:cNvPr id="65" name="TextBox 64"/>
          <p:cNvSpPr txBox="1"/>
          <p:nvPr/>
        </p:nvSpPr>
        <p:spPr>
          <a:xfrm>
            <a:off x="11338560" y="6483096"/>
            <a:ext cx="301752" cy="164592"/>
          </a:xfrm>
          <a:prstGeom prst="rect">
            <a:avLst/>
          </a:prstGeom>
          <a:noFill/>
        </p:spPr>
        <p:txBody>
          <a:bodyPr wrap="square" lIns="27432" rIns="27432" tIns="27432" bIns="27432" anchor="ctr">
            <a:spAutoFit/>
          </a:bodyPr>
          <a:lstStyle/>
          <a:p>
            <a:pPr algn="r">
              <a:lnSpc>
                <a:spcPct val="102000"/>
              </a:lnSpc>
              <a:spcAft>
                <a:spcPts val="0"/>
              </a:spcAft>
            </a:pPr>
            <a:r>
              <a:rPr sz="800" b="0">
                <a:solidFill>
                  <a:srgbClr val="AABBCD"/>
                </a:solidFill>
                <a:latin typeface="Microsoft YaHei"/>
              </a:rPr>
              <a:t>10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978535" y="4396740"/>
            <a:ext cx="2294890" cy="321945"/>
          </a:xfrm>
          <a:prstGeom prst="rect">
            <a:avLst/>
          </a:prstGeom>
          <a:noFill/>
        </p:spPr>
        <p:txBody>
          <a:bodyPr wrap="square" rtlCol="0" anchor="t">
            <a:spAutoFit/>
          </a:bodyPr>
          <a:p>
            <a:pPr algn="ctr">
              <a:lnSpc>
                <a:spcPct val="100000"/>
              </a:lnSpc>
            </a:pPr>
            <a:r>
              <a:rPr sz="1500" b="1">
                <a:solidFill>
                  <a:srgbClr val="1F2D3D"/>
                </a:solidFill>
                <a:latin typeface="微软雅黑" panose="020B0503020204020204" charset="-122"/>
                <a:sym typeface="+mn-ea"/>
              </a:rPr>
              <a:t>发现</a:t>
            </a:r>
            <a:r>
              <a:rPr lang="zh-CN" sz="1500" b="1">
                <a:solidFill>
                  <a:srgbClr val="1F2D3D"/>
                </a:solidFill>
                <a:latin typeface="微软雅黑" panose="020B0503020204020204" charset="-122"/>
                <a:sym typeface="+mn-ea"/>
              </a:rPr>
              <a:t>问题</a:t>
            </a:r>
            <a:endParaRPr lang="zh-CN" sz="1500" b="1" kern="0" spc="80" dirty="0">
              <a:solidFill>
                <a:srgbClr val="1F2D3D"/>
              </a:solidFill>
              <a:latin typeface="微软雅黑" panose="020B0503020204020204" charset="-122"/>
              <a:ea typeface="微软雅黑" panose="020B0503020204020204" charset="-122"/>
              <a:cs typeface="微软雅黑" panose="020B0503020204020204" charset="-122"/>
              <a:sym typeface="+mn-ea"/>
            </a:endParaRPr>
          </a:p>
        </p:txBody>
      </p:sp>
      <p:sp>
        <p:nvSpPr>
          <p:cNvPr id="5" name="文本框 4"/>
          <p:cNvSpPr txBox="1"/>
          <p:nvPr/>
        </p:nvSpPr>
        <p:spPr>
          <a:xfrm>
            <a:off x="4549140" y="4396740"/>
            <a:ext cx="2294890" cy="321945"/>
          </a:xfrm>
          <a:prstGeom prst="rect">
            <a:avLst/>
          </a:prstGeom>
          <a:noFill/>
        </p:spPr>
        <p:txBody>
          <a:bodyPr wrap="square" rtlCol="0" anchor="t">
            <a:spAutoFit/>
          </a:bodyPr>
          <a:p>
            <a:pPr algn="ctr">
              <a:lnSpc>
                <a:spcPct val="100000"/>
              </a:lnSpc>
            </a:pPr>
            <a:r>
              <a:rPr lang="zh-CN" sz="1500" b="1" kern="0" spc="80" dirty="0">
                <a:solidFill>
                  <a:srgbClr val="1F2D3D"/>
                </a:solidFill>
                <a:latin typeface="微软雅黑" panose="020B0503020204020204" charset="-122"/>
                <a:ea typeface="微软雅黑" panose="020B0503020204020204" charset="-122"/>
                <a:cs typeface="微软雅黑" panose="020B0503020204020204" charset="-122"/>
                <a:sym typeface="+mn-ea"/>
              </a:rPr>
              <a:t>解决问题</a:t>
            </a:r>
            <a:endParaRPr lang="zh-CN" sz="1500" b="1" kern="0" spc="80" dirty="0">
              <a:solidFill>
                <a:srgbClr val="1F2D3D"/>
              </a:solidFill>
              <a:latin typeface="微软雅黑" panose="020B0503020204020204" charset="-122"/>
              <a:ea typeface="微软雅黑" panose="020B0503020204020204" charset="-122"/>
              <a:cs typeface="微软雅黑" panose="020B0503020204020204" charset="-122"/>
              <a:sym typeface="+mn-ea"/>
            </a:endParaRPr>
          </a:p>
        </p:txBody>
      </p:sp>
      <p:sp>
        <p:nvSpPr>
          <p:cNvPr id="6" name="文本框 5"/>
          <p:cNvSpPr txBox="1"/>
          <p:nvPr/>
        </p:nvSpPr>
        <p:spPr>
          <a:xfrm>
            <a:off x="8373745" y="4396740"/>
            <a:ext cx="2294890" cy="321945"/>
          </a:xfrm>
          <a:prstGeom prst="rect">
            <a:avLst/>
          </a:prstGeom>
          <a:noFill/>
        </p:spPr>
        <p:txBody>
          <a:bodyPr wrap="square" rtlCol="0" anchor="t">
            <a:spAutoFit/>
          </a:bodyPr>
          <a:p>
            <a:pPr algn="ctr">
              <a:lnSpc>
                <a:spcPct val="100000"/>
              </a:lnSpc>
            </a:pPr>
            <a:r>
              <a:rPr lang="zh-CN" sz="1500" b="1" kern="0" spc="80" dirty="0">
                <a:solidFill>
                  <a:srgbClr val="1F2D3D"/>
                </a:solidFill>
                <a:latin typeface="微软雅黑" panose="020B0503020204020204" charset="-122"/>
                <a:ea typeface="微软雅黑" panose="020B0503020204020204" charset="-122"/>
                <a:cs typeface="微软雅黑" panose="020B0503020204020204" charset="-122"/>
                <a:sym typeface="+mn-ea"/>
              </a:rPr>
              <a:t>解决之后</a:t>
            </a:r>
            <a:endParaRPr lang="zh-CN" sz="1500" b="1" kern="0" spc="80" dirty="0">
              <a:solidFill>
                <a:srgbClr val="1F2D3D"/>
              </a:solidFill>
              <a:latin typeface="微软雅黑" panose="020B0503020204020204" charset="-122"/>
              <a:ea typeface="微软雅黑" panose="020B0503020204020204" charset="-122"/>
              <a:cs typeface="微软雅黑" panose="020B0503020204020204" charset="-122"/>
              <a:sym typeface="+mn-ea"/>
            </a:endParaRPr>
          </a:p>
        </p:txBody>
      </p:sp>
      <p:pic>
        <p:nvPicPr>
          <p:cNvPr id="10" name="图片 9"/>
          <p:cNvPicPr>
            <a:picLocks noChangeAspect="1"/>
          </p:cNvPicPr>
          <p:nvPr/>
        </p:nvPicPr>
        <p:blipFill>
          <a:blip r:embed="rId1"/>
          <a:stretch>
            <a:fillRect/>
          </a:stretch>
        </p:blipFill>
        <p:spPr>
          <a:xfrm>
            <a:off x="240665" y="187960"/>
            <a:ext cx="4181475" cy="4057650"/>
          </a:xfrm>
          <a:prstGeom prst="rect">
            <a:avLst/>
          </a:prstGeom>
        </p:spPr>
      </p:pic>
      <p:pic>
        <p:nvPicPr>
          <p:cNvPr id="11" name="图片 10"/>
          <p:cNvPicPr>
            <a:picLocks noChangeAspect="1"/>
          </p:cNvPicPr>
          <p:nvPr/>
        </p:nvPicPr>
        <p:blipFill>
          <a:blip r:embed="rId2"/>
          <a:stretch>
            <a:fillRect/>
          </a:stretch>
        </p:blipFill>
        <p:spPr>
          <a:xfrm>
            <a:off x="7397115" y="126365"/>
            <a:ext cx="4248150" cy="418147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97832" y="6209630"/>
            <a:ext cx="2724794" cy="270250"/>
          </a:xfrm>
          <a:prstGeom prst="rect">
            <a:avLst/>
          </a:prstGeom>
        </p:spPr>
      </p:pic>
      <p:sp>
        <p:nvSpPr>
          <p:cNvPr id="7" name="圆角矩形 4"/>
          <p:cNvSpPr/>
          <p:nvPr/>
        </p:nvSpPr>
        <p:spPr>
          <a:xfrm>
            <a:off x="0" y="0"/>
            <a:ext cx="3752850" cy="6905625"/>
          </a:xfrm>
          <a:prstGeom prst="roundRect">
            <a:avLst>
              <a:gd name="adj" fmla="val 0"/>
            </a:avLst>
          </a:prstGeom>
          <a:blipFill rotWithShape="1">
            <a:blip r:embed="rId2"/>
            <a:stretch>
              <a:fillRect/>
            </a:stretch>
          </a:blipFill>
          <a:ln w="38100">
            <a:noFill/>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endParaRPr lang="zh-CN" altLang="en-US" sz="1050" dirty="0">
              <a:solidFill>
                <a:schemeClr val="tx1"/>
              </a:solidFill>
            </a:endParaRPr>
          </a:p>
        </p:txBody>
      </p:sp>
      <p:sp>
        <p:nvSpPr>
          <p:cNvPr id="9" name="图形"/>
          <p:cNvSpPr/>
          <p:nvPr/>
        </p:nvSpPr>
        <p:spPr>
          <a:xfrm>
            <a:off x="0" y="-22225"/>
            <a:ext cx="3752850" cy="6906260"/>
          </a:xfrm>
          <a:prstGeom prst="rect">
            <a:avLst/>
          </a:prstGeom>
          <a:gradFill rotWithShape="0">
            <a:gsLst>
              <a:gs pos="100000">
                <a:srgbClr val="2D66FE">
                  <a:alpha val="0"/>
                </a:srgbClr>
              </a:gs>
              <a:gs pos="0">
                <a:srgbClr val="6EDEF8">
                  <a:alpha val="85000"/>
                </a:srgbClr>
              </a:gs>
              <a:gs pos="100000">
                <a:srgbClr val="1217DE">
                  <a:alpha val="85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字魂58号-创中黑" panose="00000500000000000000" charset="-122"/>
            </a:endParaRPr>
          </a:p>
        </p:txBody>
      </p:sp>
      <p:sp>
        <p:nvSpPr>
          <p:cNvPr id="11" name="标题 2"/>
          <p:cNvSpPr txBox="1"/>
          <p:nvPr/>
        </p:nvSpPr>
        <p:spPr>
          <a:xfrm>
            <a:off x="581025" y="637540"/>
            <a:ext cx="2891155" cy="936625"/>
          </a:xfrm>
          <a:prstGeom prst="rect">
            <a:avLst/>
          </a:prstGeom>
        </p:spPr>
        <p:txBody>
          <a:bodyPr/>
          <a:lstStyle>
            <a:lvl1pPr algn="l" defTabSz="914400" rtl="0" eaLnBrk="1" latinLnBrk="0" hangingPunct="1">
              <a:lnSpc>
                <a:spcPct val="100000"/>
              </a:lnSpc>
              <a:spcBef>
                <a:spcPct val="0"/>
              </a:spcBef>
              <a:buNone/>
              <a:defRPr sz="5400" b="1" kern="1200">
                <a:solidFill>
                  <a:schemeClr val="bg1"/>
                </a:solidFill>
                <a:latin typeface="微软雅黑" panose="020B0503020204020204" charset="-122"/>
                <a:ea typeface="微软雅黑" panose="020B0503020204020204" charset="-122"/>
                <a:cs typeface="+mj-cs"/>
              </a:defRPr>
            </a:lvl1pPr>
          </a:lstStyle>
          <a:p>
            <a:r>
              <a:rPr lang="zh-CN" altLang="en-US"/>
              <a:t>目录</a:t>
            </a:r>
            <a:endParaRPr lang="en-US" altLang="zh-CN"/>
          </a:p>
        </p:txBody>
      </p:sp>
      <p:sp>
        <p:nvSpPr>
          <p:cNvPr id="12" name="标题 2"/>
          <p:cNvSpPr>
            <a:spLocks noGrp="1"/>
          </p:cNvSpPr>
          <p:nvPr/>
        </p:nvSpPr>
        <p:spPr>
          <a:xfrm>
            <a:off x="581025" y="1609090"/>
            <a:ext cx="3328670" cy="908685"/>
          </a:xfrm>
        </p:spPr>
        <p:txBody>
          <a:bodyPr/>
          <a:lstStyle>
            <a:lvl1pPr>
              <a:lnSpc>
                <a:spcPct val="100000"/>
              </a:lnSpc>
              <a:defRPr sz="4000" b="1">
                <a:solidFill>
                  <a:srgbClr val="0070D8"/>
                </a:solidFill>
                <a:latin typeface="微软雅黑" panose="020B0503020204020204" charset="-122"/>
                <a:ea typeface="微软雅黑" panose="020B0503020204020204" charset="-122"/>
              </a:defRPr>
            </a:lvl1pPr>
          </a:lstStyle>
          <a:p>
            <a:r>
              <a:rPr lang="en-US" altLang="zh-CN" sz="2800">
                <a:solidFill>
                  <a:schemeClr val="bg1"/>
                </a:solidFill>
              </a:rPr>
              <a:t>CONTENTS</a:t>
            </a:r>
            <a:endParaRPr lang="en-US" altLang="zh-CN" sz="2800">
              <a:solidFill>
                <a:schemeClr val="bg1"/>
              </a:solidFill>
            </a:endParaRPr>
          </a:p>
        </p:txBody>
      </p:sp>
      <p:pic>
        <p:nvPicPr>
          <p:cNvPr id="13" name="图片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5140" y="6209665"/>
            <a:ext cx="2725200" cy="270578"/>
          </a:xfrm>
          <a:prstGeom prst="rect">
            <a:avLst/>
          </a:prstGeom>
        </p:spPr>
      </p:pic>
      <p:grpSp>
        <p:nvGrpSpPr>
          <p:cNvPr id="83" name="组合 82"/>
          <p:cNvGrpSpPr/>
          <p:nvPr>
            <p:custDataLst>
              <p:tags r:id="rId4"/>
            </p:custDataLst>
          </p:nvPr>
        </p:nvGrpSpPr>
        <p:grpSpPr>
          <a:xfrm>
            <a:off x="4209320" y="1438852"/>
            <a:ext cx="7244309" cy="3980296"/>
            <a:chOff x="4142645" y="1775604"/>
            <a:chExt cx="7244309" cy="3980296"/>
          </a:xfrm>
        </p:grpSpPr>
        <p:sp>
          <p:nvSpPr>
            <p:cNvPr id="19" name="矩形: 圆角 18"/>
            <p:cNvSpPr/>
            <p:nvPr>
              <p:custDataLst>
                <p:tags r:id="rId5"/>
              </p:custDataLst>
            </p:nvPr>
          </p:nvSpPr>
          <p:spPr>
            <a:xfrm>
              <a:off x="4142645" y="1775604"/>
              <a:ext cx="3420000" cy="1800000"/>
            </a:xfrm>
            <a:prstGeom prst="roundRect">
              <a:avLst>
                <a:gd name="adj" fmla="val 0"/>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占位符 43"/>
            <p:cNvSpPr txBox="1"/>
            <p:nvPr>
              <p:custDataLst>
                <p:tags r:id="rId6"/>
              </p:custDataLst>
            </p:nvPr>
          </p:nvSpPr>
          <p:spPr>
            <a:xfrm>
              <a:off x="4403781" y="2705294"/>
              <a:ext cx="18288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tx1"/>
                  </a:solidFill>
                  <a:sym typeface="+mn-ea"/>
                </a:rPr>
                <a:t>目前工作基础</a:t>
              </a:r>
              <a:endParaRPr lang="zh-CN" altLang="en-US" sz="2400" b="1" dirty="0">
                <a:solidFill>
                  <a:schemeClr val="tx1"/>
                </a:solidFill>
              </a:endParaRPr>
            </a:p>
          </p:txBody>
        </p:sp>
        <p:sp>
          <p:nvSpPr>
            <p:cNvPr id="8" name="文本占位符 43"/>
            <p:cNvSpPr txBox="1"/>
            <p:nvPr>
              <p:custDataLst>
                <p:tags r:id="rId7"/>
              </p:custDataLst>
            </p:nvPr>
          </p:nvSpPr>
          <p:spPr>
            <a:xfrm>
              <a:off x="4403781" y="1934471"/>
              <a:ext cx="514564"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tx1">
                      <a:alpha val="20000"/>
                    </a:schemeClr>
                  </a:solidFill>
                  <a:latin typeface="MiSans" pitchFamily="2" charset="-122"/>
                  <a:ea typeface="MiSans" pitchFamily="2" charset="-122"/>
                  <a:cs typeface="MiSans" pitchFamily="2" charset="-122"/>
                </a:rPr>
                <a:t>01</a:t>
              </a:r>
              <a:endParaRPr lang="zh-CN" altLang="en-US" sz="3400" b="1" dirty="0">
                <a:solidFill>
                  <a:schemeClr val="tx1">
                    <a:alpha val="20000"/>
                  </a:schemeClr>
                </a:solidFill>
                <a:latin typeface="MiSans" pitchFamily="2" charset="-122"/>
                <a:ea typeface="MiSans" pitchFamily="2" charset="-122"/>
                <a:cs typeface="MiSans" pitchFamily="2" charset="-122"/>
              </a:endParaRPr>
            </a:p>
          </p:txBody>
        </p:sp>
        <p:grpSp>
          <p:nvGrpSpPr>
            <p:cNvPr id="27" name="组合 26"/>
            <p:cNvGrpSpPr/>
            <p:nvPr/>
          </p:nvGrpSpPr>
          <p:grpSpPr>
            <a:xfrm rot="5400000">
              <a:off x="7191746" y="2155900"/>
              <a:ext cx="317922" cy="80362"/>
              <a:chOff x="9893117" y="424718"/>
              <a:chExt cx="704849" cy="178167"/>
            </a:xfrm>
            <a:solidFill>
              <a:srgbClr val="2E5BEA"/>
            </a:solidFill>
          </p:grpSpPr>
          <p:sp>
            <p:nvSpPr>
              <p:cNvPr id="28" name="椭圆 27"/>
              <p:cNvSpPr/>
              <p:nvPr>
                <p:custDataLst>
                  <p:tags r:id="rId8"/>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p:nvPr>
                <p:custDataLst>
                  <p:tags r:id="rId9"/>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custDataLst>
                  <p:tags r:id="rId10"/>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3" name="矩形: 圆角 42"/>
            <p:cNvSpPr/>
            <p:nvPr>
              <p:custDataLst>
                <p:tags r:id="rId11"/>
              </p:custDataLst>
            </p:nvPr>
          </p:nvSpPr>
          <p:spPr>
            <a:xfrm>
              <a:off x="7966954" y="1775604"/>
              <a:ext cx="3420000" cy="1800000"/>
            </a:xfrm>
            <a:prstGeom prst="roundRect">
              <a:avLst>
                <a:gd name="adj" fmla="val 0"/>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endParaRPr>
            </a:p>
          </p:txBody>
        </p:sp>
        <p:sp>
          <p:nvSpPr>
            <p:cNvPr id="44" name="文本占位符 43"/>
            <p:cNvSpPr txBox="1"/>
            <p:nvPr>
              <p:custDataLst>
                <p:tags r:id="rId12"/>
              </p:custDataLst>
            </p:nvPr>
          </p:nvSpPr>
          <p:spPr>
            <a:xfrm>
              <a:off x="8228090" y="2705294"/>
              <a:ext cx="18288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tx1"/>
                  </a:solidFill>
                  <a:sym typeface="+mn-ea"/>
                </a:rPr>
                <a:t>技术实施方案</a:t>
              </a:r>
              <a:endParaRPr lang="zh-CN" altLang="en-US" sz="2400" b="1" dirty="0">
                <a:solidFill>
                  <a:schemeClr val="tx1"/>
                </a:solidFill>
              </a:endParaRPr>
            </a:p>
          </p:txBody>
        </p:sp>
        <p:sp>
          <p:nvSpPr>
            <p:cNvPr id="45" name="文本占位符 43"/>
            <p:cNvSpPr txBox="1"/>
            <p:nvPr>
              <p:custDataLst>
                <p:tags r:id="rId13"/>
              </p:custDataLst>
            </p:nvPr>
          </p:nvSpPr>
          <p:spPr>
            <a:xfrm>
              <a:off x="8228090" y="1934471"/>
              <a:ext cx="569067"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tx1">
                      <a:alpha val="20000"/>
                    </a:schemeClr>
                  </a:solidFill>
                  <a:latin typeface="MiSans" pitchFamily="2" charset="-122"/>
                  <a:ea typeface="MiSans" pitchFamily="2" charset="-122"/>
                  <a:cs typeface="MiSans" pitchFamily="2" charset="-122"/>
                </a:rPr>
                <a:t>02</a:t>
              </a:r>
              <a:endParaRPr lang="zh-CN" altLang="en-US" sz="3400" b="1" dirty="0">
                <a:solidFill>
                  <a:schemeClr val="tx1">
                    <a:alpha val="20000"/>
                  </a:schemeClr>
                </a:solidFill>
                <a:latin typeface="MiSans" pitchFamily="2" charset="-122"/>
                <a:ea typeface="MiSans" pitchFamily="2" charset="-122"/>
                <a:cs typeface="MiSans" pitchFamily="2" charset="-122"/>
              </a:endParaRPr>
            </a:p>
          </p:txBody>
        </p:sp>
        <p:grpSp>
          <p:nvGrpSpPr>
            <p:cNvPr id="47" name="组合 46"/>
            <p:cNvGrpSpPr/>
            <p:nvPr/>
          </p:nvGrpSpPr>
          <p:grpSpPr>
            <a:xfrm rot="5400000">
              <a:off x="11016055" y="2155900"/>
              <a:ext cx="317922" cy="80362"/>
              <a:chOff x="9893117" y="424718"/>
              <a:chExt cx="704849" cy="178167"/>
            </a:xfrm>
            <a:solidFill>
              <a:srgbClr val="2E5BEA"/>
            </a:solidFill>
          </p:grpSpPr>
          <p:sp>
            <p:nvSpPr>
              <p:cNvPr id="48" name="椭圆 47"/>
              <p:cNvSpPr/>
              <p:nvPr>
                <p:custDataLst>
                  <p:tags r:id="rId14"/>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custDataLst>
                  <p:tags r:id="rId15"/>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custDataLst>
                  <p:tags r:id="rId16"/>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7" name="矩形: 圆角 66"/>
            <p:cNvSpPr/>
            <p:nvPr>
              <p:custDataLst>
                <p:tags r:id="rId17"/>
              </p:custDataLst>
            </p:nvPr>
          </p:nvSpPr>
          <p:spPr>
            <a:xfrm>
              <a:off x="4142645" y="3955900"/>
              <a:ext cx="3420000" cy="1800000"/>
            </a:xfrm>
            <a:prstGeom prst="roundRect">
              <a:avLst>
                <a:gd name="adj" fmla="val 0"/>
              </a:avLst>
            </a:prstGeom>
            <a:solidFill>
              <a:schemeClr val="bg1"/>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文本占位符 43"/>
            <p:cNvSpPr txBox="1"/>
            <p:nvPr>
              <p:custDataLst>
                <p:tags r:id="rId18"/>
              </p:custDataLst>
            </p:nvPr>
          </p:nvSpPr>
          <p:spPr>
            <a:xfrm>
              <a:off x="4403781" y="4885590"/>
              <a:ext cx="15240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tx1"/>
                  </a:solidFill>
                  <a:sym typeface="+mn-ea"/>
                </a:rPr>
                <a:t>成果与反思</a:t>
              </a:r>
              <a:endParaRPr lang="zh-CN" altLang="en-US" sz="2400" b="1" dirty="0">
                <a:solidFill>
                  <a:schemeClr val="tx1"/>
                </a:solidFill>
                <a:sym typeface="+mn-ea"/>
              </a:endParaRPr>
            </a:p>
          </p:txBody>
        </p:sp>
        <p:sp>
          <p:nvSpPr>
            <p:cNvPr id="69" name="文本占位符 43"/>
            <p:cNvSpPr txBox="1"/>
            <p:nvPr>
              <p:custDataLst>
                <p:tags r:id="rId19"/>
              </p:custDataLst>
            </p:nvPr>
          </p:nvSpPr>
          <p:spPr>
            <a:xfrm>
              <a:off x="4403781" y="4114767"/>
              <a:ext cx="570669"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tx1">
                      <a:alpha val="20000"/>
                    </a:schemeClr>
                  </a:solidFill>
                  <a:latin typeface="MiSans" pitchFamily="2" charset="-122"/>
                  <a:ea typeface="MiSans" pitchFamily="2" charset="-122"/>
                  <a:cs typeface="MiSans" pitchFamily="2" charset="-122"/>
                </a:rPr>
                <a:t>03</a:t>
              </a:r>
              <a:endParaRPr lang="zh-CN" altLang="en-US" sz="3400" b="1" dirty="0">
                <a:solidFill>
                  <a:schemeClr val="tx1">
                    <a:alpha val="20000"/>
                  </a:schemeClr>
                </a:solidFill>
                <a:latin typeface="MiSans" pitchFamily="2" charset="-122"/>
                <a:ea typeface="MiSans" pitchFamily="2" charset="-122"/>
                <a:cs typeface="MiSans" pitchFamily="2" charset="-122"/>
              </a:endParaRPr>
            </a:p>
          </p:txBody>
        </p:sp>
        <p:grpSp>
          <p:nvGrpSpPr>
            <p:cNvPr id="71" name="组合 70"/>
            <p:cNvGrpSpPr/>
            <p:nvPr/>
          </p:nvGrpSpPr>
          <p:grpSpPr>
            <a:xfrm rot="5400000">
              <a:off x="7191746" y="4336196"/>
              <a:ext cx="317922" cy="80362"/>
              <a:chOff x="9893117" y="424718"/>
              <a:chExt cx="704849" cy="178167"/>
            </a:xfrm>
            <a:solidFill>
              <a:srgbClr val="2E5BEA"/>
            </a:solidFill>
          </p:grpSpPr>
          <p:sp>
            <p:nvSpPr>
              <p:cNvPr id="72" name="椭圆 71"/>
              <p:cNvSpPr/>
              <p:nvPr>
                <p:custDataLst>
                  <p:tags r:id="rId20"/>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p:cNvSpPr/>
              <p:nvPr>
                <p:custDataLst>
                  <p:tags r:id="rId21"/>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custDataLst>
                  <p:tags r:id="rId22"/>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5" name="矩形: 圆角 74"/>
            <p:cNvSpPr/>
            <p:nvPr>
              <p:custDataLst>
                <p:tags r:id="rId23"/>
              </p:custDataLst>
            </p:nvPr>
          </p:nvSpPr>
          <p:spPr>
            <a:xfrm>
              <a:off x="7952440" y="3955900"/>
              <a:ext cx="3420000" cy="1800000"/>
            </a:xfrm>
            <a:prstGeom prst="roundRect">
              <a:avLst>
                <a:gd name="adj" fmla="val 0"/>
              </a:avLst>
            </a:prstGeom>
            <a:solidFill>
              <a:srgbClr val="0070D8"/>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文本占位符 43"/>
            <p:cNvSpPr txBox="1"/>
            <p:nvPr>
              <p:custDataLst>
                <p:tags r:id="rId24"/>
              </p:custDataLst>
            </p:nvPr>
          </p:nvSpPr>
          <p:spPr>
            <a:xfrm>
              <a:off x="8213576" y="4885590"/>
              <a:ext cx="1828800" cy="368935"/>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00000"/>
                </a:lnSpc>
              </a:pPr>
              <a:r>
                <a:rPr lang="zh-CN" altLang="en-US" sz="2400" b="1" dirty="0">
                  <a:solidFill>
                    <a:schemeClr val="bg1"/>
                  </a:solidFill>
                  <a:sym typeface="+mn-ea"/>
                </a:rPr>
                <a:t>后续重点工作</a:t>
              </a:r>
              <a:endParaRPr lang="zh-CN" altLang="en-US" sz="2400" b="1" dirty="0">
                <a:solidFill>
                  <a:schemeClr val="bg1"/>
                </a:solidFill>
                <a:sym typeface="+mn-ea"/>
              </a:endParaRPr>
            </a:p>
          </p:txBody>
        </p:sp>
        <p:sp>
          <p:nvSpPr>
            <p:cNvPr id="77" name="文本占位符 43"/>
            <p:cNvSpPr txBox="1"/>
            <p:nvPr>
              <p:custDataLst>
                <p:tags r:id="rId25"/>
              </p:custDataLst>
            </p:nvPr>
          </p:nvSpPr>
          <p:spPr>
            <a:xfrm>
              <a:off x="8213576" y="4114767"/>
              <a:ext cx="578685" cy="523220"/>
            </a:xfrm>
            <a:prstGeom prst="rect">
              <a:avLst/>
            </a:prstGeom>
          </p:spPr>
          <p:txBody>
            <a:bodyPr vert="horz" wrap="none" lIns="0" tIns="0" rIns="0" bIns="0" rtlCol="0" anchor="ctr" anchorCtr="0">
              <a:spAutoFit/>
            </a:bodyPr>
            <a:lstStyle>
              <a:lvl1pPr marL="0" indent="0" algn="l" defTabSz="914400" rtl="0" eaLnBrk="1" fontAlgn="ctr" latinLnBrk="0" hangingPunct="1">
                <a:lnSpc>
                  <a:spcPct val="150000"/>
                </a:lnSpc>
                <a:spcBef>
                  <a:spcPts val="1000"/>
                </a:spcBef>
                <a:buFont typeface="Arial" panose="020B0604020202020204" pitchFamily="34" charset="0"/>
                <a:buNone/>
                <a:defRPr sz="2000" kern="1200">
                  <a:solidFill>
                    <a:srgbClr val="262626"/>
                  </a:solidFill>
                  <a:latin typeface="+mn-lt"/>
                  <a:ea typeface="+mn-ea"/>
                  <a:cs typeface="+mn-cs"/>
                </a:defRPr>
              </a:lvl1pPr>
              <a:lvl2pPr marL="457200" indent="0" algn="l" defTabSz="914400" rtl="0" eaLnBrk="1" latinLnBrk="0" hangingPunct="1">
                <a:lnSpc>
                  <a:spcPct val="150000"/>
                </a:lnSpc>
                <a:spcBef>
                  <a:spcPts val="500"/>
                </a:spcBef>
                <a:buFont typeface="Arial" panose="020B0604020202020204" pitchFamily="34" charset="0"/>
                <a:buNone/>
                <a:defRPr sz="1400" kern="1200">
                  <a:solidFill>
                    <a:schemeClr val="tx1">
                      <a:lumMod val="50000"/>
                      <a:lumOff val="50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altLang="zh-CN" sz="3400" b="1" dirty="0">
                  <a:solidFill>
                    <a:schemeClr val="bg1">
                      <a:alpha val="30000"/>
                    </a:schemeClr>
                  </a:solidFill>
                  <a:latin typeface="MiSans" pitchFamily="2" charset="-122"/>
                  <a:ea typeface="MiSans" pitchFamily="2" charset="-122"/>
                  <a:cs typeface="MiSans" pitchFamily="2" charset="-122"/>
                </a:rPr>
                <a:t>04</a:t>
              </a:r>
              <a:endParaRPr lang="zh-CN" altLang="en-US" sz="3400" b="1" dirty="0">
                <a:solidFill>
                  <a:schemeClr val="bg1">
                    <a:alpha val="30000"/>
                  </a:schemeClr>
                </a:solidFill>
                <a:latin typeface="MiSans" pitchFamily="2" charset="-122"/>
                <a:ea typeface="MiSans" pitchFamily="2" charset="-122"/>
                <a:cs typeface="MiSans" pitchFamily="2" charset="-122"/>
              </a:endParaRPr>
            </a:p>
          </p:txBody>
        </p:sp>
        <p:grpSp>
          <p:nvGrpSpPr>
            <p:cNvPr id="79" name="组合 78"/>
            <p:cNvGrpSpPr/>
            <p:nvPr/>
          </p:nvGrpSpPr>
          <p:grpSpPr>
            <a:xfrm rot="5400000">
              <a:off x="11001541" y="4336196"/>
              <a:ext cx="317922" cy="80362"/>
              <a:chOff x="9893117" y="424718"/>
              <a:chExt cx="704849" cy="178167"/>
            </a:xfrm>
            <a:solidFill>
              <a:srgbClr val="2E5BEA"/>
            </a:solidFill>
          </p:grpSpPr>
          <p:sp>
            <p:nvSpPr>
              <p:cNvPr id="80" name="椭圆 79"/>
              <p:cNvSpPr/>
              <p:nvPr>
                <p:custDataLst>
                  <p:tags r:id="rId26"/>
                </p:custDataLst>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p:cNvSpPr/>
              <p:nvPr>
                <p:custDataLst>
                  <p:tags r:id="rId27"/>
                </p:custDataLst>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p:cNvSpPr/>
              <p:nvPr>
                <p:custDataLst>
                  <p:tags r:id="rId28"/>
                </p:custDataLst>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85" name="组合 84"/>
          <p:cNvGrpSpPr/>
          <p:nvPr/>
        </p:nvGrpSpPr>
        <p:grpSpPr>
          <a:xfrm rot="5400000">
            <a:off x="11614388" y="402046"/>
            <a:ext cx="317922" cy="80362"/>
            <a:chOff x="9893117" y="424718"/>
            <a:chExt cx="704849" cy="178167"/>
          </a:xfrm>
          <a:solidFill>
            <a:srgbClr val="2E5BEA"/>
          </a:solidFill>
        </p:grpSpPr>
        <p:sp>
          <p:nvSpPr>
            <p:cNvPr id="86" name="椭圆 85"/>
            <p:cNvSpPr/>
            <p:nvPr/>
          </p:nvSpPr>
          <p:spPr>
            <a:xfrm>
              <a:off x="9893117" y="424720"/>
              <a:ext cx="178165" cy="178165"/>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椭圆 86"/>
            <p:cNvSpPr/>
            <p:nvPr/>
          </p:nvSpPr>
          <p:spPr>
            <a:xfrm>
              <a:off x="10156459" y="424718"/>
              <a:ext cx="178165" cy="17816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椭圆 87"/>
            <p:cNvSpPr/>
            <p:nvPr/>
          </p:nvSpPr>
          <p:spPr>
            <a:xfrm>
              <a:off x="10419801" y="424718"/>
              <a:ext cx="178165" cy="178165"/>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 name="矩形: 圆角 37"/>
          <p:cNvSpPr/>
          <p:nvPr/>
        </p:nvSpPr>
        <p:spPr>
          <a:xfrm>
            <a:off x="-1" y="0"/>
            <a:ext cx="12192001" cy="6858000"/>
          </a:xfrm>
          <a:prstGeom prst="roundRect">
            <a:avLst>
              <a:gd name="adj" fmla="val 0"/>
            </a:avLst>
          </a:prstGeom>
          <a:gradFill flip="none" rotWithShape="1">
            <a:gsLst>
              <a:gs pos="33000">
                <a:srgbClr val="0070D8">
                  <a:alpha val="0"/>
                </a:srgbClr>
              </a:gs>
              <a:gs pos="100000">
                <a:srgbClr val="0070D8">
                  <a:alpha val="5000"/>
                </a:srgbClr>
              </a:gs>
            </a:gsLst>
            <a:lin ang="54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picture 80"/>
          <p:cNvPicPr>
            <a:picLocks noChangeAspect="1"/>
          </p:cNvPicPr>
          <p:nvPr/>
        </p:nvPicPr>
        <p:blipFill>
          <a:blip r:embed="rId1"/>
          <a:stretch>
            <a:fillRect/>
          </a:stretch>
        </p:blipFill>
        <p:spPr>
          <a:xfrm>
            <a:off x="9212985" y="408444"/>
            <a:ext cx="2674215" cy="220702"/>
          </a:xfrm>
          <a:prstGeom prst="rect">
            <a:avLst/>
          </a:prstGeom>
        </p:spPr>
      </p:pic>
      <p:sp>
        <p:nvSpPr>
          <p:cNvPr id="5" name="文本框 4"/>
          <p:cNvSpPr txBox="1"/>
          <p:nvPr/>
        </p:nvSpPr>
        <p:spPr>
          <a:xfrm>
            <a:off x="514350" y="303530"/>
            <a:ext cx="3395980" cy="462280"/>
          </a:xfrm>
          <a:prstGeom prst="rect">
            <a:avLst/>
          </a:prstGeom>
          <a:noFill/>
        </p:spPr>
        <p:txBody>
          <a:bodyPr wrap="none" rtlCol="0" anchor="t">
            <a:spAutoFit/>
          </a:bodyPr>
          <a:lstStyle/>
          <a:p>
            <a:pPr algn="l">
              <a:lnSpc>
                <a:spcPct val="105000"/>
              </a:lnSpc>
              <a:spcAft>
                <a:spcPts val="0"/>
              </a:spcAft>
            </a:pPr>
            <a:r>
              <a:rPr sz="2300" b="1">
                <a:solidFill>
                  <a:srgbClr val="1E3148"/>
                </a:solidFill>
                <a:latin typeface="微软雅黑" panose="020B0503020204020204" charset="-122"/>
                <a:sym typeface="+mn-ea"/>
              </a:rPr>
              <a:t>城市时空基座大模型研发</a:t>
            </a:r>
            <a:endParaRPr lang="zh-CN" altLang="en-US" sz="2300" b="1" kern="0" spc="80" dirty="0">
              <a:solidFill>
                <a:srgbClr val="000000">
                  <a:alpha val="100000"/>
                </a:srgbClr>
              </a:solidFill>
              <a:cs typeface="+mn-ea"/>
              <a:sym typeface="+mn-lt"/>
            </a:endParaRPr>
          </a:p>
        </p:txBody>
      </p:sp>
      <p:sp>
        <p:nvSpPr>
          <p:cNvPr id="7" name="任意多边形 62"/>
          <p:cNvSpPr/>
          <p:nvPr/>
        </p:nvSpPr>
        <p:spPr>
          <a:xfrm>
            <a:off x="304800" y="374015"/>
            <a:ext cx="205740" cy="289560"/>
          </a:xfrm>
          <a:custGeom>
            <a:avLst/>
            <a:gdLst/>
            <a:ahLst/>
            <a:cxnLst>
              <a:cxn ang="3">
                <a:pos x="hc" y="t"/>
              </a:cxn>
              <a:cxn ang="cd2">
                <a:pos x="l" y="vc"/>
              </a:cxn>
              <a:cxn ang="cd4">
                <a:pos x="hc" y="b"/>
              </a:cxn>
              <a:cxn ang="0">
                <a:pos x="r" y="vc"/>
              </a:cxn>
            </a:cxnLst>
            <a:rect l="l" t="t" r="r" b="b"/>
            <a:pathLst>
              <a:path w="324" h="456">
                <a:moveTo>
                  <a:pt x="82" y="0"/>
                </a:moveTo>
                <a:lnTo>
                  <a:pt x="324" y="0"/>
                </a:lnTo>
                <a:lnTo>
                  <a:pt x="324" y="456"/>
                </a:lnTo>
                <a:lnTo>
                  <a:pt x="82" y="456"/>
                </a:lnTo>
                <a:lnTo>
                  <a:pt x="82" y="0"/>
                </a:lnTo>
                <a:close/>
                <a:moveTo>
                  <a:pt x="0" y="0"/>
                </a:moveTo>
                <a:lnTo>
                  <a:pt x="37" y="0"/>
                </a:lnTo>
                <a:lnTo>
                  <a:pt x="37" y="456"/>
                </a:lnTo>
                <a:lnTo>
                  <a:pt x="0" y="456"/>
                </a:lnTo>
                <a:lnTo>
                  <a:pt x="0" y="0"/>
                </a:lnTo>
                <a:close/>
              </a:path>
            </a:pathLst>
          </a:custGeom>
          <a:solidFill>
            <a:srgbClr val="0070D8"/>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cs typeface="+mn-ea"/>
              <a:sym typeface="+mn-lt"/>
            </a:endParaRPr>
          </a:p>
        </p:txBody>
      </p:sp>
      <p:sp>
        <p:nvSpPr>
          <p:cNvPr id="4" name="TextBox 4"/>
          <p:cNvSpPr txBox="1"/>
          <p:nvPr/>
        </p:nvSpPr>
        <p:spPr>
          <a:xfrm>
            <a:off x="530352" y="786384"/>
            <a:ext cx="8915400" cy="292608"/>
          </a:xfrm>
          <a:prstGeom prst="rect">
            <a:avLst/>
          </a:prstGeom>
          <a:noFill/>
        </p:spPr>
        <p:txBody>
          <a:bodyPr wrap="square" lIns="27432" tIns="27432" rIns="27432" bIns="27432" anchor="ctr">
            <a:spAutoFit/>
          </a:bodyPr>
          <a:lstStyle/>
          <a:p>
            <a:pPr algn="l">
              <a:lnSpc>
                <a:spcPct val="105000"/>
              </a:lnSpc>
              <a:spcAft>
                <a:spcPts val="0"/>
              </a:spcAft>
            </a:pPr>
            <a:r>
              <a:rPr sz="1050" b="0">
                <a:solidFill>
                  <a:srgbClr val="5B6F87"/>
                </a:solidFill>
                <a:latin typeface="微软雅黑" panose="020B0503020204020204" charset="-122"/>
              </a:rPr>
              <a:t>基于开源视觉 Qwen-VL，面向地理空间与时间维度约束开展领域适配与能力增强</a:t>
            </a:r>
            <a:endParaRPr sz="1050" b="0">
              <a:solidFill>
                <a:srgbClr val="5B6F87"/>
              </a:solidFill>
              <a:latin typeface="微软雅黑" panose="020B0503020204020204" charset="-122"/>
            </a:endParaRPr>
          </a:p>
        </p:txBody>
      </p:sp>
      <p:sp>
        <p:nvSpPr>
          <p:cNvPr id="8" name="Rounded Rectangle 6"/>
          <p:cNvSpPr/>
          <p:nvPr/>
        </p:nvSpPr>
        <p:spPr>
          <a:xfrm>
            <a:off x="530352" y="1271016"/>
            <a:ext cx="11109960" cy="658368"/>
          </a:xfrm>
          <a:prstGeom prst="roundRect">
            <a:avLst>
              <a:gd name="adj" fmla="val 8000"/>
            </a:avLst>
          </a:prstGeom>
          <a:solidFill>
            <a:srgbClr val="EFF7FF"/>
          </a:solidFill>
          <a:ln w="8890">
            <a:solidFill>
              <a:srgbClr val="EFF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7"/>
          <p:cNvSpPr txBox="1"/>
          <p:nvPr/>
        </p:nvSpPr>
        <p:spPr>
          <a:xfrm>
            <a:off x="768350" y="1389063"/>
            <a:ext cx="1022350" cy="312420"/>
          </a:xfrm>
          <a:prstGeom prst="rect">
            <a:avLst/>
          </a:prstGeom>
          <a:noFill/>
        </p:spPr>
        <p:txBody>
          <a:bodyPr wrap="square" lIns="27432" tIns="27432" rIns="27432" bIns="27432" anchor="ctr">
            <a:spAutoFit/>
          </a:bodyPr>
          <a:lstStyle/>
          <a:p>
            <a:pPr algn="l">
              <a:lnSpc>
                <a:spcPct val="105000"/>
              </a:lnSpc>
              <a:spcAft>
                <a:spcPts val="0"/>
              </a:spcAft>
            </a:pPr>
            <a:r>
              <a:rPr sz="1600" b="1">
                <a:solidFill>
                  <a:srgbClr val="1070E0"/>
                </a:solidFill>
                <a:latin typeface="微软雅黑" panose="020B0503020204020204" charset="-122"/>
              </a:rPr>
              <a:t>研发目标</a:t>
            </a:r>
            <a:endParaRPr sz="1600" b="1">
              <a:solidFill>
                <a:srgbClr val="1070E0"/>
              </a:solidFill>
              <a:latin typeface="微软雅黑" panose="020B0503020204020204" charset="-122"/>
            </a:endParaRPr>
          </a:p>
        </p:txBody>
      </p:sp>
      <p:sp>
        <p:nvSpPr>
          <p:cNvPr id="10" name="TextBox 8"/>
          <p:cNvSpPr txBox="1"/>
          <p:nvPr/>
        </p:nvSpPr>
        <p:spPr>
          <a:xfrm>
            <a:off x="1719072" y="1396175"/>
            <a:ext cx="9555480" cy="280035"/>
          </a:xfrm>
          <a:prstGeom prst="rect">
            <a:avLst/>
          </a:prstGeom>
          <a:noFill/>
        </p:spPr>
        <p:txBody>
          <a:bodyPr wrap="square" lIns="27432" tIns="27432" rIns="27432" bIns="27432" anchor="ctr">
            <a:spAutoFit/>
          </a:bodyPr>
          <a:lstStyle/>
          <a:p>
            <a:pPr algn="l">
              <a:lnSpc>
                <a:spcPct val="105000"/>
              </a:lnSpc>
              <a:spcAft>
                <a:spcPts val="0"/>
              </a:spcAft>
            </a:pPr>
            <a:r>
              <a:rPr sz="1400" b="1">
                <a:solidFill>
                  <a:srgbClr val="1E3148"/>
                </a:solidFill>
                <a:latin typeface="微软雅黑" panose="020B0503020204020204" charset="-122"/>
              </a:rPr>
              <a:t>构建能够理解城市基础设施对象、空间关系与时间演化信息的多模态时空基座模型。</a:t>
            </a:r>
            <a:endParaRPr sz="1400" b="1">
              <a:solidFill>
                <a:srgbClr val="1E3148"/>
              </a:solidFill>
              <a:latin typeface="微软雅黑" panose="020B0503020204020204" charset="-122"/>
            </a:endParaRPr>
          </a:p>
        </p:txBody>
      </p:sp>
      <p:sp>
        <p:nvSpPr>
          <p:cNvPr id="11" name="Rounded Rectangle 9"/>
          <p:cNvSpPr/>
          <p:nvPr/>
        </p:nvSpPr>
        <p:spPr>
          <a:xfrm>
            <a:off x="611632" y="2570988"/>
            <a:ext cx="2487168" cy="2240280"/>
          </a:xfrm>
          <a:prstGeom prst="roundRect">
            <a:avLst>
              <a:gd name="adj" fmla="val 8000"/>
            </a:avLst>
          </a:prstGeom>
          <a:solidFill>
            <a:srgbClr val="FFFFFF"/>
          </a:solidFill>
          <a:ln w="8890">
            <a:solidFill>
              <a:srgbClr val="D7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0"/>
          <p:cNvSpPr/>
          <p:nvPr/>
        </p:nvSpPr>
        <p:spPr>
          <a:xfrm>
            <a:off x="611632" y="2570988"/>
            <a:ext cx="64008" cy="2240280"/>
          </a:xfrm>
          <a:prstGeom prst="rect">
            <a:avLst/>
          </a:prstGeom>
          <a:solidFill>
            <a:srgbClr val="1070E0"/>
          </a:solidFill>
          <a:ln w="1270">
            <a:solidFill>
              <a:srgbClr val="107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1"/>
          <p:cNvSpPr/>
          <p:nvPr/>
        </p:nvSpPr>
        <p:spPr>
          <a:xfrm>
            <a:off x="794512" y="2735580"/>
            <a:ext cx="402336" cy="402336"/>
          </a:xfrm>
          <a:prstGeom prst="ellipse">
            <a:avLst/>
          </a:prstGeom>
          <a:solidFill>
            <a:srgbClr val="1070E0"/>
          </a:solidFill>
          <a:ln>
            <a:solidFill>
              <a:srgbClr val="107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2"/>
          <p:cNvSpPr txBox="1"/>
          <p:nvPr/>
        </p:nvSpPr>
        <p:spPr>
          <a:xfrm>
            <a:off x="794512" y="2817876"/>
            <a:ext cx="402336" cy="155448"/>
          </a:xfrm>
          <a:prstGeom prst="rect">
            <a:avLst/>
          </a:prstGeom>
          <a:noFill/>
        </p:spPr>
        <p:txBody>
          <a:bodyPr wrap="square" lIns="27432" tIns="27432" rIns="27432" bIns="27432" anchor="ctr">
            <a:spAutoFit/>
          </a:bodyPr>
          <a:lstStyle/>
          <a:p>
            <a:pPr algn="ctr">
              <a:lnSpc>
                <a:spcPct val="105000"/>
              </a:lnSpc>
              <a:spcAft>
                <a:spcPts val="0"/>
              </a:spcAft>
            </a:pPr>
            <a:r>
              <a:rPr sz="850" b="1">
                <a:solidFill>
                  <a:srgbClr val="FFFFFF"/>
                </a:solidFill>
                <a:latin typeface="微软雅黑" panose="020B0503020204020204" charset="-122"/>
              </a:rPr>
              <a:t>01</a:t>
            </a:r>
            <a:endParaRPr sz="850" b="1">
              <a:solidFill>
                <a:srgbClr val="FFFFFF"/>
              </a:solidFill>
              <a:latin typeface="微软雅黑" panose="020B0503020204020204" charset="-122"/>
            </a:endParaRPr>
          </a:p>
        </p:txBody>
      </p:sp>
      <p:sp>
        <p:nvSpPr>
          <p:cNvPr id="15" name="TextBox 13"/>
          <p:cNvSpPr txBox="1"/>
          <p:nvPr/>
        </p:nvSpPr>
        <p:spPr>
          <a:xfrm>
            <a:off x="1343152" y="2699004"/>
            <a:ext cx="1554480" cy="283464"/>
          </a:xfrm>
          <a:prstGeom prst="rect">
            <a:avLst/>
          </a:prstGeom>
          <a:noFill/>
        </p:spPr>
        <p:txBody>
          <a:bodyPr wrap="square" lIns="27432" tIns="27432" rIns="27432" bIns="27432" anchor="ctr">
            <a:spAutoFit/>
          </a:bodyPr>
          <a:lstStyle/>
          <a:p>
            <a:pPr algn="l">
              <a:lnSpc>
                <a:spcPct val="105000"/>
              </a:lnSpc>
              <a:spcAft>
                <a:spcPts val="0"/>
              </a:spcAft>
            </a:pPr>
            <a:r>
              <a:rPr sz="1250" b="1">
                <a:solidFill>
                  <a:srgbClr val="1E3148"/>
                </a:solidFill>
                <a:latin typeface="微软雅黑" panose="020B0503020204020204" charset="-122"/>
              </a:rPr>
              <a:t>多模态数据构建</a:t>
            </a:r>
            <a:endParaRPr sz="1250" b="1">
              <a:solidFill>
                <a:srgbClr val="1E3148"/>
              </a:solidFill>
              <a:latin typeface="微软雅黑" panose="020B0503020204020204" charset="-122"/>
            </a:endParaRPr>
          </a:p>
        </p:txBody>
      </p:sp>
      <p:sp>
        <p:nvSpPr>
          <p:cNvPr id="16" name="TextBox 14"/>
          <p:cNvSpPr txBox="1"/>
          <p:nvPr/>
        </p:nvSpPr>
        <p:spPr>
          <a:xfrm>
            <a:off x="840232" y="3137916"/>
            <a:ext cx="2029968" cy="1183005"/>
          </a:xfrm>
          <a:prstGeom prst="rect">
            <a:avLst/>
          </a:prstGeom>
          <a:noFill/>
        </p:spPr>
        <p:txBody>
          <a:bodyPr wrap="square" lIns="27432" tIns="27432" rIns="27432" bIns="27432" anchor="t">
            <a:spAutoFit/>
          </a:bodyPr>
          <a:lstStyle/>
          <a:p>
            <a:pPr algn="l">
              <a:lnSpc>
                <a:spcPct val="105000"/>
              </a:lnSpc>
              <a:spcAft>
                <a:spcPts val="0"/>
              </a:spcAft>
            </a:pPr>
            <a:r>
              <a:rPr sz="1400" b="0">
                <a:solidFill>
                  <a:srgbClr val="5B6F87"/>
                </a:solidFill>
                <a:latin typeface="微软雅黑" panose="020B0503020204020204" charset="-122"/>
              </a:rPr>
              <a:t>组织遥感影像、地图、GIS 矢量、三维场景、业务文本与时序记录，形成面向城市基础设施的训练与评测样本。</a:t>
            </a:r>
            <a:endParaRPr sz="1400" b="0">
              <a:solidFill>
                <a:srgbClr val="5B6F87"/>
              </a:solidFill>
              <a:latin typeface="微软雅黑" panose="020B0503020204020204" charset="-122"/>
            </a:endParaRPr>
          </a:p>
        </p:txBody>
      </p:sp>
      <p:sp>
        <p:nvSpPr>
          <p:cNvPr id="17" name="Rounded Rectangle 15"/>
          <p:cNvSpPr/>
          <p:nvPr/>
        </p:nvSpPr>
        <p:spPr>
          <a:xfrm>
            <a:off x="3437128" y="2570988"/>
            <a:ext cx="2487168" cy="2240280"/>
          </a:xfrm>
          <a:prstGeom prst="roundRect">
            <a:avLst>
              <a:gd name="adj" fmla="val 8000"/>
            </a:avLst>
          </a:prstGeom>
          <a:solidFill>
            <a:srgbClr val="FFFFFF"/>
          </a:solidFill>
          <a:ln w="8890">
            <a:solidFill>
              <a:srgbClr val="D7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6"/>
          <p:cNvSpPr/>
          <p:nvPr/>
        </p:nvSpPr>
        <p:spPr>
          <a:xfrm>
            <a:off x="3437128" y="2570988"/>
            <a:ext cx="64008" cy="2240280"/>
          </a:xfrm>
          <a:prstGeom prst="rect">
            <a:avLst/>
          </a:prstGeom>
          <a:solidFill>
            <a:srgbClr val="18A6CF"/>
          </a:solidFill>
          <a:ln w="1270">
            <a:solidFill>
              <a:srgbClr val="18A6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7"/>
          <p:cNvSpPr/>
          <p:nvPr/>
        </p:nvSpPr>
        <p:spPr>
          <a:xfrm>
            <a:off x="3620008" y="2735580"/>
            <a:ext cx="402336" cy="402336"/>
          </a:xfrm>
          <a:prstGeom prst="ellipse">
            <a:avLst/>
          </a:prstGeom>
          <a:solidFill>
            <a:srgbClr val="18A6CF"/>
          </a:solidFill>
          <a:ln>
            <a:solidFill>
              <a:srgbClr val="18A6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8"/>
          <p:cNvSpPr txBox="1"/>
          <p:nvPr/>
        </p:nvSpPr>
        <p:spPr>
          <a:xfrm>
            <a:off x="3620008" y="2817876"/>
            <a:ext cx="402336" cy="155448"/>
          </a:xfrm>
          <a:prstGeom prst="rect">
            <a:avLst/>
          </a:prstGeom>
          <a:noFill/>
        </p:spPr>
        <p:txBody>
          <a:bodyPr wrap="square" lIns="27432" tIns="27432" rIns="27432" bIns="27432" anchor="ctr">
            <a:spAutoFit/>
          </a:bodyPr>
          <a:lstStyle/>
          <a:p>
            <a:pPr algn="ctr">
              <a:lnSpc>
                <a:spcPct val="105000"/>
              </a:lnSpc>
              <a:spcAft>
                <a:spcPts val="0"/>
              </a:spcAft>
            </a:pPr>
            <a:r>
              <a:rPr sz="850" b="1">
                <a:solidFill>
                  <a:srgbClr val="FFFFFF"/>
                </a:solidFill>
                <a:latin typeface="微软雅黑" panose="020B0503020204020204" charset="-122"/>
              </a:rPr>
              <a:t>02</a:t>
            </a:r>
            <a:endParaRPr sz="850" b="1">
              <a:solidFill>
                <a:srgbClr val="FFFFFF"/>
              </a:solidFill>
              <a:latin typeface="微软雅黑" panose="020B0503020204020204" charset="-122"/>
            </a:endParaRPr>
          </a:p>
        </p:txBody>
      </p:sp>
      <p:sp>
        <p:nvSpPr>
          <p:cNvPr id="21" name="TextBox 19"/>
          <p:cNvSpPr txBox="1"/>
          <p:nvPr/>
        </p:nvSpPr>
        <p:spPr>
          <a:xfrm>
            <a:off x="4168648" y="2699004"/>
            <a:ext cx="1554480" cy="283464"/>
          </a:xfrm>
          <a:prstGeom prst="rect">
            <a:avLst/>
          </a:prstGeom>
          <a:noFill/>
        </p:spPr>
        <p:txBody>
          <a:bodyPr wrap="square" lIns="27432" tIns="27432" rIns="27432" bIns="27432" anchor="ctr">
            <a:spAutoFit/>
          </a:bodyPr>
          <a:lstStyle/>
          <a:p>
            <a:pPr algn="l">
              <a:lnSpc>
                <a:spcPct val="105000"/>
              </a:lnSpc>
              <a:spcAft>
                <a:spcPts val="0"/>
              </a:spcAft>
            </a:pPr>
            <a:r>
              <a:rPr sz="1250" b="1">
                <a:solidFill>
                  <a:srgbClr val="1E3148"/>
                </a:solidFill>
                <a:latin typeface="微软雅黑" panose="020B0503020204020204" charset="-122"/>
              </a:rPr>
              <a:t>空间约束微调</a:t>
            </a:r>
            <a:endParaRPr sz="1250" b="1">
              <a:solidFill>
                <a:srgbClr val="1E3148"/>
              </a:solidFill>
              <a:latin typeface="微软雅黑" panose="020B0503020204020204" charset="-122"/>
            </a:endParaRPr>
          </a:p>
        </p:txBody>
      </p:sp>
      <p:sp>
        <p:nvSpPr>
          <p:cNvPr id="22" name="TextBox 20"/>
          <p:cNvSpPr txBox="1"/>
          <p:nvPr/>
        </p:nvSpPr>
        <p:spPr>
          <a:xfrm>
            <a:off x="3665728" y="3137916"/>
            <a:ext cx="2029968" cy="1183005"/>
          </a:xfrm>
          <a:prstGeom prst="rect">
            <a:avLst/>
          </a:prstGeom>
          <a:noFill/>
        </p:spPr>
        <p:txBody>
          <a:bodyPr wrap="square" lIns="27432" tIns="27432" rIns="27432" bIns="27432" anchor="t">
            <a:spAutoFit/>
          </a:bodyPr>
          <a:lstStyle/>
          <a:p>
            <a:pPr algn="l">
              <a:lnSpc>
                <a:spcPct val="105000"/>
              </a:lnSpc>
              <a:spcAft>
                <a:spcPts val="0"/>
              </a:spcAft>
            </a:pPr>
            <a:r>
              <a:rPr sz="1400" b="0">
                <a:solidFill>
                  <a:srgbClr val="5B6F87"/>
                </a:solidFill>
                <a:latin typeface="微软雅黑" panose="020B0503020204020204" charset="-122"/>
              </a:rPr>
              <a:t>将坐标、距离、方向、邻接、包含、连通和上下游等空间关系转化为训练约束，增强模型空间关系理解。</a:t>
            </a:r>
            <a:endParaRPr sz="1400" b="0">
              <a:solidFill>
                <a:srgbClr val="5B6F87"/>
              </a:solidFill>
              <a:latin typeface="微软雅黑" panose="020B0503020204020204" charset="-122"/>
            </a:endParaRPr>
          </a:p>
        </p:txBody>
      </p:sp>
      <p:sp>
        <p:nvSpPr>
          <p:cNvPr id="23" name="Rounded Rectangle 21"/>
          <p:cNvSpPr/>
          <p:nvPr/>
        </p:nvSpPr>
        <p:spPr>
          <a:xfrm>
            <a:off x="6262624" y="2570988"/>
            <a:ext cx="2487168" cy="2240280"/>
          </a:xfrm>
          <a:prstGeom prst="roundRect">
            <a:avLst>
              <a:gd name="adj" fmla="val 8000"/>
            </a:avLst>
          </a:prstGeom>
          <a:solidFill>
            <a:srgbClr val="FFFFFF"/>
          </a:solidFill>
          <a:ln w="8890">
            <a:solidFill>
              <a:srgbClr val="D7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2"/>
          <p:cNvSpPr/>
          <p:nvPr/>
        </p:nvSpPr>
        <p:spPr>
          <a:xfrm>
            <a:off x="6262624" y="2570988"/>
            <a:ext cx="64008" cy="2240280"/>
          </a:xfrm>
          <a:prstGeom prst="rect">
            <a:avLst/>
          </a:prstGeom>
          <a:solidFill>
            <a:srgbClr val="219167"/>
          </a:solidFill>
          <a:ln w="1270">
            <a:solidFill>
              <a:srgbClr val="2191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3"/>
          <p:cNvSpPr/>
          <p:nvPr/>
        </p:nvSpPr>
        <p:spPr>
          <a:xfrm>
            <a:off x="6445504" y="2735580"/>
            <a:ext cx="402336" cy="402336"/>
          </a:xfrm>
          <a:prstGeom prst="ellipse">
            <a:avLst/>
          </a:prstGeom>
          <a:solidFill>
            <a:srgbClr val="219167"/>
          </a:solidFill>
          <a:ln>
            <a:solidFill>
              <a:srgbClr val="2191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4"/>
          <p:cNvSpPr txBox="1"/>
          <p:nvPr/>
        </p:nvSpPr>
        <p:spPr>
          <a:xfrm>
            <a:off x="6445504" y="2817876"/>
            <a:ext cx="402336" cy="155448"/>
          </a:xfrm>
          <a:prstGeom prst="rect">
            <a:avLst/>
          </a:prstGeom>
          <a:noFill/>
        </p:spPr>
        <p:txBody>
          <a:bodyPr wrap="square" lIns="27432" tIns="27432" rIns="27432" bIns="27432" anchor="ctr">
            <a:spAutoFit/>
          </a:bodyPr>
          <a:lstStyle/>
          <a:p>
            <a:pPr algn="ctr">
              <a:lnSpc>
                <a:spcPct val="105000"/>
              </a:lnSpc>
              <a:spcAft>
                <a:spcPts val="0"/>
              </a:spcAft>
            </a:pPr>
            <a:r>
              <a:rPr sz="850" b="1">
                <a:solidFill>
                  <a:srgbClr val="FFFFFF"/>
                </a:solidFill>
                <a:latin typeface="微软雅黑" panose="020B0503020204020204" charset="-122"/>
              </a:rPr>
              <a:t>03</a:t>
            </a:r>
            <a:endParaRPr sz="850" b="1">
              <a:solidFill>
                <a:srgbClr val="FFFFFF"/>
              </a:solidFill>
              <a:latin typeface="微软雅黑" panose="020B0503020204020204" charset="-122"/>
            </a:endParaRPr>
          </a:p>
        </p:txBody>
      </p:sp>
      <p:sp>
        <p:nvSpPr>
          <p:cNvPr id="27" name="TextBox 25"/>
          <p:cNvSpPr txBox="1"/>
          <p:nvPr/>
        </p:nvSpPr>
        <p:spPr>
          <a:xfrm>
            <a:off x="6994144" y="2699004"/>
            <a:ext cx="1554480" cy="283464"/>
          </a:xfrm>
          <a:prstGeom prst="rect">
            <a:avLst/>
          </a:prstGeom>
          <a:noFill/>
        </p:spPr>
        <p:txBody>
          <a:bodyPr wrap="square" lIns="27432" tIns="27432" rIns="27432" bIns="27432" anchor="ctr">
            <a:spAutoFit/>
          </a:bodyPr>
          <a:lstStyle/>
          <a:p>
            <a:pPr algn="l">
              <a:lnSpc>
                <a:spcPct val="105000"/>
              </a:lnSpc>
              <a:spcAft>
                <a:spcPts val="0"/>
              </a:spcAft>
            </a:pPr>
            <a:r>
              <a:rPr sz="1250" b="1">
                <a:solidFill>
                  <a:srgbClr val="1E3148"/>
                </a:solidFill>
                <a:latin typeface="微软雅黑" panose="020B0503020204020204" charset="-122"/>
              </a:rPr>
              <a:t>时间约束微调</a:t>
            </a:r>
            <a:endParaRPr sz="1250" b="1">
              <a:solidFill>
                <a:srgbClr val="1E3148"/>
              </a:solidFill>
              <a:latin typeface="微软雅黑" panose="020B0503020204020204" charset="-122"/>
            </a:endParaRPr>
          </a:p>
        </p:txBody>
      </p:sp>
      <p:sp>
        <p:nvSpPr>
          <p:cNvPr id="28" name="TextBox 26"/>
          <p:cNvSpPr txBox="1"/>
          <p:nvPr/>
        </p:nvSpPr>
        <p:spPr>
          <a:xfrm>
            <a:off x="6491224" y="3137916"/>
            <a:ext cx="2029968" cy="956945"/>
          </a:xfrm>
          <a:prstGeom prst="rect">
            <a:avLst/>
          </a:prstGeom>
          <a:noFill/>
        </p:spPr>
        <p:txBody>
          <a:bodyPr wrap="square" lIns="27432" tIns="27432" rIns="27432" bIns="27432" anchor="t">
            <a:spAutoFit/>
          </a:bodyPr>
          <a:lstStyle/>
          <a:p>
            <a:pPr algn="l">
              <a:lnSpc>
                <a:spcPct val="105000"/>
              </a:lnSpc>
              <a:spcAft>
                <a:spcPts val="0"/>
              </a:spcAft>
            </a:pPr>
            <a:r>
              <a:rPr sz="1400" b="0">
                <a:solidFill>
                  <a:srgbClr val="5B6F87"/>
                </a:solidFill>
                <a:latin typeface="微软雅黑" panose="020B0503020204020204" charset="-122"/>
              </a:rPr>
              <a:t>引入时间点、时间区间、状态变化和历史版本等信息，增强模型对时序事件与对象演化的理解。</a:t>
            </a:r>
            <a:endParaRPr sz="1400" b="0">
              <a:solidFill>
                <a:srgbClr val="5B6F87"/>
              </a:solidFill>
              <a:latin typeface="微软雅黑" panose="020B0503020204020204" charset="-122"/>
            </a:endParaRPr>
          </a:p>
        </p:txBody>
      </p:sp>
      <p:sp>
        <p:nvSpPr>
          <p:cNvPr id="29" name="Rounded Rectangle 27"/>
          <p:cNvSpPr/>
          <p:nvPr/>
        </p:nvSpPr>
        <p:spPr>
          <a:xfrm>
            <a:off x="9088120" y="2570988"/>
            <a:ext cx="2487168" cy="2240280"/>
          </a:xfrm>
          <a:prstGeom prst="roundRect">
            <a:avLst>
              <a:gd name="adj" fmla="val 8000"/>
            </a:avLst>
          </a:prstGeom>
          <a:solidFill>
            <a:srgbClr val="FFFFFF"/>
          </a:solidFill>
          <a:ln w="8890">
            <a:solidFill>
              <a:srgbClr val="D7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8"/>
          <p:cNvSpPr/>
          <p:nvPr/>
        </p:nvSpPr>
        <p:spPr>
          <a:xfrm>
            <a:off x="9088120" y="2570988"/>
            <a:ext cx="64008" cy="2240280"/>
          </a:xfrm>
          <a:prstGeom prst="rect">
            <a:avLst/>
          </a:prstGeom>
          <a:solidFill>
            <a:srgbClr val="E58B30"/>
          </a:solidFill>
          <a:ln w="1270">
            <a:solidFill>
              <a:srgbClr val="E58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29"/>
          <p:cNvSpPr/>
          <p:nvPr/>
        </p:nvSpPr>
        <p:spPr>
          <a:xfrm>
            <a:off x="9270999" y="2735580"/>
            <a:ext cx="402336" cy="402336"/>
          </a:xfrm>
          <a:prstGeom prst="ellipse">
            <a:avLst/>
          </a:prstGeom>
          <a:solidFill>
            <a:srgbClr val="E58B30"/>
          </a:solidFill>
          <a:ln>
            <a:solidFill>
              <a:srgbClr val="E58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0"/>
          <p:cNvSpPr txBox="1"/>
          <p:nvPr/>
        </p:nvSpPr>
        <p:spPr>
          <a:xfrm>
            <a:off x="9270999" y="2817876"/>
            <a:ext cx="402336" cy="155448"/>
          </a:xfrm>
          <a:prstGeom prst="rect">
            <a:avLst/>
          </a:prstGeom>
          <a:noFill/>
        </p:spPr>
        <p:txBody>
          <a:bodyPr wrap="square" lIns="27432" tIns="27432" rIns="27432" bIns="27432" anchor="ctr">
            <a:spAutoFit/>
          </a:bodyPr>
          <a:lstStyle/>
          <a:p>
            <a:pPr algn="ctr">
              <a:lnSpc>
                <a:spcPct val="105000"/>
              </a:lnSpc>
              <a:spcAft>
                <a:spcPts val="0"/>
              </a:spcAft>
            </a:pPr>
            <a:r>
              <a:rPr sz="850" b="1">
                <a:solidFill>
                  <a:srgbClr val="FFFFFF"/>
                </a:solidFill>
                <a:latin typeface="微软雅黑" panose="020B0503020204020204" charset="-122"/>
              </a:rPr>
              <a:t>04</a:t>
            </a:r>
            <a:endParaRPr sz="850" b="1">
              <a:solidFill>
                <a:srgbClr val="FFFFFF"/>
              </a:solidFill>
              <a:latin typeface="微软雅黑" panose="020B0503020204020204" charset="-122"/>
            </a:endParaRPr>
          </a:p>
        </p:txBody>
      </p:sp>
      <p:sp>
        <p:nvSpPr>
          <p:cNvPr id="33" name="TextBox 31"/>
          <p:cNvSpPr txBox="1"/>
          <p:nvPr/>
        </p:nvSpPr>
        <p:spPr>
          <a:xfrm>
            <a:off x="9819640" y="2699004"/>
            <a:ext cx="1554480" cy="283464"/>
          </a:xfrm>
          <a:prstGeom prst="rect">
            <a:avLst/>
          </a:prstGeom>
          <a:noFill/>
        </p:spPr>
        <p:txBody>
          <a:bodyPr wrap="square" lIns="27432" tIns="27432" rIns="27432" bIns="27432" anchor="ctr">
            <a:spAutoFit/>
          </a:bodyPr>
          <a:lstStyle/>
          <a:p>
            <a:pPr algn="l">
              <a:lnSpc>
                <a:spcPct val="105000"/>
              </a:lnSpc>
              <a:spcAft>
                <a:spcPts val="0"/>
              </a:spcAft>
            </a:pPr>
            <a:r>
              <a:rPr sz="1250" b="1">
                <a:solidFill>
                  <a:srgbClr val="1E3148"/>
                </a:solidFill>
                <a:latin typeface="微软雅黑" panose="020B0503020204020204" charset="-122"/>
              </a:rPr>
              <a:t>能力评测与应用</a:t>
            </a:r>
            <a:endParaRPr sz="1250" b="1">
              <a:solidFill>
                <a:srgbClr val="1E3148"/>
              </a:solidFill>
              <a:latin typeface="微软雅黑" panose="020B0503020204020204" charset="-122"/>
            </a:endParaRPr>
          </a:p>
        </p:txBody>
      </p:sp>
      <p:sp>
        <p:nvSpPr>
          <p:cNvPr id="34" name="TextBox 32"/>
          <p:cNvSpPr txBox="1"/>
          <p:nvPr/>
        </p:nvSpPr>
        <p:spPr>
          <a:xfrm>
            <a:off x="9316720" y="3137916"/>
            <a:ext cx="2029968" cy="956945"/>
          </a:xfrm>
          <a:prstGeom prst="rect">
            <a:avLst/>
          </a:prstGeom>
          <a:noFill/>
        </p:spPr>
        <p:txBody>
          <a:bodyPr wrap="square" lIns="27432" tIns="27432" rIns="27432" bIns="27432" anchor="t">
            <a:spAutoFit/>
          </a:bodyPr>
          <a:lstStyle/>
          <a:p>
            <a:pPr algn="l">
              <a:lnSpc>
                <a:spcPct val="105000"/>
              </a:lnSpc>
              <a:spcAft>
                <a:spcPts val="0"/>
              </a:spcAft>
            </a:pPr>
            <a:r>
              <a:rPr sz="1400" b="0">
                <a:solidFill>
                  <a:srgbClr val="5B6F87"/>
                </a:solidFill>
                <a:latin typeface="微软雅黑" panose="020B0503020204020204" charset="-122"/>
              </a:rPr>
              <a:t>围绕对象识别、空间关系问答、时序分析开展评测，并形成可调用的模型服务能力。</a:t>
            </a:r>
            <a:endParaRPr sz="1400" b="0">
              <a:solidFill>
                <a:srgbClr val="5B6F87"/>
              </a:solidFill>
              <a:latin typeface="微软雅黑" panose="020B0503020204020204" charset="-122"/>
            </a:endParaRPr>
          </a:p>
        </p:txBody>
      </p:sp>
      <p:sp>
        <p:nvSpPr>
          <p:cNvPr id="35" name="TextBox 33"/>
          <p:cNvSpPr txBox="1"/>
          <p:nvPr/>
        </p:nvSpPr>
        <p:spPr>
          <a:xfrm>
            <a:off x="3226816" y="3448812"/>
            <a:ext cx="164592" cy="256032"/>
          </a:xfrm>
          <a:prstGeom prst="rect">
            <a:avLst/>
          </a:prstGeom>
          <a:noFill/>
        </p:spPr>
        <p:txBody>
          <a:bodyPr wrap="square" lIns="27432" tIns="27432" rIns="27432" bIns="27432" anchor="ctr">
            <a:spAutoFit/>
          </a:bodyPr>
          <a:lstStyle/>
          <a:p>
            <a:pPr algn="ctr">
              <a:lnSpc>
                <a:spcPct val="105000"/>
              </a:lnSpc>
              <a:spcAft>
                <a:spcPts val="0"/>
              </a:spcAft>
            </a:pPr>
            <a:r>
              <a:rPr sz="1700" b="1">
                <a:solidFill>
                  <a:srgbClr val="1070E0"/>
                </a:solidFill>
                <a:latin typeface="微软雅黑" panose="020B0503020204020204" charset="-122"/>
              </a:rPr>
              <a:t>→</a:t>
            </a:r>
            <a:endParaRPr sz="1700" b="1">
              <a:solidFill>
                <a:srgbClr val="1070E0"/>
              </a:solidFill>
              <a:latin typeface="微软雅黑" panose="020B0503020204020204" charset="-122"/>
            </a:endParaRPr>
          </a:p>
        </p:txBody>
      </p:sp>
      <p:sp>
        <p:nvSpPr>
          <p:cNvPr id="36" name="TextBox 34"/>
          <p:cNvSpPr txBox="1"/>
          <p:nvPr/>
        </p:nvSpPr>
        <p:spPr>
          <a:xfrm>
            <a:off x="6052312" y="3448812"/>
            <a:ext cx="164592" cy="256032"/>
          </a:xfrm>
          <a:prstGeom prst="rect">
            <a:avLst/>
          </a:prstGeom>
          <a:noFill/>
        </p:spPr>
        <p:txBody>
          <a:bodyPr wrap="square" lIns="27432" tIns="27432" rIns="27432" bIns="27432" anchor="ctr">
            <a:spAutoFit/>
          </a:bodyPr>
          <a:lstStyle/>
          <a:p>
            <a:pPr algn="ctr">
              <a:lnSpc>
                <a:spcPct val="105000"/>
              </a:lnSpc>
              <a:spcAft>
                <a:spcPts val="0"/>
              </a:spcAft>
            </a:pPr>
            <a:r>
              <a:rPr sz="1700" b="1">
                <a:solidFill>
                  <a:srgbClr val="1070E0"/>
                </a:solidFill>
                <a:latin typeface="微软雅黑" panose="020B0503020204020204" charset="-122"/>
              </a:rPr>
              <a:t>→</a:t>
            </a:r>
            <a:endParaRPr sz="1700" b="1">
              <a:solidFill>
                <a:srgbClr val="1070E0"/>
              </a:solidFill>
              <a:latin typeface="微软雅黑" panose="020B0503020204020204" charset="-122"/>
            </a:endParaRPr>
          </a:p>
        </p:txBody>
      </p:sp>
      <p:sp>
        <p:nvSpPr>
          <p:cNvPr id="37" name="TextBox 35"/>
          <p:cNvSpPr txBox="1"/>
          <p:nvPr/>
        </p:nvSpPr>
        <p:spPr>
          <a:xfrm>
            <a:off x="8877808" y="3448812"/>
            <a:ext cx="164592" cy="256032"/>
          </a:xfrm>
          <a:prstGeom prst="rect">
            <a:avLst/>
          </a:prstGeom>
          <a:noFill/>
        </p:spPr>
        <p:txBody>
          <a:bodyPr wrap="square" lIns="27432" tIns="27432" rIns="27432" bIns="27432" anchor="ctr">
            <a:spAutoFit/>
          </a:bodyPr>
          <a:lstStyle/>
          <a:p>
            <a:pPr algn="ctr">
              <a:lnSpc>
                <a:spcPct val="105000"/>
              </a:lnSpc>
              <a:spcAft>
                <a:spcPts val="0"/>
              </a:spcAft>
            </a:pPr>
            <a:r>
              <a:rPr sz="1700" b="1">
                <a:solidFill>
                  <a:srgbClr val="1070E0"/>
                </a:solidFill>
                <a:latin typeface="微软雅黑" panose="020B0503020204020204" charset="-122"/>
              </a:rPr>
              <a:t>→</a:t>
            </a:r>
            <a:endParaRPr sz="1700" b="1">
              <a:solidFill>
                <a:srgbClr val="1070E0"/>
              </a:solidFill>
              <a:latin typeface="微软雅黑" panose="020B0503020204020204" charset="-122"/>
            </a:endParaRPr>
          </a:p>
        </p:txBody>
      </p:sp>
      <p:sp>
        <p:nvSpPr>
          <p:cNvPr id="47" name="Rounded Rectangle 44"/>
          <p:cNvSpPr/>
          <p:nvPr/>
        </p:nvSpPr>
        <p:spPr>
          <a:xfrm>
            <a:off x="530352" y="5733288"/>
            <a:ext cx="11109960" cy="438912"/>
          </a:xfrm>
          <a:prstGeom prst="roundRect">
            <a:avLst>
              <a:gd name="adj" fmla="val 8000"/>
            </a:avLst>
          </a:prstGeom>
          <a:solidFill>
            <a:srgbClr val="103258"/>
          </a:solidFill>
          <a:ln w="8890">
            <a:solidFill>
              <a:srgbClr val="1032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5"/>
          <p:cNvSpPr txBox="1"/>
          <p:nvPr/>
        </p:nvSpPr>
        <p:spPr>
          <a:xfrm>
            <a:off x="777240" y="5815584"/>
            <a:ext cx="10607040" cy="246888"/>
          </a:xfrm>
          <a:prstGeom prst="rect">
            <a:avLst/>
          </a:prstGeom>
          <a:noFill/>
        </p:spPr>
        <p:txBody>
          <a:bodyPr wrap="square" lIns="27432" tIns="27432" rIns="27432" bIns="27432" anchor="ctr">
            <a:spAutoFit/>
          </a:bodyPr>
          <a:lstStyle/>
          <a:p>
            <a:pPr algn="ctr">
              <a:lnSpc>
                <a:spcPct val="105000"/>
              </a:lnSpc>
              <a:spcAft>
                <a:spcPts val="0"/>
              </a:spcAft>
            </a:pPr>
            <a:r>
              <a:rPr sz="1080" b="1">
                <a:solidFill>
                  <a:srgbClr val="FFFFFF"/>
                </a:solidFill>
                <a:latin typeface="微软雅黑" panose="020B0503020204020204" charset="-122"/>
              </a:rPr>
              <a:t>形成“视觉理解 + 空间推理 + 时间分析”的城市时空多模态智能能力。</a:t>
            </a:r>
            <a:endParaRPr sz="1080" b="1">
              <a:solidFill>
                <a:srgbClr val="FFFFFF"/>
              </a:solidFill>
              <a:latin typeface="微软雅黑" panose="020B0503020204020204" charset="-122"/>
            </a:endParaRPr>
          </a:p>
        </p:txBody>
      </p:sp>
      <p:sp>
        <p:nvSpPr>
          <p:cNvPr id="51" name="TextBox 48"/>
          <p:cNvSpPr txBox="1"/>
          <p:nvPr/>
        </p:nvSpPr>
        <p:spPr>
          <a:xfrm>
            <a:off x="11338560" y="6400800"/>
            <a:ext cx="301752" cy="164592"/>
          </a:xfrm>
          <a:prstGeom prst="rect">
            <a:avLst/>
          </a:prstGeom>
          <a:noFill/>
        </p:spPr>
        <p:txBody>
          <a:bodyPr wrap="square" lIns="27432" tIns="27432" rIns="27432" bIns="27432" anchor="ctr">
            <a:spAutoFit/>
          </a:bodyPr>
          <a:lstStyle/>
          <a:p>
            <a:pPr algn="r">
              <a:lnSpc>
                <a:spcPct val="105000"/>
              </a:lnSpc>
              <a:spcAft>
                <a:spcPts val="0"/>
              </a:spcAft>
            </a:pPr>
            <a:r>
              <a:rPr sz="800" b="0">
                <a:solidFill>
                  <a:srgbClr val="AABBCD"/>
                </a:solidFill>
                <a:latin typeface="微软雅黑" panose="020B0503020204020204" charset="-122"/>
              </a:rPr>
              <a:t>09</a:t>
            </a:r>
            <a:endParaRPr sz="800" b="0">
              <a:solidFill>
                <a:srgbClr val="AABBCD"/>
              </a:solidFill>
              <a:latin typeface="微软雅黑" panose="020B050302020402020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Box 4"/>
          <p:cNvSpPr txBox="1"/>
          <p:nvPr/>
        </p:nvSpPr>
        <p:spPr>
          <a:xfrm>
            <a:off x="530352" y="786384"/>
            <a:ext cx="8915400" cy="292608"/>
          </a:xfrm>
          <a:prstGeom prst="rect">
            <a:avLst/>
          </a:prstGeom>
          <a:noFill/>
        </p:spPr>
        <p:txBody>
          <a:bodyPr wrap="square" lIns="27432" tIns="27432" rIns="27432" bIns="27432" anchor="ctr">
            <a:spAutoFit/>
          </a:bodyPr>
          <a:lstStyle/>
          <a:p>
            <a:pPr algn="l">
              <a:lnSpc>
                <a:spcPct val="105000"/>
              </a:lnSpc>
              <a:spcAft>
                <a:spcPts val="0"/>
              </a:spcAft>
            </a:pPr>
            <a:r>
              <a:rPr sz="1050" b="0">
                <a:solidFill>
                  <a:srgbClr val="5B6F87"/>
                </a:solidFill>
                <a:latin typeface="微软雅黑" panose="020B0503020204020204" charset="-122"/>
              </a:rPr>
              <a:t>基于开源 ClickHouse 平台，构建不少于 6 类多模态时空数据的高效存储与检索能力</a:t>
            </a:r>
            <a:endParaRPr sz="1050" b="0">
              <a:solidFill>
                <a:srgbClr val="5B6F87"/>
              </a:solidFill>
              <a:latin typeface="微软雅黑" panose="020B0503020204020204" charset="-122"/>
            </a:endParaRPr>
          </a:p>
        </p:txBody>
      </p:sp>
      <p:pic>
        <p:nvPicPr>
          <p:cNvPr id="6" name="Picture 5" descr="image.png"/>
          <p:cNvPicPr>
            <a:picLocks noChangeAspect="1"/>
          </p:cNvPicPr>
          <p:nvPr/>
        </p:nvPicPr>
        <p:blipFill>
          <a:blip r:embed="rId1"/>
          <a:stretch>
            <a:fillRect/>
          </a:stretch>
        </p:blipFill>
        <p:spPr>
          <a:xfrm>
            <a:off x="9217152" y="393192"/>
            <a:ext cx="2596896" cy="221012"/>
          </a:xfrm>
          <a:prstGeom prst="rect">
            <a:avLst/>
          </a:prstGeom>
        </p:spPr>
      </p:pic>
      <p:sp>
        <p:nvSpPr>
          <p:cNvPr id="7" name="Rounded Rectangle 6"/>
          <p:cNvSpPr/>
          <p:nvPr/>
        </p:nvSpPr>
        <p:spPr>
          <a:xfrm>
            <a:off x="530352" y="1271016"/>
            <a:ext cx="11109960" cy="658368"/>
          </a:xfrm>
          <a:prstGeom prst="roundRect">
            <a:avLst>
              <a:gd name="adj" fmla="val 8000"/>
            </a:avLst>
          </a:prstGeom>
          <a:solidFill>
            <a:srgbClr val="ECF8F3"/>
          </a:solidFill>
          <a:ln w="8890">
            <a:solidFill>
              <a:srgbClr val="ECF8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350" y="1389063"/>
            <a:ext cx="1122045" cy="312420"/>
          </a:xfrm>
          <a:prstGeom prst="rect">
            <a:avLst/>
          </a:prstGeom>
          <a:noFill/>
        </p:spPr>
        <p:txBody>
          <a:bodyPr wrap="square" lIns="27432" tIns="27432" rIns="27432" bIns="27432" anchor="ctr">
            <a:spAutoFit/>
          </a:bodyPr>
          <a:lstStyle/>
          <a:p>
            <a:pPr algn="l">
              <a:lnSpc>
                <a:spcPct val="105000"/>
              </a:lnSpc>
              <a:spcAft>
                <a:spcPts val="0"/>
              </a:spcAft>
            </a:pPr>
            <a:r>
              <a:rPr sz="1600" b="1">
                <a:solidFill>
                  <a:srgbClr val="219167"/>
                </a:solidFill>
                <a:latin typeface="微软雅黑" panose="020B0503020204020204" charset="-122"/>
              </a:rPr>
              <a:t>研发目标</a:t>
            </a:r>
            <a:endParaRPr sz="1600" b="1">
              <a:solidFill>
                <a:srgbClr val="219167"/>
              </a:solidFill>
              <a:latin typeface="微软雅黑" panose="020B0503020204020204" charset="-122"/>
            </a:endParaRPr>
          </a:p>
        </p:txBody>
      </p:sp>
      <p:sp>
        <p:nvSpPr>
          <p:cNvPr id="9" name="TextBox 8"/>
          <p:cNvSpPr txBox="1"/>
          <p:nvPr/>
        </p:nvSpPr>
        <p:spPr>
          <a:xfrm>
            <a:off x="1719072" y="1396175"/>
            <a:ext cx="9555480" cy="280035"/>
          </a:xfrm>
          <a:prstGeom prst="rect">
            <a:avLst/>
          </a:prstGeom>
          <a:noFill/>
        </p:spPr>
        <p:txBody>
          <a:bodyPr wrap="square" lIns="27432" tIns="27432" rIns="27432" bIns="27432" anchor="ctr">
            <a:spAutoFit/>
          </a:bodyPr>
          <a:lstStyle/>
          <a:p>
            <a:pPr algn="l">
              <a:lnSpc>
                <a:spcPct val="105000"/>
              </a:lnSpc>
              <a:spcAft>
                <a:spcPts val="0"/>
              </a:spcAft>
            </a:pPr>
            <a:r>
              <a:rPr sz="1400" b="1">
                <a:solidFill>
                  <a:srgbClr val="1E3148"/>
                </a:solidFill>
                <a:latin typeface="微软雅黑" panose="020B0503020204020204" charset="-122"/>
              </a:rPr>
              <a:t>围绕统一城市基础设施对象，建立多模态数据接入、时空组织、复合索引能力，支撑建模、大模型和数字孪生应用</a:t>
            </a:r>
            <a:r>
              <a:rPr sz="1030" b="1">
                <a:solidFill>
                  <a:srgbClr val="1E3148"/>
                </a:solidFill>
                <a:latin typeface="微软雅黑" panose="020B0503020204020204" charset="-122"/>
              </a:rPr>
              <a:t>。</a:t>
            </a:r>
            <a:endParaRPr sz="1030" b="1">
              <a:solidFill>
                <a:srgbClr val="1E3148"/>
              </a:solidFill>
              <a:latin typeface="微软雅黑" panose="020B0503020204020204" charset="-122"/>
            </a:endParaRPr>
          </a:p>
        </p:txBody>
      </p:sp>
      <p:sp>
        <p:nvSpPr>
          <p:cNvPr id="10" name="TextBox 9"/>
          <p:cNvSpPr txBox="1"/>
          <p:nvPr/>
        </p:nvSpPr>
        <p:spPr>
          <a:xfrm>
            <a:off x="530352" y="2176272"/>
            <a:ext cx="3749039" cy="256032"/>
          </a:xfrm>
          <a:prstGeom prst="rect">
            <a:avLst/>
          </a:prstGeom>
          <a:noFill/>
        </p:spPr>
        <p:txBody>
          <a:bodyPr wrap="square" lIns="27432" tIns="27432" rIns="27432" bIns="27432" anchor="ctr">
            <a:spAutoFit/>
          </a:bodyPr>
          <a:lstStyle/>
          <a:p>
            <a:pPr algn="l">
              <a:lnSpc>
                <a:spcPct val="105000"/>
              </a:lnSpc>
              <a:spcAft>
                <a:spcPts val="0"/>
              </a:spcAft>
            </a:pPr>
            <a:r>
              <a:rPr sz="1250" b="1">
                <a:solidFill>
                  <a:srgbClr val="1E3148"/>
                </a:solidFill>
                <a:latin typeface="微软雅黑" panose="020B0503020204020204" charset="-122"/>
              </a:rPr>
              <a:t>多模态时空数据范围（不少于 6 类）</a:t>
            </a:r>
            <a:endParaRPr sz="1250" b="1">
              <a:solidFill>
                <a:srgbClr val="1E3148"/>
              </a:solidFill>
              <a:latin typeface="微软雅黑" panose="020B0503020204020204" charset="-122"/>
            </a:endParaRPr>
          </a:p>
        </p:txBody>
      </p:sp>
      <p:sp>
        <p:nvSpPr>
          <p:cNvPr id="11" name="Rounded Rectangle 10"/>
          <p:cNvSpPr/>
          <p:nvPr/>
        </p:nvSpPr>
        <p:spPr>
          <a:xfrm>
            <a:off x="2289302" y="3007868"/>
            <a:ext cx="2148840" cy="822960"/>
          </a:xfrm>
          <a:prstGeom prst="roundRect">
            <a:avLst>
              <a:gd name="adj" fmla="val 8000"/>
            </a:avLst>
          </a:prstGeom>
          <a:solidFill>
            <a:srgbClr val="FFFFFF"/>
          </a:solidFill>
          <a:ln w="8890">
            <a:solidFill>
              <a:srgbClr val="D7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453894" y="3172460"/>
            <a:ext cx="384048" cy="384048"/>
          </a:xfrm>
          <a:prstGeom prst="ellipse">
            <a:avLst/>
          </a:prstGeom>
          <a:solidFill>
            <a:srgbClr val="1070E0"/>
          </a:solidFill>
          <a:ln>
            <a:solidFill>
              <a:srgbClr val="107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53894" y="3254756"/>
            <a:ext cx="384048" cy="146304"/>
          </a:xfrm>
          <a:prstGeom prst="rect">
            <a:avLst/>
          </a:prstGeom>
          <a:noFill/>
        </p:spPr>
        <p:txBody>
          <a:bodyPr wrap="square" lIns="27432" tIns="27432" rIns="27432" bIns="27432" anchor="ctr">
            <a:spAutoFit/>
          </a:bodyPr>
          <a:lstStyle/>
          <a:p>
            <a:pPr algn="ctr">
              <a:lnSpc>
                <a:spcPct val="105000"/>
              </a:lnSpc>
              <a:spcAft>
                <a:spcPts val="0"/>
              </a:spcAft>
            </a:pPr>
            <a:r>
              <a:rPr sz="800" b="1">
                <a:solidFill>
                  <a:srgbClr val="FFFFFF"/>
                </a:solidFill>
                <a:latin typeface="微软雅黑" panose="020B0503020204020204" charset="-122"/>
              </a:rPr>
              <a:t>01</a:t>
            </a:r>
            <a:endParaRPr sz="800" b="1">
              <a:solidFill>
                <a:srgbClr val="FFFFFF"/>
              </a:solidFill>
              <a:latin typeface="微软雅黑" panose="020B0503020204020204" charset="-122"/>
            </a:endParaRPr>
          </a:p>
        </p:txBody>
      </p:sp>
      <p:sp>
        <p:nvSpPr>
          <p:cNvPr id="14" name="TextBox 13"/>
          <p:cNvSpPr txBox="1"/>
          <p:nvPr/>
        </p:nvSpPr>
        <p:spPr>
          <a:xfrm>
            <a:off x="2984245" y="3126739"/>
            <a:ext cx="1271016" cy="256032"/>
          </a:xfrm>
          <a:prstGeom prst="rect">
            <a:avLst/>
          </a:prstGeom>
          <a:noFill/>
        </p:spPr>
        <p:txBody>
          <a:bodyPr wrap="square" lIns="27432" tIns="27432" rIns="27432" bIns="27432" anchor="ctr">
            <a:spAutoFit/>
          </a:bodyPr>
          <a:lstStyle/>
          <a:p>
            <a:pPr algn="l">
              <a:lnSpc>
                <a:spcPct val="105000"/>
              </a:lnSpc>
              <a:spcAft>
                <a:spcPts val="0"/>
              </a:spcAft>
            </a:pPr>
            <a:r>
              <a:rPr sz="1050" b="1">
                <a:solidFill>
                  <a:srgbClr val="1E3148"/>
                </a:solidFill>
                <a:latin typeface="微软雅黑" panose="020B0503020204020204" charset="-122"/>
              </a:rPr>
              <a:t>GIS 矢量</a:t>
            </a:r>
            <a:endParaRPr sz="1050" b="1">
              <a:solidFill>
                <a:srgbClr val="1E3148"/>
              </a:solidFill>
              <a:latin typeface="微软雅黑" panose="020B0503020204020204" charset="-122"/>
            </a:endParaRPr>
          </a:p>
        </p:txBody>
      </p:sp>
      <p:sp>
        <p:nvSpPr>
          <p:cNvPr id="15" name="TextBox 14"/>
          <p:cNvSpPr txBox="1"/>
          <p:nvPr/>
        </p:nvSpPr>
        <p:spPr>
          <a:xfrm>
            <a:off x="2984245" y="3437636"/>
            <a:ext cx="1271016" cy="375920"/>
          </a:xfrm>
          <a:prstGeom prst="rect">
            <a:avLst/>
          </a:prstGeom>
          <a:noFill/>
        </p:spPr>
        <p:txBody>
          <a:bodyPr wrap="square" lIns="27432" tIns="27432" rIns="27432" bIns="27432" anchor="t">
            <a:spAutoFit/>
          </a:bodyPr>
          <a:lstStyle/>
          <a:p>
            <a:pPr algn="l">
              <a:lnSpc>
                <a:spcPct val="105000"/>
              </a:lnSpc>
              <a:spcAft>
                <a:spcPts val="0"/>
              </a:spcAft>
            </a:pPr>
            <a:r>
              <a:rPr sz="1000" b="0">
                <a:solidFill>
                  <a:srgbClr val="5B6F87"/>
                </a:solidFill>
                <a:latin typeface="微软雅黑" panose="020B0503020204020204" charset="-122"/>
              </a:rPr>
              <a:t>道路、轨道、管线、站点</a:t>
            </a:r>
            <a:endParaRPr sz="1000" b="0">
              <a:solidFill>
                <a:srgbClr val="5B6F87"/>
              </a:solidFill>
              <a:latin typeface="微软雅黑" panose="020B0503020204020204" charset="-122"/>
            </a:endParaRPr>
          </a:p>
        </p:txBody>
      </p:sp>
      <p:sp>
        <p:nvSpPr>
          <p:cNvPr id="16" name="Rounded Rectangle 15"/>
          <p:cNvSpPr/>
          <p:nvPr/>
        </p:nvSpPr>
        <p:spPr>
          <a:xfrm>
            <a:off x="4666742" y="3007868"/>
            <a:ext cx="2148840" cy="822960"/>
          </a:xfrm>
          <a:prstGeom prst="roundRect">
            <a:avLst>
              <a:gd name="adj" fmla="val 8000"/>
            </a:avLst>
          </a:prstGeom>
          <a:solidFill>
            <a:srgbClr val="FFFFFF"/>
          </a:solidFill>
          <a:ln w="8890">
            <a:solidFill>
              <a:srgbClr val="D7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831334" y="3172460"/>
            <a:ext cx="384048" cy="384048"/>
          </a:xfrm>
          <a:prstGeom prst="ellipse">
            <a:avLst/>
          </a:prstGeom>
          <a:solidFill>
            <a:srgbClr val="18A6CF"/>
          </a:solidFill>
          <a:ln>
            <a:solidFill>
              <a:srgbClr val="18A6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31334" y="3254756"/>
            <a:ext cx="384048" cy="146304"/>
          </a:xfrm>
          <a:prstGeom prst="rect">
            <a:avLst/>
          </a:prstGeom>
          <a:noFill/>
        </p:spPr>
        <p:txBody>
          <a:bodyPr wrap="square" lIns="27432" tIns="27432" rIns="27432" bIns="27432" anchor="ctr">
            <a:spAutoFit/>
          </a:bodyPr>
          <a:lstStyle/>
          <a:p>
            <a:pPr algn="ctr">
              <a:lnSpc>
                <a:spcPct val="105000"/>
              </a:lnSpc>
              <a:spcAft>
                <a:spcPts val="0"/>
              </a:spcAft>
            </a:pPr>
            <a:r>
              <a:rPr sz="800" b="1">
                <a:solidFill>
                  <a:srgbClr val="FFFFFF"/>
                </a:solidFill>
                <a:latin typeface="微软雅黑" panose="020B0503020204020204" charset="-122"/>
              </a:rPr>
              <a:t>02</a:t>
            </a:r>
            <a:endParaRPr sz="800" b="1">
              <a:solidFill>
                <a:srgbClr val="FFFFFF"/>
              </a:solidFill>
              <a:latin typeface="微软雅黑" panose="020B0503020204020204" charset="-122"/>
            </a:endParaRPr>
          </a:p>
        </p:txBody>
      </p:sp>
      <p:sp>
        <p:nvSpPr>
          <p:cNvPr id="19" name="TextBox 18"/>
          <p:cNvSpPr txBox="1"/>
          <p:nvPr/>
        </p:nvSpPr>
        <p:spPr>
          <a:xfrm>
            <a:off x="5361686" y="3126739"/>
            <a:ext cx="1271016" cy="256032"/>
          </a:xfrm>
          <a:prstGeom prst="rect">
            <a:avLst/>
          </a:prstGeom>
          <a:noFill/>
        </p:spPr>
        <p:txBody>
          <a:bodyPr wrap="square" lIns="27432" tIns="27432" rIns="27432" bIns="27432" anchor="ctr">
            <a:spAutoFit/>
          </a:bodyPr>
          <a:lstStyle/>
          <a:p>
            <a:pPr algn="l">
              <a:lnSpc>
                <a:spcPct val="105000"/>
              </a:lnSpc>
              <a:spcAft>
                <a:spcPts val="0"/>
              </a:spcAft>
            </a:pPr>
            <a:r>
              <a:rPr sz="1050" b="1">
                <a:solidFill>
                  <a:srgbClr val="1E3148"/>
                </a:solidFill>
                <a:latin typeface="微软雅黑" panose="020B0503020204020204" charset="-122"/>
              </a:rPr>
              <a:t>栅格影像</a:t>
            </a:r>
            <a:endParaRPr sz="1050" b="1">
              <a:solidFill>
                <a:srgbClr val="1E3148"/>
              </a:solidFill>
              <a:latin typeface="微软雅黑" panose="020B0503020204020204" charset="-122"/>
            </a:endParaRPr>
          </a:p>
        </p:txBody>
      </p:sp>
      <p:sp>
        <p:nvSpPr>
          <p:cNvPr id="20" name="TextBox 19"/>
          <p:cNvSpPr txBox="1"/>
          <p:nvPr/>
        </p:nvSpPr>
        <p:spPr>
          <a:xfrm>
            <a:off x="5361686" y="3437636"/>
            <a:ext cx="1271016" cy="375920"/>
          </a:xfrm>
          <a:prstGeom prst="rect">
            <a:avLst/>
          </a:prstGeom>
          <a:noFill/>
        </p:spPr>
        <p:txBody>
          <a:bodyPr wrap="square" lIns="27432" tIns="27432" rIns="27432" bIns="27432" anchor="t">
            <a:spAutoFit/>
          </a:bodyPr>
          <a:lstStyle/>
          <a:p>
            <a:pPr algn="l">
              <a:lnSpc>
                <a:spcPct val="105000"/>
              </a:lnSpc>
              <a:spcAft>
                <a:spcPts val="0"/>
              </a:spcAft>
            </a:pPr>
            <a:r>
              <a:rPr sz="1000" b="0">
                <a:solidFill>
                  <a:srgbClr val="5B6F87"/>
                </a:solidFill>
                <a:latin typeface="微软雅黑" panose="020B0503020204020204" charset="-122"/>
              </a:rPr>
              <a:t>遥感、航拍、专题栅格</a:t>
            </a:r>
            <a:endParaRPr sz="1000" b="0">
              <a:solidFill>
                <a:srgbClr val="5B6F87"/>
              </a:solidFill>
              <a:latin typeface="微软雅黑" panose="020B0503020204020204" charset="-122"/>
            </a:endParaRPr>
          </a:p>
        </p:txBody>
      </p:sp>
      <p:sp>
        <p:nvSpPr>
          <p:cNvPr id="21" name="Rounded Rectangle 20"/>
          <p:cNvSpPr/>
          <p:nvPr/>
        </p:nvSpPr>
        <p:spPr>
          <a:xfrm>
            <a:off x="7044182" y="3007868"/>
            <a:ext cx="2148840" cy="822960"/>
          </a:xfrm>
          <a:prstGeom prst="roundRect">
            <a:avLst>
              <a:gd name="adj" fmla="val 8000"/>
            </a:avLst>
          </a:prstGeom>
          <a:solidFill>
            <a:srgbClr val="FFFFFF"/>
          </a:solidFill>
          <a:ln w="8890">
            <a:solidFill>
              <a:srgbClr val="D7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208774" y="3172460"/>
            <a:ext cx="384048" cy="384048"/>
          </a:xfrm>
          <a:prstGeom prst="ellipse">
            <a:avLst/>
          </a:prstGeom>
          <a:solidFill>
            <a:srgbClr val="219167"/>
          </a:solidFill>
          <a:ln>
            <a:solidFill>
              <a:srgbClr val="2191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08774" y="3254756"/>
            <a:ext cx="384048" cy="146304"/>
          </a:xfrm>
          <a:prstGeom prst="rect">
            <a:avLst/>
          </a:prstGeom>
          <a:noFill/>
        </p:spPr>
        <p:txBody>
          <a:bodyPr wrap="square" lIns="27432" tIns="27432" rIns="27432" bIns="27432" anchor="ctr">
            <a:spAutoFit/>
          </a:bodyPr>
          <a:lstStyle/>
          <a:p>
            <a:pPr algn="ctr">
              <a:lnSpc>
                <a:spcPct val="105000"/>
              </a:lnSpc>
              <a:spcAft>
                <a:spcPts val="0"/>
              </a:spcAft>
            </a:pPr>
            <a:r>
              <a:rPr sz="800" b="1">
                <a:solidFill>
                  <a:srgbClr val="FFFFFF"/>
                </a:solidFill>
                <a:latin typeface="微软雅黑" panose="020B0503020204020204" charset="-122"/>
              </a:rPr>
              <a:t>03</a:t>
            </a:r>
            <a:endParaRPr sz="800" b="1">
              <a:solidFill>
                <a:srgbClr val="FFFFFF"/>
              </a:solidFill>
              <a:latin typeface="微软雅黑" panose="020B0503020204020204" charset="-122"/>
            </a:endParaRPr>
          </a:p>
        </p:txBody>
      </p:sp>
      <p:sp>
        <p:nvSpPr>
          <p:cNvPr id="24" name="TextBox 23"/>
          <p:cNvSpPr txBox="1"/>
          <p:nvPr/>
        </p:nvSpPr>
        <p:spPr>
          <a:xfrm>
            <a:off x="7739126" y="3126739"/>
            <a:ext cx="1271016" cy="256032"/>
          </a:xfrm>
          <a:prstGeom prst="rect">
            <a:avLst/>
          </a:prstGeom>
          <a:noFill/>
        </p:spPr>
        <p:txBody>
          <a:bodyPr wrap="square" lIns="27432" tIns="27432" rIns="27432" bIns="27432" anchor="ctr">
            <a:spAutoFit/>
          </a:bodyPr>
          <a:lstStyle/>
          <a:p>
            <a:pPr algn="l">
              <a:lnSpc>
                <a:spcPct val="105000"/>
              </a:lnSpc>
              <a:spcAft>
                <a:spcPts val="0"/>
              </a:spcAft>
            </a:pPr>
            <a:r>
              <a:rPr sz="1050" b="1">
                <a:solidFill>
                  <a:srgbClr val="1E3148"/>
                </a:solidFill>
                <a:latin typeface="微软雅黑" panose="020B0503020204020204" charset="-122"/>
              </a:rPr>
              <a:t>三维模型</a:t>
            </a:r>
            <a:endParaRPr sz="1050" b="1">
              <a:solidFill>
                <a:srgbClr val="1E3148"/>
              </a:solidFill>
              <a:latin typeface="微软雅黑" panose="020B0503020204020204" charset="-122"/>
            </a:endParaRPr>
          </a:p>
        </p:txBody>
      </p:sp>
      <p:sp>
        <p:nvSpPr>
          <p:cNvPr id="25" name="TextBox 24"/>
          <p:cNvSpPr txBox="1"/>
          <p:nvPr/>
        </p:nvSpPr>
        <p:spPr>
          <a:xfrm>
            <a:off x="7739126" y="3437636"/>
            <a:ext cx="1271016" cy="375920"/>
          </a:xfrm>
          <a:prstGeom prst="rect">
            <a:avLst/>
          </a:prstGeom>
          <a:noFill/>
        </p:spPr>
        <p:txBody>
          <a:bodyPr wrap="square" lIns="27432" tIns="27432" rIns="27432" bIns="27432" anchor="t">
            <a:spAutoFit/>
          </a:bodyPr>
          <a:lstStyle/>
          <a:p>
            <a:pPr algn="l">
              <a:lnSpc>
                <a:spcPct val="105000"/>
              </a:lnSpc>
              <a:spcAft>
                <a:spcPts val="0"/>
              </a:spcAft>
            </a:pPr>
            <a:r>
              <a:rPr sz="1000" b="0">
                <a:solidFill>
                  <a:srgbClr val="5B6F87"/>
                </a:solidFill>
                <a:latin typeface="微软雅黑" panose="020B0503020204020204" charset="-122"/>
              </a:rPr>
              <a:t>CIM、BIM、点云与网格</a:t>
            </a:r>
            <a:endParaRPr sz="1000" b="0">
              <a:solidFill>
                <a:srgbClr val="5B6F87"/>
              </a:solidFill>
              <a:latin typeface="微软雅黑" panose="020B0503020204020204" charset="-122"/>
            </a:endParaRPr>
          </a:p>
        </p:txBody>
      </p:sp>
      <p:sp>
        <p:nvSpPr>
          <p:cNvPr id="26" name="Rounded Rectangle 25"/>
          <p:cNvSpPr/>
          <p:nvPr/>
        </p:nvSpPr>
        <p:spPr>
          <a:xfrm>
            <a:off x="2289302" y="3977132"/>
            <a:ext cx="2148840" cy="822960"/>
          </a:xfrm>
          <a:prstGeom prst="roundRect">
            <a:avLst>
              <a:gd name="adj" fmla="val 8000"/>
            </a:avLst>
          </a:prstGeom>
          <a:solidFill>
            <a:srgbClr val="FFFFFF"/>
          </a:solidFill>
          <a:ln w="8890">
            <a:solidFill>
              <a:srgbClr val="D7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2453894" y="4141723"/>
            <a:ext cx="384048" cy="384048"/>
          </a:xfrm>
          <a:prstGeom prst="ellipse">
            <a:avLst/>
          </a:prstGeom>
          <a:solidFill>
            <a:srgbClr val="E58B30"/>
          </a:solidFill>
          <a:ln>
            <a:solidFill>
              <a:srgbClr val="E58B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453894" y="4224020"/>
            <a:ext cx="384048" cy="146304"/>
          </a:xfrm>
          <a:prstGeom prst="rect">
            <a:avLst/>
          </a:prstGeom>
          <a:noFill/>
        </p:spPr>
        <p:txBody>
          <a:bodyPr wrap="square" lIns="27432" tIns="27432" rIns="27432" bIns="27432" anchor="ctr">
            <a:spAutoFit/>
          </a:bodyPr>
          <a:lstStyle/>
          <a:p>
            <a:pPr algn="ctr">
              <a:lnSpc>
                <a:spcPct val="105000"/>
              </a:lnSpc>
              <a:spcAft>
                <a:spcPts val="0"/>
              </a:spcAft>
            </a:pPr>
            <a:r>
              <a:rPr sz="800" b="1">
                <a:solidFill>
                  <a:srgbClr val="FFFFFF"/>
                </a:solidFill>
                <a:latin typeface="微软雅黑" panose="020B0503020204020204" charset="-122"/>
              </a:rPr>
              <a:t>04</a:t>
            </a:r>
            <a:endParaRPr sz="800" b="1">
              <a:solidFill>
                <a:srgbClr val="FFFFFF"/>
              </a:solidFill>
              <a:latin typeface="微软雅黑" panose="020B0503020204020204" charset="-122"/>
            </a:endParaRPr>
          </a:p>
        </p:txBody>
      </p:sp>
      <p:sp>
        <p:nvSpPr>
          <p:cNvPr id="29" name="TextBox 28"/>
          <p:cNvSpPr txBox="1"/>
          <p:nvPr/>
        </p:nvSpPr>
        <p:spPr>
          <a:xfrm>
            <a:off x="2984245" y="4096004"/>
            <a:ext cx="1271016" cy="256032"/>
          </a:xfrm>
          <a:prstGeom prst="rect">
            <a:avLst/>
          </a:prstGeom>
          <a:noFill/>
        </p:spPr>
        <p:txBody>
          <a:bodyPr wrap="square" lIns="27432" tIns="27432" rIns="27432" bIns="27432" anchor="ctr">
            <a:spAutoFit/>
          </a:bodyPr>
          <a:lstStyle/>
          <a:p>
            <a:pPr algn="l">
              <a:lnSpc>
                <a:spcPct val="105000"/>
              </a:lnSpc>
              <a:spcAft>
                <a:spcPts val="0"/>
              </a:spcAft>
            </a:pPr>
            <a:r>
              <a:rPr sz="1050" b="1">
                <a:solidFill>
                  <a:srgbClr val="1E3148"/>
                </a:solidFill>
                <a:latin typeface="微软雅黑" panose="020B0503020204020204" charset="-122"/>
              </a:rPr>
              <a:t>时序数据</a:t>
            </a:r>
            <a:endParaRPr sz="1050" b="1">
              <a:solidFill>
                <a:srgbClr val="1E3148"/>
              </a:solidFill>
              <a:latin typeface="微软雅黑" panose="020B0503020204020204" charset="-122"/>
            </a:endParaRPr>
          </a:p>
        </p:txBody>
      </p:sp>
      <p:sp>
        <p:nvSpPr>
          <p:cNvPr id="30" name="TextBox 29"/>
          <p:cNvSpPr txBox="1"/>
          <p:nvPr/>
        </p:nvSpPr>
        <p:spPr>
          <a:xfrm>
            <a:off x="2984245" y="4406899"/>
            <a:ext cx="1271016" cy="215265"/>
          </a:xfrm>
          <a:prstGeom prst="rect">
            <a:avLst/>
          </a:prstGeom>
          <a:noFill/>
        </p:spPr>
        <p:txBody>
          <a:bodyPr wrap="square" lIns="27432" tIns="27432" rIns="27432" bIns="27432" anchor="t">
            <a:spAutoFit/>
          </a:bodyPr>
          <a:lstStyle/>
          <a:p>
            <a:pPr algn="l">
              <a:lnSpc>
                <a:spcPct val="105000"/>
              </a:lnSpc>
              <a:spcAft>
                <a:spcPts val="0"/>
              </a:spcAft>
            </a:pPr>
            <a:r>
              <a:rPr sz="1000" b="0">
                <a:solidFill>
                  <a:srgbClr val="5B6F87"/>
                </a:solidFill>
                <a:latin typeface="微软雅黑" panose="020B0503020204020204" charset="-122"/>
              </a:rPr>
              <a:t>状态、监测</a:t>
            </a:r>
            <a:endParaRPr sz="1000" b="0">
              <a:solidFill>
                <a:srgbClr val="5B6F87"/>
              </a:solidFill>
              <a:latin typeface="微软雅黑" panose="020B0503020204020204" charset="-122"/>
            </a:endParaRPr>
          </a:p>
        </p:txBody>
      </p:sp>
      <p:sp>
        <p:nvSpPr>
          <p:cNvPr id="31" name="Rounded Rectangle 30"/>
          <p:cNvSpPr/>
          <p:nvPr/>
        </p:nvSpPr>
        <p:spPr>
          <a:xfrm>
            <a:off x="4666742" y="3977132"/>
            <a:ext cx="2148840" cy="822960"/>
          </a:xfrm>
          <a:prstGeom prst="roundRect">
            <a:avLst>
              <a:gd name="adj" fmla="val 8000"/>
            </a:avLst>
          </a:prstGeom>
          <a:solidFill>
            <a:srgbClr val="FFFFFF"/>
          </a:solidFill>
          <a:ln w="8890">
            <a:solidFill>
              <a:srgbClr val="D7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831334" y="4141723"/>
            <a:ext cx="384048" cy="384048"/>
          </a:xfrm>
          <a:prstGeom prst="ellipse">
            <a:avLst/>
          </a:prstGeom>
          <a:solidFill>
            <a:srgbClr val="EB233A"/>
          </a:solidFill>
          <a:ln>
            <a:solidFill>
              <a:srgbClr val="EB23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831334" y="4224020"/>
            <a:ext cx="384048" cy="146304"/>
          </a:xfrm>
          <a:prstGeom prst="rect">
            <a:avLst/>
          </a:prstGeom>
          <a:noFill/>
        </p:spPr>
        <p:txBody>
          <a:bodyPr wrap="square" lIns="27432" tIns="27432" rIns="27432" bIns="27432" anchor="ctr">
            <a:spAutoFit/>
          </a:bodyPr>
          <a:lstStyle/>
          <a:p>
            <a:pPr algn="ctr">
              <a:lnSpc>
                <a:spcPct val="105000"/>
              </a:lnSpc>
              <a:spcAft>
                <a:spcPts val="0"/>
              </a:spcAft>
            </a:pPr>
            <a:r>
              <a:rPr sz="800" b="1">
                <a:solidFill>
                  <a:srgbClr val="FFFFFF"/>
                </a:solidFill>
                <a:latin typeface="微软雅黑" panose="020B0503020204020204" charset="-122"/>
              </a:rPr>
              <a:t>05</a:t>
            </a:r>
            <a:endParaRPr sz="800" b="1">
              <a:solidFill>
                <a:srgbClr val="FFFFFF"/>
              </a:solidFill>
              <a:latin typeface="微软雅黑" panose="020B0503020204020204" charset="-122"/>
            </a:endParaRPr>
          </a:p>
        </p:txBody>
      </p:sp>
      <p:sp>
        <p:nvSpPr>
          <p:cNvPr id="34" name="TextBox 33"/>
          <p:cNvSpPr txBox="1"/>
          <p:nvPr/>
        </p:nvSpPr>
        <p:spPr>
          <a:xfrm>
            <a:off x="5361686" y="4096004"/>
            <a:ext cx="1271016" cy="256032"/>
          </a:xfrm>
          <a:prstGeom prst="rect">
            <a:avLst/>
          </a:prstGeom>
          <a:noFill/>
        </p:spPr>
        <p:txBody>
          <a:bodyPr wrap="square" lIns="27432" tIns="27432" rIns="27432" bIns="27432" anchor="ctr">
            <a:spAutoFit/>
          </a:bodyPr>
          <a:lstStyle/>
          <a:p>
            <a:pPr algn="l">
              <a:lnSpc>
                <a:spcPct val="105000"/>
              </a:lnSpc>
              <a:spcAft>
                <a:spcPts val="0"/>
              </a:spcAft>
            </a:pPr>
            <a:r>
              <a:rPr sz="1050" b="1">
                <a:solidFill>
                  <a:srgbClr val="1E3148"/>
                </a:solidFill>
                <a:latin typeface="微软雅黑" panose="020B0503020204020204" charset="-122"/>
              </a:rPr>
              <a:t>业务表格</a:t>
            </a:r>
            <a:endParaRPr sz="1050" b="1">
              <a:solidFill>
                <a:srgbClr val="1E3148"/>
              </a:solidFill>
              <a:latin typeface="微软雅黑" panose="020B0503020204020204" charset="-122"/>
            </a:endParaRPr>
          </a:p>
        </p:txBody>
      </p:sp>
      <p:sp>
        <p:nvSpPr>
          <p:cNvPr id="35" name="TextBox 34"/>
          <p:cNvSpPr txBox="1"/>
          <p:nvPr/>
        </p:nvSpPr>
        <p:spPr>
          <a:xfrm>
            <a:off x="5361686" y="4406899"/>
            <a:ext cx="1271016" cy="215265"/>
          </a:xfrm>
          <a:prstGeom prst="rect">
            <a:avLst/>
          </a:prstGeom>
          <a:noFill/>
        </p:spPr>
        <p:txBody>
          <a:bodyPr wrap="square" lIns="27432" tIns="27432" rIns="27432" bIns="27432" anchor="t">
            <a:spAutoFit/>
          </a:bodyPr>
          <a:lstStyle/>
          <a:p>
            <a:pPr algn="l">
              <a:lnSpc>
                <a:spcPct val="105000"/>
              </a:lnSpc>
              <a:spcAft>
                <a:spcPts val="0"/>
              </a:spcAft>
            </a:pPr>
            <a:r>
              <a:rPr sz="1000" b="0">
                <a:solidFill>
                  <a:srgbClr val="5B6F87"/>
                </a:solidFill>
                <a:latin typeface="微软雅黑" panose="020B0503020204020204" charset="-122"/>
              </a:rPr>
              <a:t>台账</a:t>
            </a:r>
            <a:endParaRPr sz="1000" b="0">
              <a:solidFill>
                <a:srgbClr val="5B6F87"/>
              </a:solidFill>
              <a:latin typeface="微软雅黑" panose="020B0503020204020204" charset="-122"/>
            </a:endParaRPr>
          </a:p>
        </p:txBody>
      </p:sp>
      <p:sp>
        <p:nvSpPr>
          <p:cNvPr id="36" name="Rounded Rectangle 35"/>
          <p:cNvSpPr/>
          <p:nvPr/>
        </p:nvSpPr>
        <p:spPr>
          <a:xfrm>
            <a:off x="7044182" y="3977132"/>
            <a:ext cx="2148840" cy="822960"/>
          </a:xfrm>
          <a:prstGeom prst="roundRect">
            <a:avLst>
              <a:gd name="adj" fmla="val 8000"/>
            </a:avLst>
          </a:prstGeom>
          <a:solidFill>
            <a:srgbClr val="FFFFFF"/>
          </a:solidFill>
          <a:ln w="8890">
            <a:solidFill>
              <a:srgbClr val="D7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208774" y="4141723"/>
            <a:ext cx="384048" cy="384048"/>
          </a:xfrm>
          <a:prstGeom prst="ellipse">
            <a:avLst/>
          </a:prstGeom>
          <a:solidFill>
            <a:srgbClr val="103258"/>
          </a:solidFill>
          <a:ln>
            <a:solidFill>
              <a:srgbClr val="1032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208774" y="4224020"/>
            <a:ext cx="384048" cy="146304"/>
          </a:xfrm>
          <a:prstGeom prst="rect">
            <a:avLst/>
          </a:prstGeom>
          <a:noFill/>
        </p:spPr>
        <p:txBody>
          <a:bodyPr wrap="square" lIns="27432" tIns="27432" rIns="27432" bIns="27432" anchor="ctr">
            <a:spAutoFit/>
          </a:bodyPr>
          <a:lstStyle/>
          <a:p>
            <a:pPr algn="ctr">
              <a:lnSpc>
                <a:spcPct val="105000"/>
              </a:lnSpc>
              <a:spcAft>
                <a:spcPts val="0"/>
              </a:spcAft>
            </a:pPr>
            <a:r>
              <a:rPr sz="800" b="1">
                <a:solidFill>
                  <a:srgbClr val="FFFFFF"/>
                </a:solidFill>
                <a:latin typeface="微软雅黑" panose="020B0503020204020204" charset="-122"/>
              </a:rPr>
              <a:t>06</a:t>
            </a:r>
            <a:endParaRPr sz="800" b="1">
              <a:solidFill>
                <a:srgbClr val="FFFFFF"/>
              </a:solidFill>
              <a:latin typeface="微软雅黑" panose="020B0503020204020204" charset="-122"/>
            </a:endParaRPr>
          </a:p>
        </p:txBody>
      </p:sp>
      <p:sp>
        <p:nvSpPr>
          <p:cNvPr id="39" name="TextBox 38"/>
          <p:cNvSpPr txBox="1"/>
          <p:nvPr/>
        </p:nvSpPr>
        <p:spPr>
          <a:xfrm>
            <a:off x="7739126" y="4096004"/>
            <a:ext cx="1271016" cy="256032"/>
          </a:xfrm>
          <a:prstGeom prst="rect">
            <a:avLst/>
          </a:prstGeom>
          <a:noFill/>
        </p:spPr>
        <p:txBody>
          <a:bodyPr wrap="square" lIns="27432" tIns="27432" rIns="27432" bIns="27432" anchor="ctr">
            <a:spAutoFit/>
          </a:bodyPr>
          <a:lstStyle/>
          <a:p>
            <a:pPr algn="l">
              <a:lnSpc>
                <a:spcPct val="105000"/>
              </a:lnSpc>
              <a:spcAft>
                <a:spcPts val="0"/>
              </a:spcAft>
            </a:pPr>
            <a:r>
              <a:rPr sz="1050" b="1">
                <a:solidFill>
                  <a:srgbClr val="1E3148"/>
                </a:solidFill>
                <a:latin typeface="微软雅黑" panose="020B0503020204020204" charset="-122"/>
              </a:rPr>
              <a:t>文本与文档</a:t>
            </a:r>
            <a:endParaRPr sz="1050" b="1">
              <a:solidFill>
                <a:srgbClr val="1E3148"/>
              </a:solidFill>
              <a:latin typeface="微软雅黑" panose="020B0503020204020204" charset="-122"/>
            </a:endParaRPr>
          </a:p>
        </p:txBody>
      </p:sp>
      <p:sp>
        <p:nvSpPr>
          <p:cNvPr id="40" name="TextBox 39"/>
          <p:cNvSpPr txBox="1"/>
          <p:nvPr/>
        </p:nvSpPr>
        <p:spPr>
          <a:xfrm>
            <a:off x="7739126" y="4406899"/>
            <a:ext cx="1271016" cy="215265"/>
          </a:xfrm>
          <a:prstGeom prst="rect">
            <a:avLst/>
          </a:prstGeom>
          <a:noFill/>
        </p:spPr>
        <p:txBody>
          <a:bodyPr wrap="square" lIns="27432" tIns="27432" rIns="27432" bIns="27432" anchor="t">
            <a:spAutoFit/>
          </a:bodyPr>
          <a:lstStyle/>
          <a:p>
            <a:pPr algn="l">
              <a:lnSpc>
                <a:spcPct val="105000"/>
              </a:lnSpc>
              <a:spcAft>
                <a:spcPts val="0"/>
              </a:spcAft>
            </a:pPr>
            <a:r>
              <a:rPr sz="1000" b="0">
                <a:solidFill>
                  <a:srgbClr val="5B6F87"/>
                </a:solidFill>
                <a:latin typeface="微软雅黑" panose="020B0503020204020204" charset="-122"/>
              </a:rPr>
              <a:t>规范、报告</a:t>
            </a:r>
            <a:endParaRPr sz="1000" b="0">
              <a:solidFill>
                <a:srgbClr val="5B6F87"/>
              </a:solidFill>
              <a:latin typeface="微软雅黑" panose="020B0503020204020204" charset="-122"/>
            </a:endParaRPr>
          </a:p>
        </p:txBody>
      </p:sp>
      <p:sp>
        <p:nvSpPr>
          <p:cNvPr id="75" name="Rounded Rectangle 74"/>
          <p:cNvSpPr/>
          <p:nvPr/>
        </p:nvSpPr>
        <p:spPr>
          <a:xfrm>
            <a:off x="530352" y="5733288"/>
            <a:ext cx="11109960" cy="438912"/>
          </a:xfrm>
          <a:prstGeom prst="roundRect">
            <a:avLst>
              <a:gd name="adj" fmla="val 8000"/>
            </a:avLst>
          </a:prstGeom>
          <a:solidFill>
            <a:srgbClr val="103258"/>
          </a:solidFill>
          <a:ln w="8890">
            <a:solidFill>
              <a:srgbClr val="1032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777240" y="5815584"/>
            <a:ext cx="10607040" cy="246888"/>
          </a:xfrm>
          <a:prstGeom prst="rect">
            <a:avLst/>
          </a:prstGeom>
          <a:noFill/>
        </p:spPr>
        <p:txBody>
          <a:bodyPr wrap="square" lIns="27432" tIns="27432" rIns="27432" bIns="27432" anchor="ctr">
            <a:spAutoFit/>
          </a:bodyPr>
          <a:lstStyle/>
          <a:p>
            <a:pPr algn="ctr">
              <a:lnSpc>
                <a:spcPct val="105000"/>
              </a:lnSpc>
              <a:spcAft>
                <a:spcPts val="0"/>
              </a:spcAft>
            </a:pPr>
            <a:r>
              <a:rPr sz="1080" b="1">
                <a:solidFill>
                  <a:srgbClr val="FFFFFF"/>
                </a:solidFill>
                <a:latin typeface="微软雅黑" panose="020B0503020204020204" charset="-122"/>
              </a:rPr>
              <a:t>实现多模态时空数据统一组织、高效检索、关联分析与跨专题复用。</a:t>
            </a:r>
            <a:endParaRPr sz="1080" b="1">
              <a:solidFill>
                <a:srgbClr val="FFFFFF"/>
              </a:solidFill>
              <a:latin typeface="微软雅黑" panose="020B0503020204020204" charset="-122"/>
            </a:endParaRPr>
          </a:p>
        </p:txBody>
      </p:sp>
      <p:sp>
        <p:nvSpPr>
          <p:cNvPr id="79" name="TextBox 78"/>
          <p:cNvSpPr txBox="1"/>
          <p:nvPr/>
        </p:nvSpPr>
        <p:spPr>
          <a:xfrm>
            <a:off x="11338560" y="6400800"/>
            <a:ext cx="301752" cy="164592"/>
          </a:xfrm>
          <a:prstGeom prst="rect">
            <a:avLst/>
          </a:prstGeom>
          <a:noFill/>
        </p:spPr>
        <p:txBody>
          <a:bodyPr wrap="square" lIns="27432" tIns="27432" rIns="27432" bIns="27432" anchor="ctr">
            <a:spAutoFit/>
          </a:bodyPr>
          <a:lstStyle/>
          <a:p>
            <a:pPr algn="r">
              <a:lnSpc>
                <a:spcPct val="105000"/>
              </a:lnSpc>
              <a:spcAft>
                <a:spcPts val="0"/>
              </a:spcAft>
            </a:pPr>
            <a:r>
              <a:rPr sz="800" b="0">
                <a:solidFill>
                  <a:srgbClr val="AABBCD"/>
                </a:solidFill>
                <a:latin typeface="微软雅黑" panose="020B0503020204020204" charset="-122"/>
              </a:rPr>
              <a:t>10</a:t>
            </a:r>
            <a:endParaRPr sz="800" b="0">
              <a:solidFill>
                <a:srgbClr val="AABBCD"/>
              </a:solidFill>
              <a:latin typeface="微软雅黑" panose="020B0503020204020204" charset="-122"/>
            </a:endParaRPr>
          </a:p>
        </p:txBody>
      </p:sp>
      <p:sp>
        <p:nvSpPr>
          <p:cNvPr id="82" name="文本框 81"/>
          <p:cNvSpPr txBox="1"/>
          <p:nvPr/>
        </p:nvSpPr>
        <p:spPr>
          <a:xfrm>
            <a:off x="514350" y="303530"/>
            <a:ext cx="2519680" cy="462280"/>
          </a:xfrm>
          <a:prstGeom prst="rect">
            <a:avLst/>
          </a:prstGeom>
          <a:noFill/>
        </p:spPr>
        <p:txBody>
          <a:bodyPr wrap="none" rtlCol="0" anchor="t">
            <a:spAutoFit/>
          </a:bodyPr>
          <a:lstStyle/>
          <a:p>
            <a:pPr algn="l">
              <a:lnSpc>
                <a:spcPct val="105000"/>
              </a:lnSpc>
              <a:spcAft>
                <a:spcPts val="0"/>
              </a:spcAft>
            </a:pPr>
            <a:r>
              <a:rPr sz="2300" b="1">
                <a:solidFill>
                  <a:srgbClr val="1E3148"/>
                </a:solidFill>
                <a:latin typeface="微软雅黑" panose="020B0503020204020204" charset="-122"/>
                <a:sym typeface="+mn-ea"/>
              </a:rPr>
              <a:t>超融合数据库研发</a:t>
            </a:r>
            <a:endParaRPr lang="zh-CN" altLang="en-US" sz="2300" b="1" kern="0" spc="80" dirty="0">
              <a:solidFill>
                <a:srgbClr val="000000">
                  <a:alpha val="100000"/>
                </a:srgbClr>
              </a:solidFill>
              <a:cs typeface="+mn-ea"/>
              <a:sym typeface="+mn-lt"/>
            </a:endParaRPr>
          </a:p>
        </p:txBody>
      </p:sp>
      <p:sp>
        <p:nvSpPr>
          <p:cNvPr id="83" name="任意多边形 62"/>
          <p:cNvSpPr/>
          <p:nvPr/>
        </p:nvSpPr>
        <p:spPr>
          <a:xfrm>
            <a:off x="304800" y="374015"/>
            <a:ext cx="205740" cy="289560"/>
          </a:xfrm>
          <a:custGeom>
            <a:avLst/>
            <a:gdLst/>
            <a:ahLst/>
            <a:cxnLst>
              <a:cxn ang="3">
                <a:pos x="hc" y="t"/>
              </a:cxn>
              <a:cxn ang="cd2">
                <a:pos x="l" y="vc"/>
              </a:cxn>
              <a:cxn ang="cd4">
                <a:pos x="hc" y="b"/>
              </a:cxn>
              <a:cxn ang="0">
                <a:pos x="r" y="vc"/>
              </a:cxn>
            </a:cxnLst>
            <a:rect l="l" t="t" r="r" b="b"/>
            <a:pathLst>
              <a:path w="324" h="456">
                <a:moveTo>
                  <a:pt x="82" y="0"/>
                </a:moveTo>
                <a:lnTo>
                  <a:pt x="324" y="0"/>
                </a:lnTo>
                <a:lnTo>
                  <a:pt x="324" y="456"/>
                </a:lnTo>
                <a:lnTo>
                  <a:pt x="82" y="456"/>
                </a:lnTo>
                <a:lnTo>
                  <a:pt x="82" y="0"/>
                </a:lnTo>
                <a:close/>
                <a:moveTo>
                  <a:pt x="0" y="0"/>
                </a:moveTo>
                <a:lnTo>
                  <a:pt x="37" y="0"/>
                </a:lnTo>
                <a:lnTo>
                  <a:pt x="37" y="456"/>
                </a:lnTo>
                <a:lnTo>
                  <a:pt x="0" y="456"/>
                </a:lnTo>
                <a:lnTo>
                  <a:pt x="0" y="0"/>
                </a:lnTo>
                <a:close/>
              </a:path>
            </a:pathLst>
          </a:custGeom>
          <a:solidFill>
            <a:srgbClr val="0070D8"/>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cs typeface="+mn-ea"/>
              <a:sym typeface="+mn-l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8" name="picture 568"/>
          <p:cNvPicPr>
            <a:picLocks noChangeAspect="1"/>
          </p:cNvPicPr>
          <p:nvPr/>
        </p:nvPicPr>
        <p:blipFill>
          <a:blip r:embed="rId1"/>
          <a:stretch>
            <a:fillRect/>
          </a:stretch>
        </p:blipFill>
        <p:spPr>
          <a:xfrm rot="21600000">
            <a:off x="0" y="0"/>
            <a:ext cx="12192000" cy="5096255"/>
          </a:xfrm>
          <a:prstGeom prst="rect">
            <a:avLst/>
          </a:prstGeom>
        </p:spPr>
      </p:pic>
      <p:sp>
        <p:nvSpPr>
          <p:cNvPr id="570" name="textbox 570"/>
          <p:cNvSpPr/>
          <p:nvPr/>
        </p:nvSpPr>
        <p:spPr>
          <a:xfrm>
            <a:off x="846569" y="2930842"/>
            <a:ext cx="2368550" cy="1108075"/>
          </a:xfrm>
          <a:prstGeom prst="rect">
            <a:avLst/>
          </a:prstGeom>
          <a:noFill/>
          <a:ln w="0" cap="flat">
            <a:noFill/>
            <a:prstDash val="solid"/>
            <a:miter lim="0"/>
          </a:ln>
        </p:spPr>
        <p:txBody>
          <a:bodyPr vert="horz" wrap="square" lIns="0" tIns="0" rIns="0" bIns="0"/>
          <a:lstStyle/>
          <a:p>
            <a:pPr algn="l" rtl="0" eaLnBrk="0">
              <a:lnSpc>
                <a:spcPct val="83000"/>
              </a:lnSpc>
            </a:pPr>
            <a:endParaRPr sz="100" dirty="0">
              <a:cs typeface="+mn-ea"/>
              <a:sym typeface="+mn-lt"/>
            </a:endParaRPr>
          </a:p>
          <a:p>
            <a:pPr algn="r" rtl="0" eaLnBrk="0">
              <a:lnSpc>
                <a:spcPts val="8520"/>
              </a:lnSpc>
            </a:pPr>
            <a:r>
              <a:rPr sz="5500" kern="0" spc="-450" dirty="0">
                <a:solidFill>
                  <a:srgbClr val="FFFFFF">
                    <a:alpha val="100000"/>
                  </a:srgbClr>
                </a:solidFill>
                <a:cs typeface="+mn-ea"/>
                <a:sym typeface="+mn-lt"/>
              </a:rPr>
              <a:t>谢谢！</a:t>
            </a:r>
            <a:endParaRPr sz="5500" dirty="0">
              <a:cs typeface="+mn-ea"/>
              <a:sym typeface="+mn-lt"/>
            </a:endParaRPr>
          </a:p>
        </p:txBody>
      </p:sp>
      <p:sp>
        <p:nvSpPr>
          <p:cNvPr id="572" name="textbox 572"/>
          <p:cNvSpPr/>
          <p:nvPr/>
        </p:nvSpPr>
        <p:spPr>
          <a:xfrm>
            <a:off x="884530" y="3982875"/>
            <a:ext cx="2164714" cy="551180"/>
          </a:xfrm>
          <a:prstGeom prst="rect">
            <a:avLst/>
          </a:prstGeom>
          <a:noFill/>
          <a:ln w="0" cap="flat">
            <a:noFill/>
            <a:prstDash val="solid"/>
            <a:miter lim="0"/>
          </a:ln>
        </p:spPr>
        <p:txBody>
          <a:bodyPr vert="horz" wrap="square" lIns="0" tIns="0" rIns="0" bIns="0"/>
          <a:lstStyle/>
          <a:p>
            <a:pPr algn="l" rtl="0" eaLnBrk="0">
              <a:lnSpc>
                <a:spcPct val="83000"/>
              </a:lnSpc>
            </a:pPr>
            <a:endParaRPr sz="100" dirty="0">
              <a:cs typeface="+mn-ea"/>
              <a:sym typeface="+mn-lt"/>
            </a:endParaRPr>
          </a:p>
          <a:p>
            <a:pPr marL="12700" algn="l" rtl="0" eaLnBrk="0">
              <a:lnSpc>
                <a:spcPts val="4135"/>
              </a:lnSpc>
            </a:pPr>
            <a:r>
              <a:rPr sz="3200" kern="0" spc="-20" dirty="0">
                <a:solidFill>
                  <a:srgbClr val="FFFFFF">
                    <a:alpha val="100000"/>
                  </a:srgbClr>
                </a:solidFill>
                <a:cs typeface="+mn-ea"/>
                <a:sym typeface="+mn-lt"/>
              </a:rPr>
              <a:t>Thank you!</a:t>
            </a:r>
            <a:endParaRPr sz="3200" dirty="0">
              <a:cs typeface="+mn-ea"/>
              <a:sym typeface="+mn-lt"/>
            </a:endParaRPr>
          </a:p>
        </p:txBody>
      </p:sp>
      <p:pic>
        <p:nvPicPr>
          <p:cNvPr id="574" name="picture 574"/>
          <p:cNvPicPr>
            <a:picLocks noChangeAspect="1"/>
          </p:cNvPicPr>
          <p:nvPr/>
        </p:nvPicPr>
        <p:blipFill>
          <a:blip r:embed="rId2"/>
          <a:stretch>
            <a:fillRect/>
          </a:stretch>
        </p:blipFill>
        <p:spPr>
          <a:xfrm rot="21600000">
            <a:off x="10453597" y="6329285"/>
            <a:ext cx="1444830" cy="281714"/>
          </a:xfrm>
          <a:prstGeom prst="rect">
            <a:avLst/>
          </a:prstGeom>
        </p:spPr>
      </p:pic>
      <p:sp>
        <p:nvSpPr>
          <p:cNvPr id="576" name="textbox 576"/>
          <p:cNvSpPr/>
          <p:nvPr/>
        </p:nvSpPr>
        <p:spPr>
          <a:xfrm>
            <a:off x="413390" y="6422201"/>
            <a:ext cx="2032000" cy="137795"/>
          </a:xfrm>
          <a:prstGeom prst="rect">
            <a:avLst/>
          </a:prstGeom>
          <a:noFill/>
          <a:ln w="0" cap="flat">
            <a:noFill/>
            <a:prstDash val="solid"/>
            <a:miter lim="0"/>
          </a:ln>
        </p:spPr>
        <p:txBody>
          <a:bodyPr vert="horz" wrap="square" lIns="0" tIns="0" rIns="0" bIns="0"/>
          <a:lstStyle/>
          <a:p>
            <a:pPr algn="l" rtl="0" eaLnBrk="0">
              <a:lnSpc>
                <a:spcPct val="81000"/>
              </a:lnSpc>
            </a:pPr>
            <a:endParaRPr sz="100" dirty="0">
              <a:cs typeface="+mn-ea"/>
              <a:sym typeface="+mn-lt"/>
            </a:endParaRPr>
          </a:p>
          <a:p>
            <a:pPr marL="12700" algn="l" rtl="0" eaLnBrk="0">
              <a:lnSpc>
                <a:spcPct val="92000"/>
              </a:lnSpc>
            </a:pPr>
            <a:r>
              <a:rPr sz="800" i="1" kern="0" spc="200" dirty="0">
                <a:solidFill>
                  <a:srgbClr val="000000">
                    <a:alpha val="100000"/>
                  </a:srgbClr>
                </a:solidFill>
                <a:cs typeface="+mn-ea"/>
                <a:sym typeface="+mn-lt"/>
              </a:rPr>
              <a:t>让</a:t>
            </a:r>
            <a:r>
              <a:rPr sz="800" kern="0" spc="60" dirty="0">
                <a:solidFill>
                  <a:srgbClr val="000000">
                    <a:alpha val="100000"/>
                  </a:srgbClr>
                </a:solidFill>
                <a:cs typeface="+mn-ea"/>
                <a:sym typeface="+mn-lt"/>
              </a:rPr>
              <a:t> </a:t>
            </a:r>
            <a:r>
              <a:rPr sz="800" i="1" kern="0" spc="200" dirty="0">
                <a:solidFill>
                  <a:srgbClr val="000000">
                    <a:alpha val="100000"/>
                  </a:srgbClr>
                </a:solidFill>
                <a:cs typeface="+mn-ea"/>
                <a:sym typeface="+mn-lt"/>
              </a:rPr>
              <a:t>城</a:t>
            </a:r>
            <a:r>
              <a:rPr sz="800" kern="0" spc="0" dirty="0">
                <a:solidFill>
                  <a:srgbClr val="000000">
                    <a:alpha val="100000"/>
                  </a:srgbClr>
                </a:solidFill>
                <a:cs typeface="+mn-ea"/>
                <a:sym typeface="+mn-lt"/>
              </a:rPr>
              <a:t> </a:t>
            </a:r>
            <a:r>
              <a:rPr sz="800" i="1" kern="0" spc="200" dirty="0">
                <a:solidFill>
                  <a:srgbClr val="000000">
                    <a:alpha val="100000"/>
                  </a:srgbClr>
                </a:solidFill>
                <a:cs typeface="+mn-ea"/>
                <a:sym typeface="+mn-lt"/>
              </a:rPr>
              <a:t>市</a:t>
            </a:r>
            <a:r>
              <a:rPr sz="800" kern="0" spc="-10" dirty="0">
                <a:solidFill>
                  <a:srgbClr val="000000">
                    <a:alpha val="100000"/>
                  </a:srgbClr>
                </a:solidFill>
                <a:cs typeface="+mn-ea"/>
                <a:sym typeface="+mn-lt"/>
              </a:rPr>
              <a:t> </a:t>
            </a:r>
            <a:r>
              <a:rPr sz="800" i="1" kern="0" spc="200" dirty="0">
                <a:solidFill>
                  <a:srgbClr val="000000">
                    <a:alpha val="100000"/>
                  </a:srgbClr>
                </a:solidFill>
                <a:cs typeface="+mn-ea"/>
                <a:sym typeface="+mn-lt"/>
              </a:rPr>
              <a:t>更</a:t>
            </a:r>
            <a:r>
              <a:rPr sz="800" kern="0" spc="0" dirty="0">
                <a:solidFill>
                  <a:srgbClr val="000000">
                    <a:alpha val="100000"/>
                  </a:srgbClr>
                </a:solidFill>
                <a:cs typeface="+mn-ea"/>
                <a:sym typeface="+mn-lt"/>
              </a:rPr>
              <a:t> </a:t>
            </a:r>
            <a:r>
              <a:rPr sz="800" i="1" kern="0" spc="200" dirty="0">
                <a:solidFill>
                  <a:srgbClr val="000000">
                    <a:alpha val="100000"/>
                  </a:srgbClr>
                </a:solidFill>
                <a:cs typeface="+mn-ea"/>
                <a:sym typeface="+mn-lt"/>
              </a:rPr>
              <a:t>智</a:t>
            </a:r>
            <a:r>
              <a:rPr sz="800" kern="0" spc="20" dirty="0">
                <a:solidFill>
                  <a:srgbClr val="000000">
                    <a:alpha val="100000"/>
                  </a:srgbClr>
                </a:solidFill>
                <a:cs typeface="+mn-ea"/>
                <a:sym typeface="+mn-lt"/>
              </a:rPr>
              <a:t> </a:t>
            </a:r>
            <a:r>
              <a:rPr sz="800" i="1" kern="0" spc="200" dirty="0">
                <a:solidFill>
                  <a:srgbClr val="000000">
                    <a:alpha val="100000"/>
                  </a:srgbClr>
                </a:solidFill>
                <a:cs typeface="+mn-ea"/>
                <a:sym typeface="+mn-lt"/>
              </a:rPr>
              <a:t>慧</a:t>
            </a:r>
            <a:r>
              <a:rPr sz="800" kern="0" spc="200" dirty="0">
                <a:solidFill>
                  <a:srgbClr val="000000">
                    <a:alpha val="100000"/>
                  </a:srgbClr>
                </a:solidFill>
                <a:cs typeface="+mn-ea"/>
                <a:sym typeface="+mn-lt"/>
              </a:rPr>
              <a:t>   </a:t>
            </a:r>
            <a:r>
              <a:rPr sz="800" i="1" kern="0" spc="200" dirty="0">
                <a:solidFill>
                  <a:srgbClr val="000000">
                    <a:alpha val="100000"/>
                  </a:srgbClr>
                </a:solidFill>
                <a:cs typeface="+mn-ea"/>
                <a:sym typeface="+mn-lt"/>
              </a:rPr>
              <a:t>让</a:t>
            </a:r>
            <a:r>
              <a:rPr sz="800" kern="0" spc="10" dirty="0">
                <a:solidFill>
                  <a:srgbClr val="000000">
                    <a:alpha val="100000"/>
                  </a:srgbClr>
                </a:solidFill>
                <a:cs typeface="+mn-ea"/>
                <a:sym typeface="+mn-lt"/>
              </a:rPr>
              <a:t> </a:t>
            </a:r>
            <a:r>
              <a:rPr sz="800" i="1" kern="0" spc="200" dirty="0">
                <a:solidFill>
                  <a:srgbClr val="000000">
                    <a:alpha val="100000"/>
                  </a:srgbClr>
                </a:solidFill>
                <a:cs typeface="+mn-ea"/>
                <a:sym typeface="+mn-lt"/>
              </a:rPr>
              <a:t>生</a:t>
            </a:r>
            <a:r>
              <a:rPr sz="800" kern="0" spc="0" dirty="0">
                <a:solidFill>
                  <a:srgbClr val="000000">
                    <a:alpha val="100000"/>
                  </a:srgbClr>
                </a:solidFill>
                <a:cs typeface="+mn-ea"/>
                <a:sym typeface="+mn-lt"/>
              </a:rPr>
              <a:t> </a:t>
            </a:r>
            <a:r>
              <a:rPr sz="800" i="1" kern="0" spc="200" dirty="0">
                <a:solidFill>
                  <a:srgbClr val="000000">
                    <a:alpha val="100000"/>
                  </a:srgbClr>
                </a:solidFill>
                <a:cs typeface="+mn-ea"/>
                <a:sym typeface="+mn-lt"/>
              </a:rPr>
              <a:t>活</a:t>
            </a:r>
            <a:r>
              <a:rPr sz="800" kern="0" spc="0" dirty="0">
                <a:solidFill>
                  <a:srgbClr val="000000">
                    <a:alpha val="100000"/>
                  </a:srgbClr>
                </a:solidFill>
                <a:cs typeface="+mn-ea"/>
                <a:sym typeface="+mn-lt"/>
              </a:rPr>
              <a:t> </a:t>
            </a:r>
            <a:r>
              <a:rPr sz="800" i="1" kern="0" spc="200" dirty="0">
                <a:solidFill>
                  <a:srgbClr val="000000">
                    <a:alpha val="100000"/>
                  </a:srgbClr>
                </a:solidFill>
                <a:cs typeface="+mn-ea"/>
                <a:sym typeface="+mn-lt"/>
              </a:rPr>
              <a:t>更</a:t>
            </a:r>
            <a:r>
              <a:rPr sz="800" kern="0" spc="10" dirty="0">
                <a:solidFill>
                  <a:srgbClr val="000000">
                    <a:alpha val="100000"/>
                  </a:srgbClr>
                </a:solidFill>
                <a:cs typeface="+mn-ea"/>
                <a:sym typeface="+mn-lt"/>
              </a:rPr>
              <a:t> </a:t>
            </a:r>
            <a:r>
              <a:rPr sz="800" i="1" kern="0" spc="200" dirty="0">
                <a:solidFill>
                  <a:srgbClr val="000000">
                    <a:alpha val="100000"/>
                  </a:srgbClr>
                </a:solidFill>
                <a:cs typeface="+mn-ea"/>
                <a:sym typeface="+mn-lt"/>
              </a:rPr>
              <a:t>美</a:t>
            </a:r>
            <a:r>
              <a:rPr sz="800" kern="0" spc="0" dirty="0">
                <a:solidFill>
                  <a:srgbClr val="000000">
                    <a:alpha val="100000"/>
                  </a:srgbClr>
                </a:solidFill>
                <a:cs typeface="+mn-ea"/>
                <a:sym typeface="+mn-lt"/>
              </a:rPr>
              <a:t> </a:t>
            </a:r>
            <a:r>
              <a:rPr sz="800" i="1" kern="0" spc="200" dirty="0">
                <a:solidFill>
                  <a:srgbClr val="000000">
                    <a:alpha val="100000"/>
                  </a:srgbClr>
                </a:solidFill>
                <a:cs typeface="+mn-ea"/>
                <a:sym typeface="+mn-lt"/>
              </a:rPr>
              <a:t>好</a:t>
            </a:r>
            <a:endParaRPr sz="800" dirty="0">
              <a:cs typeface="+mn-ea"/>
              <a:sym typeface="+mn-lt"/>
            </a:endParaRP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8.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9.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0.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1.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2.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3.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4.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5.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6.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7.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8.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9.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20.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21.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22.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23.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24.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25.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26.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27.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28.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29.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30.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31.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32.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33.xml><?xml version="1.0" encoding="utf-8"?>
<p:tagLst xmlns:p="http://schemas.openxmlformats.org/presentationml/2006/main">
  <p:tag name="KSO_WM_DIAGRAM_VIRTUALLY_FRAME" val="{&quot;height&quot;:394.5411811023622,&quot;left&quot;:254.04448818897635,&quot;top&quot;:70.36370078740157,&quot;width&quot;:647.8182677165354}"/>
</p:tagLst>
</file>

<file path=ppt/tags/tag34.xml><?xml version="1.0" encoding="utf-8"?>
<p:tagLst xmlns:p="http://schemas.openxmlformats.org/presentationml/2006/main">
  <p:tag name="KSO_WM_DIAGRAM_VIRTUALLY_FRAME" val="{&quot;height&quot;:394.5411811023622,&quot;left&quot;:254.04448818897635,&quot;top&quot;:70.36370078740157,&quot;width&quot;:647.8182677165354}"/>
</p:tagLst>
</file>

<file path=ppt/tags/tag35.xml><?xml version="1.0" encoding="utf-8"?>
<p:tagLst xmlns:p="http://schemas.openxmlformats.org/presentationml/2006/main">
  <p:tag name="KSO_WM_DIAGRAM_VIRTUALLY_FRAME" val="{&quot;height&quot;:394.5411811023622,&quot;left&quot;:254.04448818897635,&quot;top&quot;:70.36370078740157,&quot;width&quot;:647.8182677165354}"/>
</p:tagLst>
</file>

<file path=ppt/tags/tag36.xml><?xml version="1.0" encoding="utf-8"?>
<p:tagLst xmlns:p="http://schemas.openxmlformats.org/presentationml/2006/main">
  <p:tag name="KSO_WM_DIAGRAM_VIRTUALLY_FRAME" val="{&quot;height&quot;:394.5411811023622,&quot;left&quot;:254.04448818897635,&quot;top&quot;:70.36370078740157,&quot;width&quot;:647.8182677165354}"/>
</p:tagLst>
</file>

<file path=ppt/tags/tag37.xml><?xml version="1.0" encoding="utf-8"?>
<p:tagLst xmlns:p="http://schemas.openxmlformats.org/presentationml/2006/main">
  <p:tag name="KSO_WM_DIAGRAM_VIRTUALLY_FRAME" val="{&quot;height&quot;:394.5411811023622,&quot;left&quot;:254.04448818897635,&quot;top&quot;:70.36370078740157,&quot;width&quot;:647.8182677165354}"/>
</p:tagLst>
</file>

<file path=ppt/tags/tag38.xml><?xml version="1.0" encoding="utf-8"?>
<p:tagLst xmlns:p="http://schemas.openxmlformats.org/presentationml/2006/main">
  <p:tag name="KSO_WM_DIAGRAM_VIRTUALLY_FRAME" val="{&quot;height&quot;:394.5411811023622,&quot;left&quot;:254.04448818897635,&quot;top&quot;:70.36370078740157,&quot;width&quot;:647.8182677165354}"/>
</p:tagLst>
</file>

<file path=ppt/tags/tag39.xml><?xml version="1.0" encoding="utf-8"?>
<p:tagLst xmlns:p="http://schemas.openxmlformats.org/presentationml/2006/main">
  <p:tag name="KSO_WM_DIAGRAM_VIRTUALLY_FRAME" val="{&quot;height&quot;:394.5411811023622,&quot;left&quot;:254.04448818897635,&quot;top&quot;:70.36370078740157,&quot;width&quot;:647.8182677165354}"/>
</p:tagLst>
</file>

<file path=ppt/tags/tag40.xml><?xml version="1.0" encoding="utf-8"?>
<p:tagLst xmlns:p="http://schemas.openxmlformats.org/presentationml/2006/main">
  <p:tag name="KSO_WM_DIAGRAM_VIRTUALLY_FRAME" val="{&quot;height&quot;:394.5411811023622,&quot;left&quot;:254.04448818897635,&quot;top&quot;:70.36370078740157,&quot;width&quot;:647.8182677165354}"/>
</p:tagLst>
</file>

<file path=ppt/tags/tag41.xml><?xml version="1.0" encoding="utf-8"?>
<p:tagLst xmlns:p="http://schemas.openxmlformats.org/presentationml/2006/main">
  <p:tag name="KSO_WM_DIAGRAM_VIRTUALLY_FRAME" val="{&quot;height&quot;:394.5411811023622,&quot;left&quot;:254.04448818897635,&quot;top&quot;:70.36370078740157,&quot;width&quot;:647.8182677165354}"/>
</p:tagLst>
</file>

<file path=ppt/tags/tag42.xml><?xml version="1.0" encoding="utf-8"?>
<p:tagLst xmlns:p="http://schemas.openxmlformats.org/presentationml/2006/main">
  <p:tag name="KSO_WM_DIAGRAM_VIRTUALLY_FRAME" val="{&quot;height&quot;:394.5411811023622,&quot;left&quot;:254.04448818897635,&quot;top&quot;:70.36370078740157,&quot;width&quot;:647.8182677165354}"/>
</p:tagLst>
</file>

<file path=ppt/tags/tag43.xml><?xml version="1.0" encoding="utf-8"?>
<p:tagLst xmlns:p="http://schemas.openxmlformats.org/presentationml/2006/main">
  <p:tag name="KSO_WM_DIAGRAM_VIRTUALLY_FRAME" val="{&quot;height&quot;:394.5411811023622,&quot;left&quot;:254.04448818897635,&quot;top&quot;:70.36370078740157,&quot;width&quot;:647.8182677165354}"/>
</p:tagLst>
</file>

<file path=ppt/tags/tag44.xml><?xml version="1.0" encoding="utf-8"?>
<p:tagLst xmlns:p="http://schemas.openxmlformats.org/presentationml/2006/main">
  <p:tag name="KSO_WM_DIAGRAM_VIRTUALLY_FRAME" val="{&quot;height&quot;:394.5411811023622,&quot;left&quot;:254.04448818897635,&quot;top&quot;:70.36370078740157,&quot;width&quot;:647.8182677165354}"/>
</p:tagLst>
</file>

<file path=ppt/tags/tag45.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46.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47.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48.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49.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50.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51.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52.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53.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54.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55.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56.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57.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58.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59.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60.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61.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62.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63.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64.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65.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66.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67.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68.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69.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70.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71.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72.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73.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74.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75.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76.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77.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78.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79.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80.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81.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82.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83.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84.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85.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86.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87.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88.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89.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90.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91.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92.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93.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94.xml><?xml version="1.0" encoding="utf-8"?>
<p:tagLst xmlns:p="http://schemas.openxmlformats.org/presentationml/2006/main">
  <p:tag name="KSO_WM_DIAGRAM_VIRTUALLY_FRAME" val="{&quot;height&quot;:321.6591338582677,&quot;left&quot;:331.44251968503926,&quot;top&quot;:115.04543307086615,&quot;width&quot;:580.4180314960631}"/>
</p:tagLst>
</file>

<file path=ppt/tags/tag95.xml><?xml version="1.0" encoding="utf-8"?>
<p:tagLst xmlns:p="http://schemas.openxmlformats.org/presentationml/2006/main">
  <p:tag name="KSO_WM_DIAGRAM_VIRTUALLY_FRAME" val="{&quot;height&quot;:294.19393700787396,&quot;left&quot;:0.3992125984252198,&quot;top&quot;:84.10590551181102,&quot;width&quot;:959.25}"/>
</p:tagLst>
</file>

<file path=ppt/tags/tag96.xml><?xml version="1.0" encoding="utf-8"?>
<p:tagLst xmlns:p="http://schemas.openxmlformats.org/presentationml/2006/main">
  <p:tag name="KSO_WM_DIAGRAM_VIRTUALLY_FRAME" val="{&quot;height&quot;:294.19393700787396,&quot;left&quot;:0.3992125984252198,&quot;top&quot;:84.10590551181102,&quot;width&quot;:959.25}"/>
</p:tagLst>
</file>

<file path=ppt/tags/tag97.xml><?xml version="1.0" encoding="utf-8"?>
<p:tagLst xmlns:p="http://schemas.openxmlformats.org/presentationml/2006/main">
  <p:tag name="KSO_WM_DIAGRAM_VIRTUALLY_FRAME" val="{&quot;height&quot;:294.19393700787396,&quot;left&quot;:0.3992125984252198,&quot;top&quot;:84.10590551181102,&quot;width&quot;:959.25}"/>
</p:tagLst>
</file>

<file path=ppt/tags/tag98.xml><?xml version="1.0" encoding="utf-8"?>
<p:tagLst xmlns:p="http://schemas.openxmlformats.org/presentationml/2006/main">
  <p:tag name="KSO_WM_DIAGRAM_VIRTUALLY_FRAME" val="{&quot;height&quot;:294.19393700787396,&quot;left&quot;:0.3992125984252198,&quot;top&quot;:84.10590551181102,&quot;width&quot;:959.25}"/>
</p:tagLst>
</file>

<file path=ppt/tags/tag99.xml><?xml version="1.0" encoding="utf-8"?>
<p:tagLst xmlns:p="http://schemas.openxmlformats.org/presentationml/2006/main">
  <p:tag name="KSO_WM_DIAGRAM_VIRTUALLY_FRAME" val="{&quot;height&quot;:294.19393700787396,&quot;left&quot;:0.3992125984252198,&quot;top&quot;:84.10590551181102,&quot;width&quot;:959.25}"/>
</p:tagLst>
</file>

<file path=ppt/tags/tag100.xml><?xml version="1.0" encoding="utf-8"?>
<p:tagLst xmlns:p="http://schemas.openxmlformats.org/presentationml/2006/main">
  <p:tag name="KSO_WM_DIAGRAM_VIRTUALLY_FRAME" val="{&quot;height&quot;:294.19393700787396,&quot;left&quot;:0.3992125984252198,&quot;top&quot;:84.10590551181102,&quot;width&quot;:959.25}"/>
</p:tagLst>
</file>

<file path=ppt/tags/tag101.xml><?xml version="1.0" encoding="utf-8"?>
<p:tagLst xmlns:p="http://schemas.openxmlformats.org/presentationml/2006/main">
  <p:tag name="KSO_WM_DIAGRAM_VIRTUALLY_FRAME" val="{&quot;height&quot;:294.19393700787396,&quot;left&quot;:0.3992125984252198,&quot;top&quot;:84.10590551181102,&quot;width&quot;:959.25}"/>
</p:tagLst>
</file>

<file path=ppt/tags/tag102.xml><?xml version="1.0" encoding="utf-8"?>
<p:tagLst xmlns:p="http://schemas.openxmlformats.org/presentationml/2006/main">
  <p:tag name="KSO_WM_DIAGRAM_VIRTUALLY_FRAME" val="{&quot;height&quot;:294.19393700787396,&quot;left&quot;:0.3992125984252198,&quot;top&quot;:84.10590551181102,&quot;width&quot;:959.25}"/>
</p:tagLst>
</file>

<file path=ppt/tags/tag103.xml><?xml version="1.0" encoding="utf-8"?>
<p:tagLst xmlns:p="http://schemas.openxmlformats.org/presentationml/2006/main">
  <p:tag name="KSO_WM_DIAGRAM_VIRTUALLY_FRAME" val="{&quot;height&quot;:294.19393700787396,&quot;left&quot;:0.3992125984252198,&quot;top&quot;:84.10590551181102,&quot;width&quot;:959.25}"/>
</p:tagLst>
</file>

<file path=ppt/tags/tag104.xml><?xml version="1.0" encoding="utf-8"?>
<p:tagLst xmlns:p="http://schemas.openxmlformats.org/presentationml/2006/main">
  <p:tag name="KSO_WM_DIAGRAM_VIRTUALLY_FRAME" val="{&quot;height&quot;:294.19393700787396,&quot;left&quot;:0.3992125984252198,&quot;top&quot;:84.10590551181102,&quot;width&quot;:959.25}"/>
</p:tagLst>
</file>

<file path=ppt/tags/tag105.xml><?xml version="1.0" encoding="utf-8"?>
<p:tagLst xmlns:p="http://schemas.openxmlformats.org/presentationml/2006/main">
  <p:tag name="KSO_WM_DIAGRAM_VIRTUALLY_FRAME" val="{&quot;height&quot;:294.19393700787396,&quot;left&quot;:0.3992125984252198,&quot;top&quot;:84.10590551181102,&quot;width&quot;:959.25}"/>
</p:tagLst>
</file>

<file path=ppt/tags/tag106.xml><?xml version="1.0" encoding="utf-8"?>
<p:tagLst xmlns:p="http://schemas.openxmlformats.org/presentationml/2006/main">
  <p:tag name="KSO_WM_DIAGRAM_VIRTUALLY_FRAME" val="{&quot;height&quot;:294.19393700787396,&quot;left&quot;:0.3992125984252198,&quot;top&quot;:84.10590551181102,&quot;width&quot;:959.25}"/>
</p:tagLst>
</file>

<file path=ppt/tags/tag107.xml><?xml version="1.0" encoding="utf-8"?>
<p:tagLst xmlns:p="http://schemas.openxmlformats.org/presentationml/2006/main">
  <p:tag name="KSO_WM_DIAGRAM_VIRTUALLY_FRAME" val="{&quot;height&quot;:294.19393700787396,&quot;left&quot;:0.3992125984252198,&quot;top&quot;:84.10590551181102,&quot;width&quot;:959.25}"/>
</p:tagLst>
</file>

<file path=ppt/tags/tag108.xml><?xml version="1.0" encoding="utf-8"?>
<p:tagLst xmlns:p="http://schemas.openxmlformats.org/presentationml/2006/main">
  <p:tag name="KSO_WM_DIAGRAM_VIRTUALLY_FRAME" val="{&quot;height&quot;:294.19393700787396,&quot;left&quot;:0.3992125984252198,&quot;top&quot;:84.10590551181102,&quot;width&quot;:959.25}"/>
</p:tagLst>
</file>

<file path=ppt/tags/tag109.xml><?xml version="1.0" encoding="utf-8"?>
<p:tagLst xmlns:p="http://schemas.openxmlformats.org/presentationml/2006/main">
  <p:tag name="KSO_WM_DIAGRAM_VIRTUALLY_FRAME" val="{&quot;height&quot;:294.19393700787396,&quot;left&quot;:0.3992125984252198,&quot;top&quot;:84.10590551181102,&quot;width&quot;:959.25}"/>
</p:tagLst>
</file>

<file path=ppt/tags/tag110.xml><?xml version="1.0" encoding="utf-8"?>
<p:tagLst xmlns:p="http://schemas.openxmlformats.org/presentationml/2006/main">
  <p:tag name="KSO_WM_DIAGRAM_VIRTUALLY_FRAME" val="{&quot;height&quot;:294.19393700787396,&quot;left&quot;:0.3992125984252198,&quot;top&quot;:84.10590551181102,&quot;width&quot;:959.25}"/>
</p:tagLst>
</file>

<file path=ppt/tags/tag111.xml><?xml version="1.0" encoding="utf-8"?>
<p:tagLst xmlns:p="http://schemas.openxmlformats.org/presentationml/2006/main">
  <p:tag name="KSO_WM_DIAGRAM_VIRTUALLY_FRAME" val="{&quot;height&quot;:294.19393700787396,&quot;left&quot;:0.3992125984252198,&quot;top&quot;:84.10590551181102,&quot;width&quot;:959.25}"/>
</p:tagLst>
</file>

<file path=ppt/tags/tag112.xml><?xml version="1.0" encoding="utf-8"?>
<p:tagLst xmlns:p="http://schemas.openxmlformats.org/presentationml/2006/main">
  <p:tag name="KSO_WM_DIAGRAM_VIRTUALLY_FRAME" val="{&quot;height&quot;:294.19393700787396,&quot;left&quot;:0.3992125984252198,&quot;top&quot;:84.10590551181102,&quot;width&quot;:959.25}"/>
</p:tagLst>
</file>

<file path=ppt/tags/tag113.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14.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15.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16.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17.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18.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19.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20.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21.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22.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23.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24.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25.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26.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27.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28.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29.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30.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31.xml><?xml version="1.0" encoding="utf-8"?>
<p:tagLst xmlns:p="http://schemas.openxmlformats.org/presentationml/2006/main">
  <p:tag name="KSO_WM_DIAGRAM_VIRTUALLY_FRAME" val="{&quot;height&quot;:103.67999999999998,&quot;left&quot;:53.279999999999994,&quot;top&quot;:116.64000000000001,&quot;width&quot;:848.1600000000001}"/>
</p:tagLst>
</file>

<file path=ppt/tags/tag132.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33.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34.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35.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36.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37.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38.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39.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40.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41.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42.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43.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44.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45.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46.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47.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48.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49.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50.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51.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52.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53.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54.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55.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56.xml><?xml version="1.0" encoding="utf-8"?>
<p:tagLst xmlns:p="http://schemas.openxmlformats.org/presentationml/2006/main">
  <p:tag name="KSO_WM_DIAGRAM_VIRTUALLY_FRAME" val="{&quot;height&quot;:313.4091338582677,&quot;left&quot;:331.4425196850394,&quot;top&quot;:113.29543307086615,&quot;width&quot;:570.4180314960629}"/>
</p:tagLst>
</file>

<file path=ppt/tags/tag157.xml><?xml version="1.0" encoding="utf-8"?>
<p:tagLst xmlns:p="http://schemas.openxmlformats.org/presentationml/2006/main">
  <p:tag name="RESOURCE_RECORD_KEY" val="{&quot;70&quot;:[3333443,3333499,3319206,3402706]}"/>
  <p:tag name="ISLIDE.GUIDESSETTING" val="{&quot;Id&quot;:&quot;0ee90932-8089-415b-b0a3-de9025d5abf4&quot;,&quot;Name&quot;:null,&quot;Kind&quot;:1,&quot;OldGuidesSetting&quot;:{&quot;HeaderHeight&quot;:10.0,&quot;FooterHeight&quot;:5.0,&quot;SideMargin&quot;:2.5,&quot;TopMargin&quot;:0.0,&quot;BottomMargin&quot;:0.0,&quot;IntervalMargin&quot;:1.0}}"/>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6c68f1a-9668-47cb-a843-11c41c3de5ef">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solidFill>
            <a:schemeClr val="accent1">
              <a:shade val="15000"/>
            </a:schemeClr>
          </a:solid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rtlCol="0" anchor="t">
        <a:spAutoFit/>
      </a:bodyPr>
      <a:lstStyle>
        <a:defPPr marL="230505" algn="l" rtl="0" eaLnBrk="0">
          <a:lnSpc>
            <a:spcPct val="96000"/>
          </a:lnSpc>
          <a:spcBef>
            <a:spcPts val="5"/>
          </a:spcBef>
          <a:defRPr sz="1700" b="1" kern="0" spc="80" dirty="0">
            <a:solidFill>
              <a:srgbClr val="000000">
                <a:alpha val="100000"/>
              </a:srgbClr>
            </a:solidFill>
            <a:latin typeface="微软雅黑" panose="020B0503020204020204" charset="-122"/>
            <a:ea typeface="微软雅黑" panose="020B0503020204020204" charset="-122"/>
            <a:cs typeface="微软雅黑" panose="020B0503020204020204" charset="-122"/>
            <a:sym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1256</Words>
  <Application>WPS 演示</Application>
  <PresentationFormat>宽屏</PresentationFormat>
  <Paragraphs>289</Paragraphs>
  <Slides>14</Slides>
  <Notes>0</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14</vt:i4>
      </vt:variant>
    </vt:vector>
  </HeadingPairs>
  <TitlesOfParts>
    <vt:vector size="32" baseType="lpstr">
      <vt:lpstr>Arial</vt:lpstr>
      <vt:lpstr>宋体</vt:lpstr>
      <vt:lpstr>Wingdings</vt:lpstr>
      <vt:lpstr>微软雅黑</vt:lpstr>
      <vt:lpstr>字魂58号-创中黑</vt:lpstr>
      <vt:lpstr>MiSans</vt:lpstr>
      <vt:lpstr>Source Han Sans</vt:lpstr>
      <vt:lpstr>Source Han Sans CN Bold</vt:lpstr>
      <vt:lpstr>Arial Unicode MS</vt:lpstr>
      <vt:lpstr>Calibri</vt:lpstr>
      <vt:lpstr>黑体</vt:lpstr>
      <vt:lpstr>微软雅黑</vt:lpstr>
      <vt:lpstr>MiSans</vt:lpstr>
      <vt:lpstr>Wingdings</vt:lpstr>
      <vt:lpstr>字魂58号-创中黑</vt:lpstr>
      <vt:lpstr>MiSans Semibold</vt:lpstr>
      <vt:lpstr>字魂创中黑</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xuren deng</dc:creator>
  <cp:lastModifiedBy>曹宏坤</cp:lastModifiedBy>
  <cp:revision>518</cp:revision>
  <dcterms:created xsi:type="dcterms:W3CDTF">2026-06-22T10:12:00Z</dcterms:created>
  <dcterms:modified xsi:type="dcterms:W3CDTF">2026-06-24T02:31:19Z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O">
    <vt:lpwstr>wqlLaW5nc29mdCBQREYgdG8gV1BTIDEwMA</vt:lpwstr>
  </property>
  <property fmtid="{D5CDD505-2E9C-101B-9397-08002B2CF9AE}" pid="3" name="Created">
    <vt:filetime>2025-04-29T03:29:12Z</vt:filetime>
  </property>
  <property fmtid="{D5CDD505-2E9C-101B-9397-08002B2CF9AE}" pid="4" name="ICV">
    <vt:lpwstr>3CCEDFEB15D446F88562D42963E9DD7B_13</vt:lpwstr>
  </property>
  <property fmtid="{D5CDD505-2E9C-101B-9397-08002B2CF9AE}" pid="5" name="KSOProductBuildVer">
    <vt:lpwstr>2052-12.1.0.26895</vt:lpwstr>
  </property>
</Properties>
</file>