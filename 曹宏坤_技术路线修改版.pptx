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08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rcRect l="10001" r="1000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13248"/>
            <a:ext cx="7863840" cy="1444752"/>
          </a:xfrm>
          <a:prstGeom prst="rect">
            <a:avLst/>
          </a:prstGeom>
          <a:solidFill>
            <a:srgbClr val="004A96"/>
          </a:solidFill>
          <a:ln>
            <a:solidFill>
              <a:srgbClr val="00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932688"/>
            <a:ext cx="109728" cy="324612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024128"/>
            <a:ext cx="72237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CE1FF"/>
                </a:solidFill>
                <a:latin typeface="Microsoft YaHei"/>
              </a:rPr>
              <a:t>城市基础设施数字化建模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8046720" cy="8412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技术路线与阶段思考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89504"/>
            <a:ext cx="850392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从单项建模交付，走向可复用的时空数据与数字孪生能力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5687568"/>
            <a:ext cx="29260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汇报人：曹宏坤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6089904"/>
            <a:ext cx="201168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3E1FA"/>
                </a:solidFill>
                <a:latin typeface="Microsoft YaHei"/>
              </a:rPr>
              <a:t>2026.06.23</a:t>
            </a:r>
          </a:p>
        </p:txBody>
      </p:sp>
      <p:pic>
        <p:nvPicPr>
          <p:cNvPr id="11" name="Picture 10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76" y="6153912"/>
            <a:ext cx="2011680" cy="1788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REPORT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汇报重点：不展开实现细节，重点说明路线、问题与后续承接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44752"/>
            <a:ext cx="3310128" cy="4151376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1792224"/>
            <a:ext cx="658368" cy="658368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947672"/>
            <a:ext cx="658368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688336"/>
            <a:ext cx="2651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2D3D"/>
                </a:solidFill>
                <a:latin typeface="Microsoft YaHei"/>
              </a:rPr>
              <a:t>技术路线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3328416"/>
            <a:ext cx="2670048" cy="1188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B7E"/>
                </a:solidFill>
                <a:latin typeface="Microsoft YaHei"/>
              </a:rPr>
              <a:t>如何把建模、数据、语义和交付组织成一条可持续演进的路线？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8407" y="4992624"/>
            <a:ext cx="2377441" cy="0"/>
          </a:xfrm>
          <a:prstGeom prst="line">
            <a:avLst/>
          </a:prstGeom>
          <a:ln w="25400">
            <a:solidFill>
              <a:srgbClr val="007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53128" y="1444752"/>
            <a:ext cx="3310128" cy="4151376"/>
          </a:xfrm>
          <a:prstGeom prst="roundRect">
            <a:avLst>
              <a:gd name="adj" fmla="val 8000"/>
            </a:avLst>
          </a:prstGeom>
          <a:solidFill>
            <a:srgbClr val="E8F4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64024" y="1792224"/>
            <a:ext cx="658368" cy="658368"/>
          </a:xfrm>
          <a:prstGeom prst="ellipse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4024" y="1947672"/>
            <a:ext cx="658368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688336"/>
            <a:ext cx="2651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2D3D"/>
                </a:solidFill>
                <a:latin typeface="Microsoft YaHei"/>
              </a:rPr>
              <a:t>问题意识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328416"/>
            <a:ext cx="2670048" cy="1188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B7E"/>
                </a:solidFill>
                <a:latin typeface="Microsoft YaHei"/>
              </a:rPr>
              <a:t>当前暴露的问题背后，哪些是几何问题，哪些是数据与规则问题？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73168" y="4992624"/>
            <a:ext cx="2377440" cy="0"/>
          </a:xfrm>
          <a:prstGeom prst="line">
            <a:avLst/>
          </a:prstGeom>
          <a:ln w="25400">
            <a:solidFill>
              <a:srgbClr val="EB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47888" y="1444752"/>
            <a:ext cx="3310128" cy="4151376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58784" y="1792224"/>
            <a:ext cx="658368" cy="658368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58784" y="1947672"/>
            <a:ext cx="658368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8" y="2688336"/>
            <a:ext cx="2651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2D3D"/>
                </a:solidFill>
                <a:latin typeface="Microsoft YaHei"/>
              </a:rPr>
              <a:t>未来承接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7928" y="3328416"/>
            <a:ext cx="2670048" cy="1188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B6B7E"/>
                </a:solidFill>
                <a:latin typeface="Microsoft YaHei"/>
              </a:rPr>
              <a:t>道路建模经验如何支撑超融合数据库、数字孪生与专项交付？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4992624"/>
            <a:ext cx="2377440" cy="0"/>
          </a:xfrm>
          <a:prstGeom prst="line">
            <a:avLst/>
          </a:prstGeom>
          <a:ln w="25400">
            <a:solidFill>
              <a:srgbClr val="007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01 /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阶段定位：当前项目是入口，目标是沉淀通用数字底座能力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01952"/>
            <a:ext cx="190195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01952"/>
            <a:ext cx="1901952" cy="365760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523744"/>
            <a:ext cx="157276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数据接入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999232"/>
            <a:ext cx="1572768" cy="6035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0">
                <a:solidFill>
                  <a:srgbClr val="5B6B7E"/>
                </a:solidFill>
                <a:latin typeface="Microsoft YaHei"/>
              </a:rPr>
              <a:t>GIS / CAD / 业务表</a:t>
            </a:r>
            <a:br/>
            <a:r>
              <a:t>多源异构数据清洗</a:t>
            </a:r>
          </a:p>
        </p:txBody>
      </p:sp>
      <p:sp>
        <p:nvSpPr>
          <p:cNvPr id="12" name="Chevron 11"/>
          <p:cNvSpPr/>
          <p:nvPr/>
        </p:nvSpPr>
        <p:spPr>
          <a:xfrm>
            <a:off x="2468880" y="2670048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1901952"/>
            <a:ext cx="190195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07208" y="1901952"/>
            <a:ext cx="1901952" cy="365760"/>
          </a:xfrm>
          <a:prstGeom prst="rect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523744"/>
            <a:ext cx="157276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规则表达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999232"/>
            <a:ext cx="1572768" cy="6035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0">
                <a:solidFill>
                  <a:srgbClr val="5B6B7E"/>
                </a:solidFill>
                <a:latin typeface="Microsoft YaHei"/>
              </a:rPr>
              <a:t>专业规则、分级标准</a:t>
            </a:r>
            <a:br/>
            <a:r>
              <a:t>参数化配置</a:t>
            </a:r>
          </a:p>
        </p:txBody>
      </p:sp>
      <p:sp>
        <p:nvSpPr>
          <p:cNvPr id="17" name="Chevron 16"/>
          <p:cNvSpPr/>
          <p:nvPr/>
        </p:nvSpPr>
        <p:spPr>
          <a:xfrm>
            <a:off x="4773168" y="2670048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1496" y="1901952"/>
            <a:ext cx="190195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1496" y="1901952"/>
            <a:ext cx="1901952" cy="365760"/>
          </a:xfrm>
          <a:prstGeom prst="rect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6088" y="2523744"/>
            <a:ext cx="157276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空间建模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2999232"/>
            <a:ext cx="1572768" cy="6035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0">
                <a:solidFill>
                  <a:srgbClr val="5B6B7E"/>
                </a:solidFill>
                <a:latin typeface="Microsoft YaHei"/>
              </a:rPr>
              <a:t>道路、隧道、管线</a:t>
            </a:r>
            <a:br/>
            <a:r>
              <a:t>可视化模型生成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7456" y="2670048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15784" y="1901952"/>
            <a:ext cx="190195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15784" y="1901952"/>
            <a:ext cx="1901952" cy="365760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0376" y="2523744"/>
            <a:ext cx="157276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语义关联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6" y="2999232"/>
            <a:ext cx="1572768" cy="6035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0">
                <a:solidFill>
                  <a:srgbClr val="5B6B7E"/>
                </a:solidFill>
                <a:latin typeface="Microsoft YaHei"/>
              </a:rPr>
              <a:t>对象、属性、关系</a:t>
            </a:r>
            <a:br/>
            <a:r>
              <a:t>来源可追溯</a:t>
            </a:r>
          </a:p>
        </p:txBody>
      </p:sp>
      <p:sp>
        <p:nvSpPr>
          <p:cNvPr id="27" name="Chevron 26"/>
          <p:cNvSpPr/>
          <p:nvPr/>
        </p:nvSpPr>
        <p:spPr>
          <a:xfrm>
            <a:off x="9381744" y="2670048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20072" y="1901952"/>
            <a:ext cx="190195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20072" y="1901952"/>
            <a:ext cx="1901952" cy="36576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84664" y="2523744"/>
            <a:ext cx="157276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应用承接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84664" y="2999232"/>
            <a:ext cx="1572768" cy="6035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0">
                <a:solidFill>
                  <a:srgbClr val="5B6B7E"/>
                </a:solidFill>
                <a:latin typeface="Microsoft YaHei"/>
              </a:rPr>
              <a:t>超融合数据库</a:t>
            </a:r>
            <a:br/>
            <a:r>
              <a:t>数字孪生专项交付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919472"/>
            <a:ext cx="10899648" cy="585216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5074920"/>
            <a:ext cx="10515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4080"/>
                </a:solidFill>
                <a:latin typeface="Microsoft YaHei"/>
              </a:rPr>
              <a:t>核心判断：不能只把能力定义为“生成一个模型”，而要定义为“多源数据进入后，能形成可解释、可查询、可交付的数字对象”。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01 /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技术选型：平台、算法、数据底座各司其职，避免单点工具依赖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53312"/>
            <a:ext cx="10899648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3152" cy="841248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72768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70E0"/>
                </a:solidFill>
                <a:latin typeface="Microsoft YaHei"/>
              </a:rPr>
              <a:t>三维平台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1554480"/>
            <a:ext cx="3017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D3D"/>
                </a:solidFill>
                <a:latin typeface="Microsoft YaHei"/>
              </a:rPr>
              <a:t>负责场景组织、展示检查、格式输出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1517904"/>
            <a:ext cx="5230368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适合作为承载层，不宜把全部业务规则绑定在工具里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414015"/>
            <a:ext cx="10899648" cy="841248"/>
          </a:xfrm>
          <a:prstGeom prst="rect">
            <a:avLst/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14015"/>
            <a:ext cx="73152" cy="841248"/>
          </a:xfrm>
          <a:prstGeom prst="rect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33472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F902C"/>
                </a:solidFill>
                <a:latin typeface="Microsoft YaHei"/>
              </a:rPr>
              <a:t>几何与规则算法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615184"/>
            <a:ext cx="3017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D3D"/>
                </a:solidFill>
                <a:latin typeface="Microsoft YaHei"/>
              </a:rPr>
              <a:t>负责空间构造、分级表达、质量校验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3872" y="2578608"/>
            <a:ext cx="5230368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沉淀为可迁移能力，后续可服务道路、管线、地下空间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474720"/>
            <a:ext cx="10899648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474720"/>
            <a:ext cx="73152" cy="841248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94176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E8E60"/>
                </a:solidFill>
                <a:latin typeface="Microsoft YaHei"/>
              </a:rPr>
              <a:t>时空数据底座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8608" y="3675887"/>
            <a:ext cx="3017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D3D"/>
                </a:solidFill>
                <a:latin typeface="Microsoft YaHei"/>
              </a:rPr>
              <a:t>负责对象、属性、关系、版本与索引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3639312"/>
            <a:ext cx="5230368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与超融合数据库研发形成衔接，支撑后续查询和分析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535423"/>
            <a:ext cx="10899648" cy="841248"/>
          </a:xfrm>
          <a:prstGeom prst="rect">
            <a:avLst/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535423"/>
            <a:ext cx="73152" cy="841248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54879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B233A"/>
                </a:solidFill>
                <a:latin typeface="Microsoft YaHei"/>
              </a:rPr>
              <a:t>专项应用层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78608" y="4736591"/>
            <a:ext cx="3017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D3D"/>
                </a:solidFill>
                <a:latin typeface="Microsoft YaHei"/>
              </a:rPr>
              <a:t>负责面向业务场景组织成果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3872" y="4700015"/>
            <a:ext cx="5230368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数字孪生专项交付不只是模型展示，还需要数据和流程闭环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715000"/>
            <a:ext cx="10899648" cy="457200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5833872"/>
            <a:ext cx="105156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路线不是选一个最强工具，而是形成“数据底座 + 规则算法 + 三维表达 + 专项应用”的组合能力。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01 /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总体路线：以数据链为主线，把建模结果纳入可追溯的业务对象体系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01952"/>
            <a:ext cx="1627632" cy="347472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源数据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GIS / CAD</a:t>
            </a:r>
            <a:br/>
            <a:r>
              <a:t>业务台账</a:t>
            </a:r>
          </a:p>
        </p:txBody>
      </p:sp>
      <p:sp>
        <p:nvSpPr>
          <p:cNvPr id="12" name="Chevron 11"/>
          <p:cNvSpPr/>
          <p:nvPr/>
        </p:nvSpPr>
        <p:spPr>
          <a:xfrm>
            <a:off x="2084832" y="2633472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59152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59152" y="1901952"/>
            <a:ext cx="1627632" cy="347472"/>
          </a:xfrm>
          <a:prstGeom prst="rect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标准化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坐标 / 编码</a:t>
            </a:r>
            <a:br/>
            <a:r>
              <a:t>分类 / 质量</a:t>
            </a:r>
          </a:p>
        </p:txBody>
      </p:sp>
      <p:sp>
        <p:nvSpPr>
          <p:cNvPr id="17" name="Chevron 16"/>
          <p:cNvSpPr/>
          <p:nvPr/>
        </p:nvSpPr>
        <p:spPr>
          <a:xfrm>
            <a:off x="4032504" y="2633472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06824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06824" y="1901952"/>
            <a:ext cx="1627632" cy="347472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规则层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分级标准</a:t>
            </a:r>
            <a:br/>
            <a:r>
              <a:t>专业约束</a:t>
            </a:r>
          </a:p>
        </p:txBody>
      </p:sp>
      <p:sp>
        <p:nvSpPr>
          <p:cNvPr id="22" name="Chevron 21"/>
          <p:cNvSpPr/>
          <p:nvPr/>
        </p:nvSpPr>
        <p:spPr>
          <a:xfrm>
            <a:off x="5980176" y="2633472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54496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54496" y="1901952"/>
            <a:ext cx="1627632" cy="347472"/>
          </a:xfrm>
          <a:prstGeom prst="rect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模型层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三维表达</a:t>
            </a:r>
            <a:br/>
            <a:r>
              <a:t>空间关系</a:t>
            </a:r>
          </a:p>
        </p:txBody>
      </p:sp>
      <p:sp>
        <p:nvSpPr>
          <p:cNvPr id="27" name="Chevron 26"/>
          <p:cNvSpPr/>
          <p:nvPr/>
        </p:nvSpPr>
        <p:spPr>
          <a:xfrm>
            <a:off x="7927848" y="2633472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02167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02167" y="1901952"/>
            <a:ext cx="1627632" cy="347472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5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语义层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3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对象属性</a:t>
            </a:r>
            <a:br/>
            <a:r>
              <a:t>关系索引</a:t>
            </a:r>
          </a:p>
        </p:txBody>
      </p:sp>
      <p:sp>
        <p:nvSpPr>
          <p:cNvPr id="32" name="Chevron 31"/>
          <p:cNvSpPr/>
          <p:nvPr/>
        </p:nvSpPr>
        <p:spPr>
          <a:xfrm>
            <a:off x="9875519" y="2633472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49839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49839" y="1901952"/>
            <a:ext cx="1627632" cy="347472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59567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应用层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77855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孪生场景</a:t>
            </a:r>
            <a:br/>
            <a:r>
              <a:t>查询分析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407408"/>
            <a:ext cx="51663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73152" cy="1051560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617720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1328" y="4590288"/>
            <a:ext cx="41422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当前阶段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81328" y="5010912"/>
            <a:ext cx="4142232" cy="35661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以 CIM 道路建模为样板，验证数据标准化、空间构造和语义关联能否跑通。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27648" y="4407408"/>
            <a:ext cx="51663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27648" y="4407408"/>
            <a:ext cx="73152" cy="105156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617720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50608" y="4590288"/>
            <a:ext cx="41422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后续阶段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0608" y="5010912"/>
            <a:ext cx="4142232" cy="35661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把样板能力接入超融合数据库与数字孪生专项，支撑更综合的城市基础设施应用。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02 / CURRENT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当前实践：用道路建模验证“规则化生成 + 语义追溯”的可行性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06</a:t>
            </a:r>
          </a:p>
        </p:txBody>
      </p:sp>
      <p:pic>
        <p:nvPicPr>
          <p:cNvPr id="8" name="Picture 7" descr="image8.png"/>
          <p:cNvPicPr>
            <a:picLocks noChangeAspect="1"/>
          </p:cNvPicPr>
          <p:nvPr/>
        </p:nvPicPr>
        <p:blipFill>
          <a:blip r:embed="rId3"/>
          <a:srcRect l="14401" r="14401"/>
          <a:stretch>
            <a:fillRect/>
          </a:stretch>
        </p:blipFill>
        <p:spPr>
          <a:xfrm>
            <a:off x="7086600" y="1353312"/>
            <a:ext cx="4462272" cy="2880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086600" y="3959352"/>
            <a:ext cx="4462272" cy="274320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42048" y="4005072"/>
            <a:ext cx="4114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道路模型只是阶段载体，重点是验证方法链路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1417320"/>
            <a:ext cx="566928" cy="566928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545336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1435608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1435608"/>
            <a:ext cx="35661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E"/>
                </a:solidFill>
                <a:latin typeface="Microsoft YaHei"/>
              </a:rPr>
              <a:t>道路中心线、分类、宽度、断面等基础信息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2423160"/>
            <a:ext cx="566928" cy="566928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551176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441448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032" y="2441448"/>
            <a:ext cx="35661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E"/>
                </a:solidFill>
                <a:latin typeface="Microsoft YaHei"/>
              </a:rPr>
              <a:t>按规则形成不同等级模型，保持对象和属性关系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3429000"/>
            <a:ext cx="566928" cy="566928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557016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447288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输出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3447288"/>
            <a:ext cx="35661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E"/>
                </a:solidFill>
                <a:latin typeface="Microsoft YaHei"/>
              </a:rPr>
              <a:t>三维模型、语义 JSON、单体问题样本</a:t>
            </a:r>
          </a:p>
        </p:txBody>
      </p:sp>
      <p:sp>
        <p:nvSpPr>
          <p:cNvPr id="23" name="Oval 22"/>
          <p:cNvSpPr/>
          <p:nvPr/>
        </p:nvSpPr>
        <p:spPr>
          <a:xfrm>
            <a:off x="713232" y="4434840"/>
            <a:ext cx="566928" cy="566928"/>
          </a:xfrm>
          <a:prstGeom prst="ellipse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562856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4453128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2032" y="4453128"/>
            <a:ext cx="35661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E"/>
                </a:solidFill>
                <a:latin typeface="Microsoft YaHei"/>
              </a:rPr>
              <a:t>把可视化成果和数据资产连接起来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715000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4080"/>
                </a:solidFill>
                <a:latin typeface="Microsoft YaHei"/>
              </a:rPr>
              <a:t>这一页不展开具体算法，强调的是：道路项目提供了一个可观察、可验证、可复盘的技术样板。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03 /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问题一：模型质量问题，本质上往往是数据、规则与空间关系不一致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07</a:t>
            </a:r>
          </a:p>
        </p:txBody>
      </p:sp>
      <p:pic>
        <p:nvPicPr>
          <p:cNvPr id="8" name="Picture 7" descr="image10.png"/>
          <p:cNvPicPr>
            <a:picLocks noChangeAspect="1"/>
          </p:cNvPicPr>
          <p:nvPr/>
        </p:nvPicPr>
        <p:blipFill>
          <a:blip r:embed="rId3"/>
          <a:srcRect l="17363" r="17363"/>
          <a:stretch>
            <a:fillRect/>
          </a:stretch>
        </p:blipFill>
        <p:spPr>
          <a:xfrm>
            <a:off x="658368" y="1353312"/>
            <a:ext cx="4828032" cy="4160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193792"/>
            <a:ext cx="4828032" cy="320040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257800"/>
            <a:ext cx="45262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典型路口：用于观察规则冲突和空间连续性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70448" y="1481328"/>
            <a:ext cx="5623560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70448" y="1481328"/>
            <a:ext cx="73152" cy="941832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691640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1664208"/>
            <a:ext cx="45994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数据侧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084832"/>
            <a:ext cx="45994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不同来源的空间精度、分类字段和属性完备性不一致。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70448" y="2706624"/>
            <a:ext cx="5623560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70448" y="2706624"/>
            <a:ext cx="73152" cy="941832"/>
          </a:xfrm>
          <a:prstGeom prst="rect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916936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F902C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2889504"/>
            <a:ext cx="45994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规则侧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3310128"/>
            <a:ext cx="45994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专业规则需要可配置，不能只写死在某一次项目逻辑里。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70448" y="3931920"/>
            <a:ext cx="5623560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70448" y="3931920"/>
            <a:ext cx="73152" cy="941832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14223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4114800"/>
            <a:ext cx="45994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表达侧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4535424"/>
            <a:ext cx="45994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模型展示、语义查询和业务交付需要使用同一套对象关系。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70448" y="5230368"/>
            <a:ext cx="5623560" cy="512064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5376672"/>
            <a:ext cx="52120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70E0"/>
                </a:solidFill>
                <a:latin typeface="Microsoft YaHei"/>
              </a:rPr>
              <a:t>思考：解决问题不能只停在“修模型”，要回到数据标准、规则表达和对象关系。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03 /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问题二：专项交付需要从“结果文件”走向“可持续维护的数据资产”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3273552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10512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B233A"/>
                </a:solidFill>
                <a:latin typeface="Microsoft YaHei"/>
              </a:rPr>
              <a:t>一次性交付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39" y="1737360"/>
            <a:ext cx="1664208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5B6B7E"/>
                </a:solidFill>
                <a:latin typeface="Microsoft YaHei"/>
              </a:rPr>
              <a:t>只关注模型文件是否能打开，后续难以追踪、复用和增量更新。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72768"/>
            <a:ext cx="3273552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810512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F902C"/>
                </a:solidFill>
                <a:latin typeface="Microsoft YaHei"/>
              </a:rPr>
              <a:t>数据孤岛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5272" y="1737360"/>
            <a:ext cx="1664208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5B6B7E"/>
                </a:solidFill>
                <a:latin typeface="Microsoft YaHei"/>
              </a:rPr>
              <a:t>模型、表格、GIS、业务系统之间缺少统一对象和索引。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572768"/>
            <a:ext cx="3273552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810512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F902C"/>
                </a:solidFill>
                <a:latin typeface="Microsoft YaHei"/>
              </a:rPr>
              <a:t>应用割裂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0304" y="1737360"/>
            <a:ext cx="1664208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5B6B7E"/>
                </a:solidFill>
                <a:latin typeface="Microsoft YaHei"/>
              </a:rPr>
              <a:t>可视化展示、检索分析、业务汇报各做一套，维护成本高。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328416"/>
            <a:ext cx="2377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70E0"/>
                </a:solidFill>
                <a:latin typeface="Microsoft YaHei"/>
              </a:rPr>
              <a:t>转向数据资产的四个抓手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3785615"/>
            <a:ext cx="493776" cy="493776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886200"/>
            <a:ext cx="493776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3767328"/>
            <a:ext cx="126187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D3D"/>
                </a:solidFill>
                <a:latin typeface="Microsoft YaHei"/>
              </a:rPr>
              <a:t>统一编码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187952"/>
            <a:ext cx="166420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5B6B7E"/>
                </a:solidFill>
                <a:latin typeface="Microsoft YaHei"/>
              </a:rPr>
              <a:t>设施对象有稳定 ID</a:t>
            </a:r>
          </a:p>
        </p:txBody>
      </p:sp>
      <p:sp>
        <p:nvSpPr>
          <p:cNvPr id="22" name="Oval 21"/>
          <p:cNvSpPr/>
          <p:nvPr/>
        </p:nvSpPr>
        <p:spPr>
          <a:xfrm>
            <a:off x="3456432" y="3785615"/>
            <a:ext cx="493776" cy="493776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56432" y="3886200"/>
            <a:ext cx="493776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767328"/>
            <a:ext cx="126187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D3D"/>
                </a:solidFill>
                <a:latin typeface="Microsoft YaHei"/>
              </a:rPr>
              <a:t>统一索引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187952"/>
            <a:ext cx="166420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5B6B7E"/>
                </a:solidFill>
                <a:latin typeface="Microsoft YaHei"/>
              </a:rPr>
              <a:t>空间、时间、属性可检索</a:t>
            </a:r>
          </a:p>
        </p:txBody>
      </p:sp>
      <p:sp>
        <p:nvSpPr>
          <p:cNvPr id="26" name="Oval 25"/>
          <p:cNvSpPr/>
          <p:nvPr/>
        </p:nvSpPr>
        <p:spPr>
          <a:xfrm>
            <a:off x="6254496" y="3785615"/>
            <a:ext cx="493776" cy="493776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3886200"/>
            <a:ext cx="493776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767328"/>
            <a:ext cx="126187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D3D"/>
                </a:solidFill>
                <a:latin typeface="Microsoft YaHei"/>
              </a:rPr>
              <a:t>统一版本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4187952"/>
            <a:ext cx="166420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5B6B7E"/>
                </a:solidFill>
                <a:latin typeface="Microsoft YaHei"/>
              </a:rPr>
              <a:t>成果更新可追踪</a:t>
            </a:r>
          </a:p>
        </p:txBody>
      </p:sp>
      <p:sp>
        <p:nvSpPr>
          <p:cNvPr id="30" name="Oval 29"/>
          <p:cNvSpPr/>
          <p:nvPr/>
        </p:nvSpPr>
        <p:spPr>
          <a:xfrm>
            <a:off x="9052560" y="3785615"/>
            <a:ext cx="493776" cy="493776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3886200"/>
            <a:ext cx="493776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3767328"/>
            <a:ext cx="126187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D3D"/>
                </a:solidFill>
                <a:latin typeface="Microsoft YaHei"/>
              </a:rPr>
              <a:t>统一接口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0928" y="4187952"/>
            <a:ext cx="166420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5B6B7E"/>
                </a:solidFill>
                <a:latin typeface="Microsoft YaHei"/>
              </a:rPr>
              <a:t>建模、孪生、业务系统可共享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394960"/>
            <a:ext cx="10899648" cy="493776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532120"/>
            <a:ext cx="104698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这也是超融合数据库研发需要承接的问题：让模型成果成为可查询、可关联、可更新的数据。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04 / NEXT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面向超融合数据库：建模成果要能进入统一的时空数据组织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09</a:t>
            </a:r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3"/>
          <a:srcRect l="18375" r="18375"/>
          <a:stretch>
            <a:fillRect/>
          </a:stretch>
        </p:blipFill>
        <p:spPr>
          <a:xfrm>
            <a:off x="658368" y="1353312"/>
            <a:ext cx="4709160" cy="41879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230368"/>
            <a:ext cx="4709160" cy="310896"/>
          </a:xfrm>
          <a:prstGeom prst="rect">
            <a:avLst/>
          </a:prstGeom>
          <a:solidFill>
            <a:srgbClr val="0C1824"/>
          </a:solidFill>
          <a:ln>
            <a:solidFill>
              <a:srgbClr val="0C1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285232"/>
            <a:ext cx="43891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城市级对象网络：空间对象、属性与关系需要统一组织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79008" y="1389888"/>
            <a:ext cx="54681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79008" y="1389888"/>
            <a:ext cx="73152" cy="868680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600200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1572768"/>
            <a:ext cx="4443984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对象层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993392"/>
            <a:ext cx="4443984" cy="1737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道路、隧道、管线、站点、设施等对象统一编码。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79008" y="2468880"/>
            <a:ext cx="54681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79008" y="2468880"/>
            <a:ext cx="73152" cy="868680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67919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8E60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651760"/>
            <a:ext cx="4443984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关系层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072384"/>
            <a:ext cx="4443984" cy="1737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空间邻接、上下游、穿越、权属、时间版本等关系可表达。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79008" y="3547872"/>
            <a:ext cx="54681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79008" y="3547872"/>
            <a:ext cx="73152" cy="86868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758184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730752"/>
            <a:ext cx="4443984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服务层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4151376"/>
            <a:ext cx="4443984" cy="1737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支撑检索、统计、可视化、分析和数字孪生应用。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79008" y="4983480"/>
            <a:ext cx="5468112" cy="530352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5138928"/>
            <a:ext cx="50749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04080"/>
                </a:solidFill>
                <a:latin typeface="Microsoft YaHei"/>
              </a:rPr>
              <a:t>关键不是“数据库里存一个模型文件”，而是存对象、关系、索引和可持续更新机制。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04 / NEXT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面向数字孪生专项：交付要从可视化场景走向业务闭环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1078992" y="1481328"/>
            <a:ext cx="713232" cy="713232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645920"/>
            <a:ext cx="7132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6276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现状表达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980944"/>
            <a:ext cx="1792224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基础设施对象</a:t>
            </a:r>
            <a:br/>
            <a:r>
              <a:t>三维可视化</a:t>
            </a:r>
          </a:p>
        </p:txBody>
      </p:sp>
      <p:sp>
        <p:nvSpPr>
          <p:cNvPr id="12" name="Chevron 11"/>
          <p:cNvSpPr/>
          <p:nvPr/>
        </p:nvSpPr>
        <p:spPr>
          <a:xfrm>
            <a:off x="2286000" y="1618488"/>
            <a:ext cx="292608" cy="438912"/>
          </a:xfrm>
          <a:prstGeom prst="chevron">
            <a:avLst/>
          </a:prstGeom>
          <a:solidFill>
            <a:srgbClr val="BCD3E6"/>
          </a:solidFill>
          <a:ln>
            <a:solidFill>
              <a:srgbClr val="BC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92424" y="1481328"/>
            <a:ext cx="713232" cy="713232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2424" y="1645920"/>
            <a:ext cx="7132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1" y="2487168"/>
            <a:ext cx="16276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数据融合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980944"/>
            <a:ext cx="1792224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时空数据</a:t>
            </a:r>
            <a:br/>
            <a:r>
              <a:t>业务数据</a:t>
            </a:r>
          </a:p>
        </p:txBody>
      </p:sp>
      <p:sp>
        <p:nvSpPr>
          <p:cNvPr id="17" name="Chevron 16"/>
          <p:cNvSpPr/>
          <p:nvPr/>
        </p:nvSpPr>
        <p:spPr>
          <a:xfrm>
            <a:off x="4599431" y="1618488"/>
            <a:ext cx="292608" cy="438912"/>
          </a:xfrm>
          <a:prstGeom prst="chevron">
            <a:avLst/>
          </a:prstGeom>
          <a:solidFill>
            <a:srgbClr val="BCD3E6"/>
          </a:solidFill>
          <a:ln>
            <a:solidFill>
              <a:srgbClr val="BC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05855" y="1481328"/>
            <a:ext cx="713232" cy="713232"/>
          </a:xfrm>
          <a:prstGeom prst="ellipse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05855" y="1645920"/>
            <a:ext cx="7132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2487168"/>
            <a:ext cx="16276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关系理解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980944"/>
            <a:ext cx="1792224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空间关系</a:t>
            </a:r>
            <a:br/>
            <a:r>
              <a:t>运行约束</a:t>
            </a:r>
          </a:p>
        </p:txBody>
      </p:sp>
      <p:sp>
        <p:nvSpPr>
          <p:cNvPr id="22" name="Chevron 21"/>
          <p:cNvSpPr/>
          <p:nvPr/>
        </p:nvSpPr>
        <p:spPr>
          <a:xfrm>
            <a:off x="6912864" y="1618488"/>
            <a:ext cx="292608" cy="438912"/>
          </a:xfrm>
          <a:prstGeom prst="chevron">
            <a:avLst/>
          </a:prstGeom>
          <a:solidFill>
            <a:srgbClr val="BCD3E6"/>
          </a:solidFill>
          <a:ln>
            <a:solidFill>
              <a:srgbClr val="BC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19288" y="1481328"/>
            <a:ext cx="713232" cy="713232"/>
          </a:xfrm>
          <a:prstGeom prst="ellipse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9288" y="1645920"/>
            <a:ext cx="7132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375" y="2487168"/>
            <a:ext cx="16276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场景应用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2980944"/>
            <a:ext cx="1792224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查询统计</a:t>
            </a:r>
            <a:br/>
            <a:r>
              <a:t>研判模拟</a:t>
            </a:r>
          </a:p>
        </p:txBody>
      </p:sp>
      <p:sp>
        <p:nvSpPr>
          <p:cNvPr id="27" name="Chevron 26"/>
          <p:cNvSpPr/>
          <p:nvPr/>
        </p:nvSpPr>
        <p:spPr>
          <a:xfrm>
            <a:off x="9226296" y="1618488"/>
            <a:ext cx="292608" cy="438912"/>
          </a:xfrm>
          <a:prstGeom prst="chevron">
            <a:avLst/>
          </a:prstGeom>
          <a:solidFill>
            <a:srgbClr val="BCD3E6"/>
          </a:solidFill>
          <a:ln>
            <a:solidFill>
              <a:srgbClr val="BC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19" y="1481328"/>
            <a:ext cx="713232" cy="713232"/>
          </a:xfrm>
          <a:prstGeom prst="ellipse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19" y="1645920"/>
            <a:ext cx="7132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7" y="2487168"/>
            <a:ext cx="16276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反馈更新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0655" y="2980944"/>
            <a:ext cx="1792224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问题回流</a:t>
            </a:r>
            <a:br/>
            <a:r>
              <a:t>版本迭代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370832"/>
            <a:ext cx="51663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370832"/>
            <a:ext cx="73152" cy="1024128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581144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4553712"/>
            <a:ext cx="41422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当前能提供的支撑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4974336"/>
            <a:ext cx="4142232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自动建模、对象语义、空间关系和可视化检查方法。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27648" y="4370832"/>
            <a:ext cx="51663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27648" y="4370832"/>
            <a:ext cx="73152" cy="1024128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581144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0608" y="4553712"/>
            <a:ext cx="41422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后续需要补齐的能力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0608" y="4974336"/>
            <a:ext cx="4142232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数据更新机制、业务指标体系、AI 辅助理解与专题应用模板。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05 /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方法复用：道路只是样板，后续要服务多类城市基础设施对象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664208" cy="676656"/>
          </a:xfrm>
          <a:prstGeom prst="roundRect">
            <a:avLst>
              <a:gd name="adj" fmla="val 8000"/>
            </a:avLst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14447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对象抽象</a:t>
            </a:r>
          </a:p>
        </p:txBody>
      </p:sp>
      <p:sp>
        <p:nvSpPr>
          <p:cNvPr id="10" name="Chevron 9"/>
          <p:cNvSpPr/>
          <p:nvPr/>
        </p:nvSpPr>
        <p:spPr>
          <a:xfrm>
            <a:off x="2377439" y="1755648"/>
            <a:ext cx="310896" cy="402336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1627632"/>
            <a:ext cx="1664208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1828800"/>
            <a:ext cx="14447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2D3D"/>
                </a:solidFill>
                <a:latin typeface="Microsoft YaHei"/>
              </a:rPr>
              <a:t>数据标准</a:t>
            </a:r>
          </a:p>
        </p:txBody>
      </p:sp>
      <p:sp>
        <p:nvSpPr>
          <p:cNvPr id="13" name="Chevron 12"/>
          <p:cNvSpPr/>
          <p:nvPr/>
        </p:nvSpPr>
        <p:spPr>
          <a:xfrm>
            <a:off x="4663440" y="1755648"/>
            <a:ext cx="310896" cy="402336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12080" y="1627632"/>
            <a:ext cx="1664208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1808" y="1828800"/>
            <a:ext cx="14447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2D3D"/>
                </a:solidFill>
                <a:latin typeface="Microsoft YaHei"/>
              </a:rPr>
              <a:t>规则配置</a:t>
            </a:r>
          </a:p>
        </p:txBody>
      </p:sp>
      <p:sp>
        <p:nvSpPr>
          <p:cNvPr id="16" name="Chevron 15"/>
          <p:cNvSpPr/>
          <p:nvPr/>
        </p:nvSpPr>
        <p:spPr>
          <a:xfrm>
            <a:off x="6949440" y="1755648"/>
            <a:ext cx="310896" cy="402336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79" y="1627632"/>
            <a:ext cx="1664208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7807" y="1828800"/>
            <a:ext cx="14447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2D3D"/>
                </a:solidFill>
                <a:latin typeface="Microsoft YaHei"/>
              </a:rPr>
              <a:t>模型表达</a:t>
            </a:r>
          </a:p>
        </p:txBody>
      </p:sp>
      <p:sp>
        <p:nvSpPr>
          <p:cNvPr id="19" name="Chevron 18"/>
          <p:cNvSpPr/>
          <p:nvPr/>
        </p:nvSpPr>
        <p:spPr>
          <a:xfrm>
            <a:off x="9235440" y="1755648"/>
            <a:ext cx="310896" cy="402336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84080" y="1627632"/>
            <a:ext cx="1664208" cy="676656"/>
          </a:xfrm>
          <a:prstGeom prst="roundRect">
            <a:avLst>
              <a:gd name="adj" fmla="val 8000"/>
            </a:avLst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93807" y="1828800"/>
            <a:ext cx="14447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应用交付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926080"/>
            <a:ext cx="51937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2926080"/>
            <a:ext cx="73152" cy="960120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13639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108960"/>
            <a:ext cx="4169663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道路 / 交通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3529584"/>
            <a:ext cx="4169663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验证空间连续、分级表达与对象追溯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2926080"/>
            <a:ext cx="51937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81928" y="2926080"/>
            <a:ext cx="73152" cy="960120"/>
          </a:xfrm>
          <a:prstGeom prst="rect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13639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F902C"/>
                </a:solidFill>
                <a:latin typeface="Microsoft YaHe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4888" y="3108960"/>
            <a:ext cx="4169663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轨道 / 地下空间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88" y="3529584"/>
            <a:ext cx="4169663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扩展到区间、站点、构件和空间关系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160520"/>
            <a:ext cx="51937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160520"/>
            <a:ext cx="73152" cy="960120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37083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8E60"/>
                </a:solidFill>
                <a:latin typeface="Microsoft YaHe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4343400"/>
            <a:ext cx="4169663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地下管线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4764024"/>
            <a:ext cx="4169663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关注管径、埋深、节点、碰撞与权属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1928" y="4160520"/>
            <a:ext cx="51937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81928" y="4160520"/>
            <a:ext cx="73152" cy="96012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37083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4888" y="4343400"/>
            <a:ext cx="4169663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城市孪生专题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04888" y="4764024"/>
            <a:ext cx="4169663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把基础设施对象接入场景、指标和应用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687568"/>
            <a:ext cx="1089964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4080"/>
                </a:solidFill>
                <a:latin typeface="Microsoft YaHei"/>
              </a:rPr>
              <a:t>可复用的是“对象化、规则化、语义化”的方法；需要持续补充的是不同专业自己的规则和业务场景。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05 /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下一阶段：围绕三条主线，把阶段成果变成长期能力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57150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71600"/>
            <a:ext cx="73152" cy="987552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554480"/>
            <a:ext cx="469087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自动化建模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975104"/>
            <a:ext cx="46908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继续完善道路、轨道、地下空间等对象生成方法，减少项目间重复建设。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606040"/>
            <a:ext cx="57150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606040"/>
            <a:ext cx="73152" cy="987552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1635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8E60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788920"/>
            <a:ext cx="469087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超融合数据库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209544"/>
            <a:ext cx="46908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围绕多模态时空数据，沉淀统一对象、索引、关系和版本管理能力。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840480"/>
            <a:ext cx="57150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840480"/>
            <a:ext cx="73152" cy="987552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5079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023360"/>
            <a:ext cx="469087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数字孪生专项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443984"/>
            <a:ext cx="46908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面向专题交付，形成场景模板、指标体系和 AI 辅助理解能力。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11696" y="1371600"/>
            <a:ext cx="4846320" cy="3511296"/>
          </a:xfrm>
          <a:prstGeom prst="roundRect">
            <a:avLst>
              <a:gd name="adj" fmla="val 8000"/>
            </a:avLst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9168" y="1700784"/>
            <a:ext cx="4151376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2026 下半年关注</a:t>
            </a:r>
          </a:p>
        </p:txBody>
      </p:sp>
      <p:sp>
        <p:nvSpPr>
          <p:cNvPr id="25" name="Oval 24"/>
          <p:cNvSpPr/>
          <p:nvPr/>
        </p:nvSpPr>
        <p:spPr>
          <a:xfrm>
            <a:off x="7068312" y="2359152"/>
            <a:ext cx="256032" cy="256032"/>
          </a:xfrm>
          <a:prstGeom prst="ellipse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68312" y="2404872"/>
            <a:ext cx="256032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2340864"/>
            <a:ext cx="361188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FFFFFF"/>
                </a:solidFill>
                <a:latin typeface="Microsoft YaHei"/>
              </a:rPr>
              <a:t>完成自动化建模专题的稳定交付与经验沉淀</a:t>
            </a:r>
          </a:p>
        </p:txBody>
      </p:sp>
      <p:sp>
        <p:nvSpPr>
          <p:cNvPr id="28" name="Oval 27"/>
          <p:cNvSpPr/>
          <p:nvPr/>
        </p:nvSpPr>
        <p:spPr>
          <a:xfrm>
            <a:off x="7068312" y="2889504"/>
            <a:ext cx="256032" cy="256032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68312" y="2935224"/>
            <a:ext cx="256032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2871216"/>
            <a:ext cx="361188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FFFFFF"/>
                </a:solidFill>
                <a:latin typeface="Microsoft YaHei"/>
              </a:rPr>
              <a:t>参与超融合数据库研发，推动模型对象进入数据底座</a:t>
            </a:r>
          </a:p>
        </p:txBody>
      </p:sp>
      <p:sp>
        <p:nvSpPr>
          <p:cNvPr id="31" name="Oval 30"/>
          <p:cNvSpPr/>
          <p:nvPr/>
        </p:nvSpPr>
        <p:spPr>
          <a:xfrm>
            <a:off x="7068312" y="3419856"/>
            <a:ext cx="256032" cy="256032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68312" y="3465576"/>
            <a:ext cx="256032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8" y="3401568"/>
            <a:ext cx="361188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FFFFFF"/>
                </a:solidFill>
                <a:latin typeface="Microsoft YaHei"/>
              </a:rPr>
              <a:t>支撑数字孪生专项课题交付，形成可展示、可查询、可分析成果</a:t>
            </a:r>
          </a:p>
        </p:txBody>
      </p:sp>
      <p:sp>
        <p:nvSpPr>
          <p:cNvPr id="34" name="Oval 33"/>
          <p:cNvSpPr/>
          <p:nvPr/>
        </p:nvSpPr>
        <p:spPr>
          <a:xfrm>
            <a:off x="7068312" y="3950208"/>
            <a:ext cx="256032" cy="256032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68312" y="3995928"/>
            <a:ext cx="256032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6368" y="3931920"/>
            <a:ext cx="361188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FFFFFF"/>
                </a:solidFill>
                <a:latin typeface="Microsoft YaHei"/>
              </a:rPr>
              <a:t>沉淀论文、专利和技术资料，形成可复用资产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11696" y="5157216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94576" y="5266944"/>
            <a:ext cx="4498848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4080"/>
                </a:solidFill>
                <a:latin typeface="Microsoft YaHei"/>
              </a:rPr>
              <a:t>最重要的沉淀不是某个项目文件，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94576" y="5504688"/>
            <a:ext cx="4498848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4080"/>
                </a:solidFill>
                <a:latin typeface="Microsoft YaHei"/>
              </a:rPr>
              <a:t>而是一套能迁移到多个专项的技术方法。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从阶段成果走向长期能力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08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1.png"/>
          <p:cNvPicPr>
            <a:picLocks noChangeAspect="1"/>
          </p:cNvPicPr>
          <p:nvPr/>
        </p:nvPicPr>
        <p:blipFill>
          <a:blip r:embed="rId2"/>
          <a:srcRect l="12779" r="1277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38528"/>
            <a:ext cx="2926080" cy="713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761488"/>
            <a:ext cx="21945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EE1FF"/>
                </a:solidFill>
                <a:latin typeface="Microsoft YaHe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310128"/>
            <a:ext cx="475488" cy="4572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694176"/>
            <a:ext cx="5669280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让建模成果成为可复用的数据能力，</a:t>
            </a:r>
            <a:br/>
            <a:r>
              <a:t>支撑更多城市数字孪生专项。</a:t>
            </a:r>
          </a:p>
        </p:txBody>
      </p:sp>
      <p:pic>
        <p:nvPicPr>
          <p:cNvPr id="8" name="Picture 7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6144768"/>
            <a:ext cx="2084831" cy="1853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