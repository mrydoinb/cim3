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08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rcRect l="10001" r="1000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080"/>
          </a:solidFill>
          <a:ln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413248"/>
            <a:ext cx="7863840" cy="1444752"/>
          </a:xfrm>
          <a:prstGeom prst="rect">
            <a:avLst/>
          </a:prstGeom>
          <a:solidFill>
            <a:srgbClr val="004A96"/>
          </a:solidFill>
          <a:ln>
            <a:solidFill>
              <a:srgbClr val="004A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932688"/>
            <a:ext cx="109728" cy="3246120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024128"/>
            <a:ext cx="8046720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BCE1FF"/>
                </a:solidFill>
                <a:latin typeface="Microsoft YaHei"/>
              </a:rPr>
              <a:t>城市基础设施数字化建模与时空数据融合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27632"/>
            <a:ext cx="8046720" cy="8412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</a:rPr>
              <a:t>技术路线与阶段进展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889504"/>
            <a:ext cx="850392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FFFFFF"/>
                </a:solidFill>
                <a:latin typeface="Microsoft YaHei"/>
              </a:rPr>
              <a:t>面向超融合数据库与数字孪生专项的共性技术能力建设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5687568"/>
            <a:ext cx="29260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汇报人：曹宏坤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6089904"/>
            <a:ext cx="2011680" cy="23774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C3E1FA"/>
                </a:solidFill>
                <a:latin typeface="Microsoft YaHei"/>
              </a:rPr>
              <a:t>2026.06.23</a:t>
            </a:r>
          </a:p>
        </p:txBody>
      </p:sp>
      <p:pic>
        <p:nvPicPr>
          <p:cNvPr id="11" name="Picture 10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776" y="6153912"/>
            <a:ext cx="2011680" cy="1788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REPORT FOCUS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汇报重点：围绕总体目标、关键问题与后续重点工作展开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444752"/>
            <a:ext cx="3310128" cy="4151376"/>
          </a:xfrm>
          <a:prstGeom prst="roundRect">
            <a:avLst>
              <a:gd name="adj" fmla="val 8000"/>
            </a:avLst>
          </a:prstGeom>
          <a:solidFill>
            <a:srgbClr val="EEF7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9264" y="1792224"/>
            <a:ext cx="658368" cy="658368"/>
          </a:xfrm>
          <a:prstGeom prst="ellipse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947672"/>
            <a:ext cx="658368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78407" y="2688336"/>
            <a:ext cx="2651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2D3D"/>
                </a:solidFill>
                <a:latin typeface="Microsoft YaHei"/>
              </a:rPr>
              <a:t>总体路线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3328416"/>
            <a:ext cx="2670048" cy="11887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0" b="0">
                <a:solidFill>
                  <a:srgbClr val="5B6B7E"/>
                </a:solidFill>
                <a:latin typeface="Microsoft YaHei"/>
              </a:rPr>
              <a:t>构建数据治理、规则表达、</a:t>
            </a:r>
            <a:br/>
            <a:r>
              <a:t>空间建模与应用服务链条。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78407" y="4992624"/>
            <a:ext cx="2377441" cy="0"/>
          </a:xfrm>
          <a:prstGeom prst="line">
            <a:avLst/>
          </a:prstGeom>
          <a:ln w="25400">
            <a:solidFill>
              <a:srgbClr val="007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453128" y="1444752"/>
            <a:ext cx="3310128" cy="4151376"/>
          </a:xfrm>
          <a:prstGeom prst="roundRect">
            <a:avLst>
              <a:gd name="adj" fmla="val 8000"/>
            </a:avLst>
          </a:prstGeom>
          <a:solidFill>
            <a:srgbClr val="E8F4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764024" y="1792224"/>
            <a:ext cx="658368" cy="658368"/>
          </a:xfrm>
          <a:prstGeom prst="ellipse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64024" y="1947672"/>
            <a:ext cx="658368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73168" y="2688336"/>
            <a:ext cx="2651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2D3D"/>
                </a:solidFill>
                <a:latin typeface="Microsoft YaHei"/>
              </a:rPr>
              <a:t>关键问题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3328416"/>
            <a:ext cx="2670048" cy="11887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0" b="0">
                <a:solidFill>
                  <a:srgbClr val="5B6B7E"/>
                </a:solidFill>
                <a:latin typeface="Microsoft YaHei"/>
              </a:rPr>
              <a:t>聚焦数据一致性、对象化建模、</a:t>
            </a:r>
            <a:br/>
            <a:r>
              <a:t>空间关系与数据资产维护。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773168" y="4992624"/>
            <a:ext cx="2377440" cy="0"/>
          </a:xfrm>
          <a:prstGeom prst="line">
            <a:avLst/>
          </a:prstGeom>
          <a:ln w="25400">
            <a:solidFill>
              <a:srgbClr val="EB23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247888" y="1444752"/>
            <a:ext cx="3310128" cy="4151376"/>
          </a:xfrm>
          <a:prstGeom prst="roundRect">
            <a:avLst>
              <a:gd name="adj" fmla="val 8000"/>
            </a:avLst>
          </a:prstGeom>
          <a:solidFill>
            <a:srgbClr val="EEF7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58784" y="1792224"/>
            <a:ext cx="658368" cy="658368"/>
          </a:xfrm>
          <a:prstGeom prst="ellipse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58784" y="1947672"/>
            <a:ext cx="658368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67928" y="2688336"/>
            <a:ext cx="2651760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F2D3D"/>
                </a:solidFill>
                <a:latin typeface="Microsoft YaHei"/>
              </a:rPr>
              <a:t>应用支撑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67928" y="3328416"/>
            <a:ext cx="2670048" cy="11887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20" b="0">
                <a:solidFill>
                  <a:srgbClr val="5B6B7E"/>
                </a:solidFill>
                <a:latin typeface="Microsoft YaHei"/>
              </a:rPr>
              <a:t>支撑超融合数据库、数字孪生专项</a:t>
            </a:r>
            <a:br/>
            <a:r>
              <a:t>及多类基础设施建模。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567928" y="4992624"/>
            <a:ext cx="2377440" cy="0"/>
          </a:xfrm>
          <a:prstGeom prst="line">
            <a:avLst/>
          </a:prstGeom>
          <a:ln w="25400">
            <a:solidFill>
              <a:srgbClr val="0070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技术路线 · 问题意识 · 能力沉淀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01 /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阶段定位：以典型场景形成共性技术，支撑城市数字底座建设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01952"/>
            <a:ext cx="1901952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901952"/>
            <a:ext cx="1901952" cy="365760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7512" y="2523744"/>
            <a:ext cx="157276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数据接入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" y="2999232"/>
            <a:ext cx="1572768" cy="6035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80" b="0">
                <a:solidFill>
                  <a:srgbClr val="5B6B7E"/>
                </a:solidFill>
                <a:latin typeface="Microsoft YaHei"/>
              </a:rPr>
              <a:t>GIS / CAD / 业务表</a:t>
            </a:r>
            <a:br/>
            <a:r>
              <a:t>多源异构数据治理</a:t>
            </a:r>
          </a:p>
        </p:txBody>
      </p:sp>
      <p:sp>
        <p:nvSpPr>
          <p:cNvPr id="12" name="Chevron 11"/>
          <p:cNvSpPr/>
          <p:nvPr/>
        </p:nvSpPr>
        <p:spPr>
          <a:xfrm>
            <a:off x="2468880" y="2670048"/>
            <a:ext cx="256032" cy="438912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807208" y="1901952"/>
            <a:ext cx="1901952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807208" y="1901952"/>
            <a:ext cx="1901952" cy="365760"/>
          </a:xfrm>
          <a:prstGeom prst="rect">
            <a:avLst/>
          </a:prstGeom>
          <a:solidFill>
            <a:srgbClr val="24B4E1"/>
          </a:solidFill>
          <a:ln>
            <a:solidFill>
              <a:srgbClr val="24B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2523744"/>
            <a:ext cx="157276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规则表达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999232"/>
            <a:ext cx="1572768" cy="6035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80" b="0">
                <a:solidFill>
                  <a:srgbClr val="5B6B7E"/>
                </a:solidFill>
                <a:latin typeface="Microsoft YaHei"/>
              </a:rPr>
              <a:t>专业规则与分级标准</a:t>
            </a:r>
            <a:br/>
            <a:r>
              <a:t>参数化组织</a:t>
            </a:r>
          </a:p>
        </p:txBody>
      </p:sp>
      <p:sp>
        <p:nvSpPr>
          <p:cNvPr id="17" name="Chevron 16"/>
          <p:cNvSpPr/>
          <p:nvPr/>
        </p:nvSpPr>
        <p:spPr>
          <a:xfrm>
            <a:off x="4773168" y="2670048"/>
            <a:ext cx="256032" cy="438912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111496" y="1901952"/>
            <a:ext cx="1901952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111496" y="1901952"/>
            <a:ext cx="1901952" cy="365760"/>
          </a:xfrm>
          <a:prstGeom prst="rect">
            <a:avLst/>
          </a:prstGeom>
          <a:solidFill>
            <a:srgbClr val="EF902C"/>
          </a:solidFill>
          <a:ln>
            <a:solidFill>
              <a:srgbClr val="EF9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76088" y="2523744"/>
            <a:ext cx="157276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空间建模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2999232"/>
            <a:ext cx="1572768" cy="6035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80" b="0">
                <a:solidFill>
                  <a:srgbClr val="5B6B7E"/>
                </a:solidFill>
                <a:latin typeface="Microsoft YaHei"/>
              </a:rPr>
              <a:t>道路、隧道、管线</a:t>
            </a:r>
            <a:br/>
            <a:r>
              <a:t>三维对象表达</a:t>
            </a:r>
          </a:p>
        </p:txBody>
      </p:sp>
      <p:sp>
        <p:nvSpPr>
          <p:cNvPr id="22" name="Chevron 21"/>
          <p:cNvSpPr/>
          <p:nvPr/>
        </p:nvSpPr>
        <p:spPr>
          <a:xfrm>
            <a:off x="7077456" y="2670048"/>
            <a:ext cx="256032" cy="438912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415784" y="1901952"/>
            <a:ext cx="1901952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15784" y="1901952"/>
            <a:ext cx="1901952" cy="365760"/>
          </a:xfrm>
          <a:prstGeom prst="rect">
            <a:avLst/>
          </a:prstGeom>
          <a:solidFill>
            <a:srgbClr val="2E8E60"/>
          </a:solidFill>
          <a:ln>
            <a:solidFill>
              <a:srgbClr val="2E8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0376" y="2523744"/>
            <a:ext cx="157276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语义关联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80376" y="2999232"/>
            <a:ext cx="1572768" cy="6035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80" b="0">
                <a:solidFill>
                  <a:srgbClr val="5B6B7E"/>
                </a:solidFill>
                <a:latin typeface="Microsoft YaHei"/>
              </a:rPr>
              <a:t>对象、属性、关系</a:t>
            </a:r>
            <a:br/>
            <a:r>
              <a:t>全过程可追溯</a:t>
            </a:r>
          </a:p>
        </p:txBody>
      </p:sp>
      <p:sp>
        <p:nvSpPr>
          <p:cNvPr id="27" name="Chevron 26"/>
          <p:cNvSpPr/>
          <p:nvPr/>
        </p:nvSpPr>
        <p:spPr>
          <a:xfrm>
            <a:off x="9381744" y="2670048"/>
            <a:ext cx="256032" cy="438912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720072" y="1901952"/>
            <a:ext cx="1901952" cy="19933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20072" y="1901952"/>
            <a:ext cx="1901952" cy="365760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84664" y="2523744"/>
            <a:ext cx="157276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应用支撑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84664" y="2999232"/>
            <a:ext cx="1572768" cy="60350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80" b="0">
                <a:solidFill>
                  <a:srgbClr val="5B6B7E"/>
                </a:solidFill>
                <a:latin typeface="Microsoft YaHei"/>
              </a:rPr>
              <a:t>超融合数据库</a:t>
            </a:r>
            <a:br/>
            <a:r>
              <a:t>数字孪生专项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919472"/>
            <a:ext cx="10899648" cy="585216"/>
          </a:xfrm>
          <a:prstGeom prst="roundRect">
            <a:avLst>
              <a:gd name="adj" fmla="val 8000"/>
            </a:avLst>
          </a:prstGeom>
          <a:solidFill>
            <a:srgbClr val="EEF7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8" y="5074920"/>
            <a:ext cx="1051560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4080"/>
                </a:solidFill>
                <a:latin typeface="Microsoft YaHei"/>
              </a:rPr>
              <a:t>核心目标：形成多源数据到数字对象的规范化转换能力，实现对象可解释、关系可查询、数据资产可持续演进。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技术路线 · 问题意识 · 能力沉淀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01 /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技术体系：平台、算法与数据底座协同，形成可持续演进架构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353312"/>
            <a:ext cx="10899648" cy="841248"/>
          </a:xfrm>
          <a:prstGeom prst="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353312"/>
            <a:ext cx="73152" cy="841248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72768"/>
            <a:ext cx="1417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70E0"/>
                </a:solidFill>
                <a:latin typeface="Microsoft YaHei"/>
              </a:rPr>
              <a:t>三维表达平台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8608" y="1554480"/>
            <a:ext cx="30175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2D3D"/>
                </a:solidFill>
                <a:latin typeface="Microsoft YaHei"/>
              </a:rPr>
              <a:t>承担场景组织、三维表达与交互展示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33872" y="1517904"/>
            <a:ext cx="5230368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定位为对象表达与空间关系呈现层，支撑专题应用拓展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2414015"/>
            <a:ext cx="10899648" cy="841248"/>
          </a:xfrm>
          <a:prstGeom prst="rect">
            <a:avLst/>
          </a:prstGeom>
          <a:solidFill>
            <a:srgbClr val="EEF7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414015"/>
            <a:ext cx="73152" cy="841248"/>
          </a:xfrm>
          <a:prstGeom prst="rect">
            <a:avLst/>
          </a:prstGeom>
          <a:solidFill>
            <a:srgbClr val="EF902C"/>
          </a:solidFill>
          <a:ln>
            <a:solidFill>
              <a:srgbClr val="EF9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633472"/>
            <a:ext cx="1417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F902C"/>
                </a:solidFill>
                <a:latin typeface="Microsoft YaHei"/>
              </a:rPr>
              <a:t>空间建模算法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2615184"/>
            <a:ext cx="30175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2D3D"/>
                </a:solidFill>
                <a:latin typeface="Microsoft YaHei"/>
              </a:rPr>
              <a:t>承担空间构造、分级表达与质量控制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33872" y="2578608"/>
            <a:ext cx="5230368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沉淀可迁移的模型生成能力，服务多类基础设施对象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3474720"/>
            <a:ext cx="10899648" cy="841248"/>
          </a:xfrm>
          <a:prstGeom prst="rect">
            <a:avLst/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474720"/>
            <a:ext cx="73152" cy="841248"/>
          </a:xfrm>
          <a:prstGeom prst="rect">
            <a:avLst/>
          </a:prstGeom>
          <a:solidFill>
            <a:srgbClr val="2E8E60"/>
          </a:solidFill>
          <a:ln>
            <a:solidFill>
              <a:srgbClr val="2E8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694176"/>
            <a:ext cx="1417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2E8E60"/>
                </a:solidFill>
                <a:latin typeface="Microsoft YaHei"/>
              </a:rPr>
              <a:t>时空数据底座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78608" y="3675887"/>
            <a:ext cx="30175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2D3D"/>
                </a:solidFill>
                <a:latin typeface="Microsoft YaHei"/>
              </a:rPr>
              <a:t>承担对象、属性、关系、版本与索引管理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33872" y="3639312"/>
            <a:ext cx="5230368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与超融合数据库研发衔接，支撑检索、分析与业务复用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4535423"/>
            <a:ext cx="10899648" cy="841248"/>
          </a:xfrm>
          <a:prstGeom prst="rect">
            <a:avLst/>
          </a:prstGeom>
          <a:solidFill>
            <a:srgbClr val="EEF7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8368" y="4535423"/>
            <a:ext cx="73152" cy="841248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754879"/>
            <a:ext cx="141732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EB233A"/>
                </a:solidFill>
                <a:latin typeface="Microsoft YaHei"/>
              </a:rPr>
              <a:t>专项应用体系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78608" y="4736591"/>
            <a:ext cx="30175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F2D3D"/>
                </a:solidFill>
                <a:latin typeface="Microsoft YaHei"/>
              </a:rPr>
              <a:t>承担面向业务场景的成果组织与应用闭环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33872" y="4700015"/>
            <a:ext cx="5230368" cy="42062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支撑数字孪生专项从展示型成果向业务型应用延伸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8" y="5715000"/>
            <a:ext cx="10899648" cy="457200"/>
          </a:xfrm>
          <a:prstGeom prst="rect">
            <a:avLst/>
          </a:prstGeom>
          <a:solidFill>
            <a:srgbClr val="004080"/>
          </a:solidFill>
          <a:ln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8" y="5833872"/>
            <a:ext cx="1051560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</a:rPr>
              <a:t>总体架构由“数据底座 + 规则算法 + 三维表达 + 专项应用”共同构成，强调能力协同与可持续迭代。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技术路线 · 问题意识 · 能力沉淀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01 / ROUTE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总体路线：以数据链为主线，构建可追溯的城市基础设施对象体系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901952"/>
            <a:ext cx="1627632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" y="1901952"/>
            <a:ext cx="1627632" cy="347472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1208" y="2487168"/>
            <a:ext cx="1408176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2D3D"/>
                </a:solidFill>
                <a:latin typeface="Microsoft YaHei"/>
              </a:rPr>
              <a:t>源数据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9496" y="2999232"/>
            <a:ext cx="137160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GIS / CAD</a:t>
            </a:r>
            <a:br/>
            <a:r>
              <a:t>业务台账</a:t>
            </a:r>
          </a:p>
        </p:txBody>
      </p:sp>
      <p:sp>
        <p:nvSpPr>
          <p:cNvPr id="12" name="Chevron 11"/>
          <p:cNvSpPr/>
          <p:nvPr/>
        </p:nvSpPr>
        <p:spPr>
          <a:xfrm>
            <a:off x="2084832" y="2633472"/>
            <a:ext cx="256032" cy="438912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359152" y="1901952"/>
            <a:ext cx="1627632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59152" y="1901952"/>
            <a:ext cx="1627632" cy="347472"/>
          </a:xfrm>
          <a:prstGeom prst="rect">
            <a:avLst/>
          </a:prstGeom>
          <a:solidFill>
            <a:srgbClr val="24B4E1"/>
          </a:solidFill>
          <a:ln>
            <a:solidFill>
              <a:srgbClr val="24B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68880" y="2487168"/>
            <a:ext cx="1408176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2D3D"/>
                </a:solidFill>
                <a:latin typeface="Microsoft YaHei"/>
              </a:rPr>
              <a:t>标准化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87168" y="2999232"/>
            <a:ext cx="137160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坐标 / 编码</a:t>
            </a:r>
            <a:br/>
            <a:r>
              <a:t>分类 / 质量</a:t>
            </a:r>
          </a:p>
        </p:txBody>
      </p:sp>
      <p:sp>
        <p:nvSpPr>
          <p:cNvPr id="17" name="Chevron 16"/>
          <p:cNvSpPr/>
          <p:nvPr/>
        </p:nvSpPr>
        <p:spPr>
          <a:xfrm>
            <a:off x="4032504" y="2633472"/>
            <a:ext cx="256032" cy="438912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06824" y="1901952"/>
            <a:ext cx="1627632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06824" y="1901952"/>
            <a:ext cx="1627632" cy="347472"/>
          </a:xfrm>
          <a:prstGeom prst="rect">
            <a:avLst/>
          </a:prstGeom>
          <a:solidFill>
            <a:srgbClr val="2E8E60"/>
          </a:solidFill>
          <a:ln>
            <a:solidFill>
              <a:srgbClr val="2E8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16552" y="2487168"/>
            <a:ext cx="1408176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2D3D"/>
                </a:solidFill>
                <a:latin typeface="Microsoft YaHei"/>
              </a:rPr>
              <a:t>规则层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999232"/>
            <a:ext cx="137160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分级标准</a:t>
            </a:r>
            <a:br/>
            <a:r>
              <a:t>专业约束</a:t>
            </a:r>
          </a:p>
        </p:txBody>
      </p:sp>
      <p:sp>
        <p:nvSpPr>
          <p:cNvPr id="22" name="Chevron 21"/>
          <p:cNvSpPr/>
          <p:nvPr/>
        </p:nvSpPr>
        <p:spPr>
          <a:xfrm>
            <a:off x="5980176" y="2633472"/>
            <a:ext cx="256032" cy="438912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6254496" y="1901952"/>
            <a:ext cx="1627632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54496" y="1901952"/>
            <a:ext cx="1627632" cy="347472"/>
          </a:xfrm>
          <a:prstGeom prst="rect">
            <a:avLst/>
          </a:prstGeom>
          <a:solidFill>
            <a:srgbClr val="EF902C"/>
          </a:solidFill>
          <a:ln>
            <a:solidFill>
              <a:srgbClr val="EF9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64224" y="2487168"/>
            <a:ext cx="1408176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2D3D"/>
                </a:solidFill>
                <a:latin typeface="Microsoft YaHei"/>
              </a:rPr>
              <a:t>模型层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82512" y="2999232"/>
            <a:ext cx="137160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三维对象</a:t>
            </a:r>
            <a:br/>
            <a:r>
              <a:t>空间关系</a:t>
            </a:r>
          </a:p>
        </p:txBody>
      </p:sp>
      <p:sp>
        <p:nvSpPr>
          <p:cNvPr id="27" name="Chevron 26"/>
          <p:cNvSpPr/>
          <p:nvPr/>
        </p:nvSpPr>
        <p:spPr>
          <a:xfrm>
            <a:off x="7927848" y="2633472"/>
            <a:ext cx="256032" cy="438912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02167" y="1901952"/>
            <a:ext cx="1627632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202167" y="1901952"/>
            <a:ext cx="1627632" cy="347472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11895" y="2487168"/>
            <a:ext cx="1408176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2D3D"/>
                </a:solidFill>
                <a:latin typeface="Microsoft YaHei"/>
              </a:rPr>
              <a:t>语义层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0183" y="2999232"/>
            <a:ext cx="137160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对象属性</a:t>
            </a:r>
            <a:br/>
            <a:r>
              <a:t>关系索引</a:t>
            </a:r>
          </a:p>
        </p:txBody>
      </p:sp>
      <p:sp>
        <p:nvSpPr>
          <p:cNvPr id="32" name="Chevron 31"/>
          <p:cNvSpPr/>
          <p:nvPr/>
        </p:nvSpPr>
        <p:spPr>
          <a:xfrm>
            <a:off x="9875519" y="2633472"/>
            <a:ext cx="256032" cy="438912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0149839" y="1901952"/>
            <a:ext cx="1627632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49839" y="1901952"/>
            <a:ext cx="1627632" cy="347472"/>
          </a:xfrm>
          <a:prstGeom prst="rect">
            <a:avLst/>
          </a:prstGeom>
          <a:solidFill>
            <a:srgbClr val="004080"/>
          </a:solidFill>
          <a:ln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259567" y="2487168"/>
            <a:ext cx="1408176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1F2D3D"/>
                </a:solidFill>
                <a:latin typeface="Microsoft YaHei"/>
              </a:rPr>
              <a:t>服务层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77855" y="2999232"/>
            <a:ext cx="1371600" cy="51206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孪生场景</a:t>
            </a:r>
            <a:br/>
            <a:r>
              <a:t>查询分析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" y="4407408"/>
            <a:ext cx="51663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8368" y="4407408"/>
            <a:ext cx="73152" cy="1051560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14400" y="4617720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70E0"/>
                </a:solidFill>
                <a:latin typeface="Microsoft YaHei"/>
              </a:rPr>
              <a:t>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81328" y="4590288"/>
            <a:ext cx="41422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当前阶段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81328" y="5010912"/>
            <a:ext cx="4142232" cy="35661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以 CIM 道路建模为典型场景，打通数据标准化、空间构造和语义关联链路。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27648" y="4407408"/>
            <a:ext cx="51663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27648" y="4407408"/>
            <a:ext cx="73152" cy="1051560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83680" y="4617720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B233A"/>
                </a:solidFill>
                <a:latin typeface="Microsoft YaHei"/>
              </a:rPr>
              <a:t>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50608" y="4590288"/>
            <a:ext cx="41422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后续阶段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50608" y="5010912"/>
            <a:ext cx="4142232" cy="35661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将阶段形成的方法接入超融合数据库与数字孪生专项，支撑综合型城市基础设施应用。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技术路线 · 问题意识 · 能力沉淀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02 / CURRENT PRACTICE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阶段实践：以道路建模贯通规则化生成与语义追溯链路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06</a:t>
            </a:r>
          </a:p>
        </p:txBody>
      </p:sp>
      <p:pic>
        <p:nvPicPr>
          <p:cNvPr id="8" name="Picture 7" descr="image8.png"/>
          <p:cNvPicPr>
            <a:picLocks noChangeAspect="1"/>
          </p:cNvPicPr>
          <p:nvPr/>
        </p:nvPicPr>
        <p:blipFill>
          <a:blip r:embed="rId3"/>
          <a:srcRect l="14401" r="14401"/>
          <a:stretch>
            <a:fillRect/>
          </a:stretch>
        </p:blipFill>
        <p:spPr>
          <a:xfrm>
            <a:off x="7086600" y="1353312"/>
            <a:ext cx="4462272" cy="28803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086600" y="3959352"/>
            <a:ext cx="4462272" cy="274320"/>
          </a:xfrm>
          <a:prstGeom prst="rect">
            <a:avLst/>
          </a:prstGeom>
          <a:solidFill>
            <a:srgbClr val="004080"/>
          </a:solidFill>
          <a:ln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42048" y="4005072"/>
            <a:ext cx="411480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</a:rPr>
              <a:t>典型道路场景用于贯通数据—模型—语义链路</a:t>
            </a:r>
          </a:p>
        </p:txBody>
      </p:sp>
      <p:sp>
        <p:nvSpPr>
          <p:cNvPr id="11" name="Oval 10"/>
          <p:cNvSpPr/>
          <p:nvPr/>
        </p:nvSpPr>
        <p:spPr>
          <a:xfrm>
            <a:off x="713232" y="1417320"/>
            <a:ext cx="566928" cy="566928"/>
          </a:xfrm>
          <a:prstGeom prst="ellipse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1545336"/>
            <a:ext cx="566928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1435608"/>
            <a:ext cx="1097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输入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42032" y="1435608"/>
            <a:ext cx="356616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E"/>
                </a:solidFill>
                <a:latin typeface="Microsoft YaHei"/>
              </a:rPr>
              <a:t>中心线、分类、宽度、断面等基础数据</a:t>
            </a:r>
          </a:p>
        </p:txBody>
      </p:sp>
      <p:sp>
        <p:nvSpPr>
          <p:cNvPr id="15" name="Oval 14"/>
          <p:cNvSpPr/>
          <p:nvPr/>
        </p:nvSpPr>
        <p:spPr>
          <a:xfrm>
            <a:off x="713232" y="2423160"/>
            <a:ext cx="566928" cy="566928"/>
          </a:xfrm>
          <a:prstGeom prst="ellipse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2551176"/>
            <a:ext cx="566928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2441448"/>
            <a:ext cx="1097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处理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42032" y="2441448"/>
            <a:ext cx="356616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E"/>
                </a:solidFill>
                <a:latin typeface="Microsoft YaHei"/>
              </a:rPr>
              <a:t>依据专业规则形成分级模型与对象关系</a:t>
            </a:r>
          </a:p>
        </p:txBody>
      </p:sp>
      <p:sp>
        <p:nvSpPr>
          <p:cNvPr id="19" name="Oval 18"/>
          <p:cNvSpPr/>
          <p:nvPr/>
        </p:nvSpPr>
        <p:spPr>
          <a:xfrm>
            <a:off x="713232" y="3429000"/>
            <a:ext cx="566928" cy="566928"/>
          </a:xfrm>
          <a:prstGeom prst="ellipse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" y="3557016"/>
            <a:ext cx="566928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3447288"/>
            <a:ext cx="1097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输出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42032" y="3447288"/>
            <a:ext cx="356616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E"/>
                </a:solidFill>
                <a:latin typeface="Microsoft YaHei"/>
              </a:rPr>
              <a:t>三维对象、语义数据和典型问题样本库</a:t>
            </a:r>
          </a:p>
        </p:txBody>
      </p:sp>
      <p:sp>
        <p:nvSpPr>
          <p:cNvPr id="23" name="Oval 22"/>
          <p:cNvSpPr/>
          <p:nvPr/>
        </p:nvSpPr>
        <p:spPr>
          <a:xfrm>
            <a:off x="713232" y="4434840"/>
            <a:ext cx="566928" cy="566928"/>
          </a:xfrm>
          <a:prstGeom prst="ellipse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3232" y="4562856"/>
            <a:ext cx="566928" cy="228600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72768" y="4453128"/>
            <a:ext cx="1097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价值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42032" y="4453128"/>
            <a:ext cx="3566160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B6B7E"/>
                </a:solidFill>
                <a:latin typeface="Microsoft YaHei"/>
              </a:rPr>
              <a:t>建立模型对象与数据资产之间的关联机制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" y="5715000"/>
            <a:ext cx="10789920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4080"/>
                </a:solidFill>
                <a:latin typeface="Microsoft YaHei"/>
              </a:rPr>
              <a:t>该阶段重点在于形成可观察、可复盘、可扩展的技术链路，为多类型设施建模提供依据。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技术路线 · 问题意识 · 能力沉淀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03 /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关键问题一：模型质量受数据一致性、规则表达与空间关系共同影响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07</a:t>
            </a:r>
          </a:p>
        </p:txBody>
      </p:sp>
      <p:pic>
        <p:nvPicPr>
          <p:cNvPr id="8" name="Picture 7" descr="image10.png"/>
          <p:cNvPicPr>
            <a:picLocks noChangeAspect="1"/>
          </p:cNvPicPr>
          <p:nvPr/>
        </p:nvPicPr>
        <p:blipFill>
          <a:blip r:embed="rId3"/>
          <a:srcRect l="17363" r="17363"/>
          <a:stretch>
            <a:fillRect/>
          </a:stretch>
        </p:blipFill>
        <p:spPr>
          <a:xfrm>
            <a:off x="658368" y="1353312"/>
            <a:ext cx="4828032" cy="4160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5193792"/>
            <a:ext cx="4828032" cy="320040"/>
          </a:xfrm>
          <a:prstGeom prst="rect">
            <a:avLst/>
          </a:prstGeom>
          <a:solidFill>
            <a:srgbClr val="004080"/>
          </a:solidFill>
          <a:ln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5257800"/>
            <a:ext cx="452628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</a:rPr>
              <a:t>典型路口场景：用于分析规则冲突与空间连续性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870448" y="1481328"/>
            <a:ext cx="5623560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870448" y="1481328"/>
            <a:ext cx="73152" cy="941832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1691640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70E0"/>
                </a:solidFill>
                <a:latin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93408" y="1664208"/>
            <a:ext cx="45994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数据一致性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2084832"/>
            <a:ext cx="4599432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不同来源数据在空间精度、分类字段和属性完备性方面存在差异。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70448" y="2706624"/>
            <a:ext cx="5623560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70448" y="2706624"/>
            <a:ext cx="73152" cy="941832"/>
          </a:xfrm>
          <a:prstGeom prst="rect">
            <a:avLst/>
          </a:prstGeom>
          <a:solidFill>
            <a:srgbClr val="EF902C"/>
          </a:solidFill>
          <a:ln>
            <a:solidFill>
              <a:srgbClr val="EF9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2916936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F902C"/>
                </a:solidFill>
                <a:latin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93408" y="2889504"/>
            <a:ext cx="45994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规则可配置性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93408" y="3310128"/>
            <a:ext cx="4599432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专业规则需具备参数化和版本化能力，避免形成一次性项目逻辑。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70448" y="3931920"/>
            <a:ext cx="5623560" cy="9418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870448" y="3931920"/>
            <a:ext cx="73152" cy="941832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4142232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B233A"/>
                </a:solidFill>
                <a:latin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8" y="4114800"/>
            <a:ext cx="45994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对象统一性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3408" y="4535424"/>
            <a:ext cx="4599432" cy="24688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模型展示、语义查询和业务应用需共享统一的对象关系体系。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70448" y="5230368"/>
            <a:ext cx="5623560" cy="512064"/>
          </a:xfrm>
          <a:prstGeom prst="roundRect">
            <a:avLst>
              <a:gd name="adj" fmla="val 8000"/>
            </a:avLst>
          </a:prstGeom>
          <a:solidFill>
            <a:srgbClr val="EEF7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89904" y="5376672"/>
            <a:ext cx="521208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0070E0"/>
                </a:solidFill>
                <a:latin typeface="Microsoft YaHei"/>
              </a:rPr>
              <a:t>工作重点：由单点模型修正转向数据标准、规则表达和对象关系的系统化治理。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技术路线 · 问题意识 · 能力沉淀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03 / PROBLEMS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关键问题二：专项建设需由文件管理提升为数据资产组织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572768"/>
            <a:ext cx="3273552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55648"/>
            <a:ext cx="128016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B233A"/>
                </a:solidFill>
                <a:latin typeface="Microsoft YaHei"/>
              </a:rPr>
              <a:t>文件孤立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221992"/>
            <a:ext cx="2670048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19" b="0">
                <a:solidFill>
                  <a:srgbClr val="5B6B7E"/>
                </a:solidFill>
                <a:latin typeface="Microsoft YaHei"/>
              </a:rPr>
              <a:t>仅以文件形态管理，后续追踪、复用和增量更新能力不足。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43400" y="1572768"/>
            <a:ext cx="3273552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9432" y="1755648"/>
            <a:ext cx="128016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F902C"/>
                </a:solidFill>
                <a:latin typeface="Microsoft YaHei"/>
              </a:rPr>
              <a:t>数据分散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221992"/>
            <a:ext cx="2670048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19" b="0">
                <a:solidFill>
                  <a:srgbClr val="5B6B7E"/>
                </a:solidFill>
                <a:latin typeface="Microsoft YaHei"/>
              </a:rPr>
              <a:t>模型、表格、GIS 与业务系统之间缺少统一对象和索引机制。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28432" y="1572768"/>
            <a:ext cx="3273552" cy="1280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84464" y="1755648"/>
            <a:ext cx="128016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EF902C"/>
                </a:solidFill>
                <a:latin typeface="Microsoft YaHei"/>
              </a:rPr>
              <a:t>应用分离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84464" y="2221992"/>
            <a:ext cx="2670048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19" b="0">
                <a:solidFill>
                  <a:srgbClr val="5B6B7E"/>
                </a:solidFill>
                <a:latin typeface="Microsoft YaHei"/>
              </a:rPr>
              <a:t>可视化展示、检索分析和业务汇报各自建设，难以形成协同。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328416"/>
            <a:ext cx="2377440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70E0"/>
                </a:solidFill>
                <a:latin typeface="Microsoft YaHei"/>
              </a:rPr>
              <a:t>数据资产化建设重点</a:t>
            </a:r>
          </a:p>
        </p:txBody>
      </p:sp>
      <p:sp>
        <p:nvSpPr>
          <p:cNvPr id="18" name="Oval 17"/>
          <p:cNvSpPr/>
          <p:nvPr/>
        </p:nvSpPr>
        <p:spPr>
          <a:xfrm>
            <a:off x="658368" y="3785615"/>
            <a:ext cx="493776" cy="493776"/>
          </a:xfrm>
          <a:prstGeom prst="ellipse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3886200"/>
            <a:ext cx="493776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16736" y="3767328"/>
            <a:ext cx="1261872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D3D"/>
                </a:solidFill>
                <a:latin typeface="Microsoft YaHei"/>
              </a:rPr>
              <a:t>统一编码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16736" y="4187952"/>
            <a:ext cx="1664208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5B6B7E"/>
                </a:solidFill>
                <a:latin typeface="Microsoft YaHei"/>
              </a:rPr>
              <a:t>设施对象有稳定 ID</a:t>
            </a:r>
          </a:p>
        </p:txBody>
      </p:sp>
      <p:sp>
        <p:nvSpPr>
          <p:cNvPr id="22" name="Oval 21"/>
          <p:cNvSpPr/>
          <p:nvPr/>
        </p:nvSpPr>
        <p:spPr>
          <a:xfrm>
            <a:off x="3456432" y="3785615"/>
            <a:ext cx="493776" cy="493776"/>
          </a:xfrm>
          <a:prstGeom prst="ellipse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56432" y="3886200"/>
            <a:ext cx="493776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3767328"/>
            <a:ext cx="1261872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D3D"/>
                </a:solidFill>
                <a:latin typeface="Microsoft YaHei"/>
              </a:rPr>
              <a:t>统一索引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187952"/>
            <a:ext cx="1664208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5B6B7E"/>
                </a:solidFill>
                <a:latin typeface="Microsoft YaHei"/>
              </a:rPr>
              <a:t>空间、时间、属性可检索</a:t>
            </a:r>
          </a:p>
        </p:txBody>
      </p:sp>
      <p:sp>
        <p:nvSpPr>
          <p:cNvPr id="26" name="Oval 25"/>
          <p:cNvSpPr/>
          <p:nvPr/>
        </p:nvSpPr>
        <p:spPr>
          <a:xfrm>
            <a:off x="6254496" y="3785615"/>
            <a:ext cx="493776" cy="493776"/>
          </a:xfrm>
          <a:prstGeom prst="ellipse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54496" y="3886200"/>
            <a:ext cx="493776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12864" y="3767328"/>
            <a:ext cx="1261872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D3D"/>
                </a:solidFill>
                <a:latin typeface="Microsoft YaHei"/>
              </a:rPr>
              <a:t>统一版本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12864" y="4187952"/>
            <a:ext cx="1664208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5B6B7E"/>
                </a:solidFill>
                <a:latin typeface="Microsoft YaHei"/>
              </a:rPr>
              <a:t>数据更新可追踪</a:t>
            </a:r>
          </a:p>
        </p:txBody>
      </p:sp>
      <p:sp>
        <p:nvSpPr>
          <p:cNvPr id="30" name="Oval 29"/>
          <p:cNvSpPr/>
          <p:nvPr/>
        </p:nvSpPr>
        <p:spPr>
          <a:xfrm>
            <a:off x="9052560" y="3785615"/>
            <a:ext cx="493776" cy="493776"/>
          </a:xfrm>
          <a:prstGeom prst="ellipse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0" y="3886200"/>
            <a:ext cx="493776" cy="201168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0928" y="3767328"/>
            <a:ext cx="1261872" cy="27432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D3D"/>
                </a:solidFill>
                <a:latin typeface="Microsoft YaHei"/>
              </a:rPr>
              <a:t>统一接口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10928" y="4187952"/>
            <a:ext cx="1664208" cy="43891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19" b="0">
                <a:solidFill>
                  <a:srgbClr val="5B6B7E"/>
                </a:solidFill>
                <a:latin typeface="Microsoft YaHei"/>
              </a:rPr>
              <a:t>建模、孪生、业务系统可共享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8368" y="5394960"/>
            <a:ext cx="10899648" cy="493776"/>
          </a:xfrm>
          <a:prstGeom prst="rect">
            <a:avLst/>
          </a:prstGeom>
          <a:solidFill>
            <a:srgbClr val="004080"/>
          </a:solidFill>
          <a:ln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68680" y="5532120"/>
            <a:ext cx="1046988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超融合数据库研发需重点承接对象化、索引化和版本化能力，使模型对象具备查询、关联和更新基础。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技术路线 · 问题意识 · 能力沉淀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04 / NEXT CAPABILITY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面向超融合数据库：构建统一的城市基础设施时空数据组织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09</a:t>
            </a:r>
          </a:p>
        </p:txBody>
      </p:sp>
      <p:pic>
        <p:nvPicPr>
          <p:cNvPr id="8" name="Picture 7" descr="image9.png"/>
          <p:cNvPicPr>
            <a:picLocks noChangeAspect="1"/>
          </p:cNvPicPr>
          <p:nvPr/>
        </p:nvPicPr>
        <p:blipFill>
          <a:blip r:embed="rId3"/>
          <a:srcRect l="18375" r="18375"/>
          <a:stretch>
            <a:fillRect/>
          </a:stretch>
        </p:blipFill>
        <p:spPr>
          <a:xfrm>
            <a:off x="658368" y="1353312"/>
            <a:ext cx="4709160" cy="418795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658368" y="5230368"/>
            <a:ext cx="4709160" cy="310896"/>
          </a:xfrm>
          <a:prstGeom prst="rect">
            <a:avLst/>
          </a:prstGeom>
          <a:solidFill>
            <a:srgbClr val="0C1824"/>
          </a:solidFill>
          <a:ln>
            <a:solidFill>
              <a:srgbClr val="0C18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285232"/>
            <a:ext cx="438912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</a:rPr>
              <a:t>城市级对象网络：统一组织空间对象、属性信息与关联关系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779008" y="1389888"/>
            <a:ext cx="54681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79008" y="1389888"/>
            <a:ext cx="73152" cy="868680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0" y="1600200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70E0"/>
                </a:solidFill>
                <a:latin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1572768"/>
            <a:ext cx="4443984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对象层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1993392"/>
            <a:ext cx="4443984" cy="17373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面向道路、隧道、管线、站点、设施等对象建立统一编码。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79008" y="2468880"/>
            <a:ext cx="54681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779008" y="2468880"/>
            <a:ext cx="73152" cy="868680"/>
          </a:xfrm>
          <a:prstGeom prst="rect">
            <a:avLst/>
          </a:prstGeom>
          <a:solidFill>
            <a:srgbClr val="2E8E60"/>
          </a:solidFill>
          <a:ln>
            <a:solidFill>
              <a:srgbClr val="2E8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2679192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8E60"/>
                </a:solidFill>
                <a:latin typeface="Microsoft YaHei"/>
              </a:rP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2651760"/>
            <a:ext cx="4443984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关系层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1968" y="3072384"/>
            <a:ext cx="4443984" cy="17373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表达空间邻接、上下游、穿越、权属和时间版本等关系。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79008" y="3547872"/>
            <a:ext cx="5468112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779008" y="3547872"/>
            <a:ext cx="73152" cy="868680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35040" y="3758184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B233A"/>
                </a:solidFill>
                <a:latin typeface="Microsoft YaHei"/>
              </a:rPr>
              <a:t>03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3730752"/>
            <a:ext cx="4443984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服务层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4151376"/>
            <a:ext cx="4443984" cy="173735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支撑检索、统计、可视化分析和数字孪生应用服务。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779008" y="4983480"/>
            <a:ext cx="5468112" cy="530352"/>
          </a:xfrm>
          <a:prstGeom prst="roundRect">
            <a:avLst>
              <a:gd name="adj" fmla="val 8000"/>
            </a:avLst>
          </a:prstGeom>
          <a:solidFill>
            <a:srgbClr val="EEF7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89320" y="5138928"/>
            <a:ext cx="5074920" cy="21945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004080"/>
                </a:solidFill>
                <a:latin typeface="Microsoft YaHei"/>
              </a:rPr>
              <a:t>建设重点在于形成对象、关系、索引和持续更新机制，而非仅存储模型文件。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技术路线 · 问题意识 · 能力沉淀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04 / NEXT CAPABILITY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面向数字孪生专项：由场景表达拓展至业务研判与闭环应用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10</a:t>
            </a:r>
          </a:p>
        </p:txBody>
      </p:sp>
      <p:sp>
        <p:nvSpPr>
          <p:cNvPr id="8" name="Oval 7"/>
          <p:cNvSpPr/>
          <p:nvPr/>
        </p:nvSpPr>
        <p:spPr>
          <a:xfrm>
            <a:off x="1078992" y="1481328"/>
            <a:ext cx="713232" cy="713232"/>
          </a:xfrm>
          <a:prstGeom prst="ellipse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645920"/>
            <a:ext cx="713232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487168"/>
            <a:ext cx="16276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现状表达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980944"/>
            <a:ext cx="1792224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基础设施对象</a:t>
            </a:r>
            <a:br/>
            <a:r>
              <a:t>三维表达</a:t>
            </a:r>
          </a:p>
        </p:txBody>
      </p:sp>
      <p:sp>
        <p:nvSpPr>
          <p:cNvPr id="12" name="Chevron 11"/>
          <p:cNvSpPr/>
          <p:nvPr/>
        </p:nvSpPr>
        <p:spPr>
          <a:xfrm>
            <a:off x="2286000" y="1618488"/>
            <a:ext cx="292608" cy="438912"/>
          </a:xfrm>
          <a:prstGeom prst="chevron">
            <a:avLst/>
          </a:prstGeom>
          <a:solidFill>
            <a:srgbClr val="BCD3E6"/>
          </a:solidFill>
          <a:ln>
            <a:solidFill>
              <a:srgbClr val="BC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392424" y="1481328"/>
            <a:ext cx="713232" cy="713232"/>
          </a:xfrm>
          <a:prstGeom prst="ellipse">
            <a:avLst/>
          </a:prstGeom>
          <a:solidFill>
            <a:srgbClr val="24B4E1"/>
          </a:solidFill>
          <a:ln>
            <a:solidFill>
              <a:srgbClr val="24B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92424" y="1645920"/>
            <a:ext cx="713232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3511" y="2487168"/>
            <a:ext cx="16276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数据融合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2980944"/>
            <a:ext cx="1792224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时空数据</a:t>
            </a:r>
            <a:br/>
            <a:r>
              <a:t>业务数据</a:t>
            </a:r>
          </a:p>
        </p:txBody>
      </p:sp>
      <p:sp>
        <p:nvSpPr>
          <p:cNvPr id="17" name="Chevron 16"/>
          <p:cNvSpPr/>
          <p:nvPr/>
        </p:nvSpPr>
        <p:spPr>
          <a:xfrm>
            <a:off x="4599431" y="1618488"/>
            <a:ext cx="292608" cy="438912"/>
          </a:xfrm>
          <a:prstGeom prst="chevron">
            <a:avLst/>
          </a:prstGeom>
          <a:solidFill>
            <a:srgbClr val="BCD3E6"/>
          </a:solidFill>
          <a:ln>
            <a:solidFill>
              <a:srgbClr val="BC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05855" y="1481328"/>
            <a:ext cx="713232" cy="713232"/>
          </a:xfrm>
          <a:prstGeom prst="ellipse">
            <a:avLst/>
          </a:prstGeom>
          <a:solidFill>
            <a:srgbClr val="EF902C"/>
          </a:solidFill>
          <a:ln>
            <a:solidFill>
              <a:srgbClr val="EF9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05855" y="1645920"/>
            <a:ext cx="713232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66944" y="2487168"/>
            <a:ext cx="16276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关系理解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3792" y="2980944"/>
            <a:ext cx="1792224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空间关系</a:t>
            </a:r>
            <a:br/>
            <a:r>
              <a:t>运行约束</a:t>
            </a:r>
          </a:p>
        </p:txBody>
      </p:sp>
      <p:sp>
        <p:nvSpPr>
          <p:cNvPr id="22" name="Chevron 21"/>
          <p:cNvSpPr/>
          <p:nvPr/>
        </p:nvSpPr>
        <p:spPr>
          <a:xfrm>
            <a:off x="6912864" y="1618488"/>
            <a:ext cx="292608" cy="438912"/>
          </a:xfrm>
          <a:prstGeom prst="chevron">
            <a:avLst/>
          </a:prstGeom>
          <a:solidFill>
            <a:srgbClr val="BCD3E6"/>
          </a:solidFill>
          <a:ln>
            <a:solidFill>
              <a:srgbClr val="BC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019288" y="1481328"/>
            <a:ext cx="713232" cy="713232"/>
          </a:xfrm>
          <a:prstGeom prst="ellipse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19288" y="1645920"/>
            <a:ext cx="713232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0375" y="2487168"/>
            <a:ext cx="16276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场景应用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07223" y="2980944"/>
            <a:ext cx="1792224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查询统计</a:t>
            </a:r>
            <a:br/>
            <a:r>
              <a:t>研判分析</a:t>
            </a:r>
          </a:p>
        </p:txBody>
      </p:sp>
      <p:sp>
        <p:nvSpPr>
          <p:cNvPr id="27" name="Chevron 26"/>
          <p:cNvSpPr/>
          <p:nvPr/>
        </p:nvSpPr>
        <p:spPr>
          <a:xfrm>
            <a:off x="9226296" y="1618488"/>
            <a:ext cx="292608" cy="438912"/>
          </a:xfrm>
          <a:prstGeom prst="chevron">
            <a:avLst/>
          </a:prstGeom>
          <a:solidFill>
            <a:srgbClr val="BCD3E6"/>
          </a:solidFill>
          <a:ln>
            <a:solidFill>
              <a:srgbClr val="BCD3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332719" y="1481328"/>
            <a:ext cx="713232" cy="713232"/>
          </a:xfrm>
          <a:prstGeom prst="ellipse">
            <a:avLst/>
          </a:prstGeom>
          <a:solidFill>
            <a:srgbClr val="2E8E60"/>
          </a:solidFill>
          <a:ln>
            <a:solidFill>
              <a:srgbClr val="2E8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332719" y="1645920"/>
            <a:ext cx="713232" cy="256032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93807" y="2487168"/>
            <a:ext cx="16276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>
                <a:solidFill>
                  <a:srgbClr val="1F2D3D"/>
                </a:solidFill>
                <a:latin typeface="Microsoft YaHei"/>
              </a:rPr>
              <a:t>反馈更新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20655" y="2980944"/>
            <a:ext cx="1792224" cy="56692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B6B7E"/>
                </a:solidFill>
                <a:latin typeface="Microsoft YaHei"/>
              </a:rPr>
              <a:t>问题回流</a:t>
            </a:r>
            <a:br/>
            <a:r>
              <a:t>版本迭代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370832"/>
            <a:ext cx="516636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4370832"/>
            <a:ext cx="73152" cy="1024128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581144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70E0"/>
                </a:solidFill>
                <a:latin typeface="Microsoft YaHei"/>
              </a:rPr>
              <a:t>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81328" y="4553712"/>
            <a:ext cx="41422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已形成的基础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4974336"/>
            <a:ext cx="4142232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自动建模、对象语义、空间关系和三维表达方法。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27648" y="4370832"/>
            <a:ext cx="5166360" cy="102412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27648" y="4370832"/>
            <a:ext cx="73152" cy="1024128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83680" y="4581144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B233A"/>
                </a:solidFill>
                <a:latin typeface="Microsoft YaHei"/>
              </a:rPr>
              <a:t>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50608" y="4553712"/>
            <a:ext cx="414223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需进一步完善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50608" y="4974336"/>
            <a:ext cx="4142232" cy="329184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数据更新机制、业务指标体系、智能辅助理解与专题应用模板。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技术路线 · 问题意识 · 能力沉淀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05 /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方法复用：形成面向多类城市基础设施对象的共性技术框架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27632"/>
            <a:ext cx="1664208" cy="676656"/>
          </a:xfrm>
          <a:prstGeom prst="roundRect">
            <a:avLst>
              <a:gd name="adj" fmla="val 8000"/>
            </a:avLst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28800"/>
            <a:ext cx="144475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对象抽象</a:t>
            </a:r>
          </a:p>
        </p:txBody>
      </p:sp>
      <p:sp>
        <p:nvSpPr>
          <p:cNvPr id="10" name="Chevron 9"/>
          <p:cNvSpPr/>
          <p:nvPr/>
        </p:nvSpPr>
        <p:spPr>
          <a:xfrm>
            <a:off x="2377439" y="1755648"/>
            <a:ext cx="310896" cy="402336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26080" y="1627632"/>
            <a:ext cx="1664208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35808" y="1828800"/>
            <a:ext cx="144475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F2D3D"/>
                </a:solidFill>
                <a:latin typeface="Microsoft YaHei"/>
              </a:rPr>
              <a:t>数据标准</a:t>
            </a:r>
          </a:p>
        </p:txBody>
      </p:sp>
      <p:sp>
        <p:nvSpPr>
          <p:cNvPr id="13" name="Chevron 12"/>
          <p:cNvSpPr/>
          <p:nvPr/>
        </p:nvSpPr>
        <p:spPr>
          <a:xfrm>
            <a:off x="4663440" y="1755648"/>
            <a:ext cx="310896" cy="402336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212080" y="1627632"/>
            <a:ext cx="1664208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21808" y="1828800"/>
            <a:ext cx="144475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F2D3D"/>
                </a:solidFill>
                <a:latin typeface="Microsoft YaHei"/>
              </a:rPr>
              <a:t>规则配置</a:t>
            </a:r>
          </a:p>
        </p:txBody>
      </p:sp>
      <p:sp>
        <p:nvSpPr>
          <p:cNvPr id="16" name="Chevron 15"/>
          <p:cNvSpPr/>
          <p:nvPr/>
        </p:nvSpPr>
        <p:spPr>
          <a:xfrm>
            <a:off x="6949440" y="1755648"/>
            <a:ext cx="310896" cy="402336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498079" y="1627632"/>
            <a:ext cx="1664208" cy="67665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7807" y="1828800"/>
            <a:ext cx="144475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1F2D3D"/>
                </a:solidFill>
                <a:latin typeface="Microsoft YaHei"/>
              </a:rPr>
              <a:t>模型表达</a:t>
            </a:r>
          </a:p>
        </p:txBody>
      </p:sp>
      <p:sp>
        <p:nvSpPr>
          <p:cNvPr id="19" name="Chevron 18"/>
          <p:cNvSpPr/>
          <p:nvPr/>
        </p:nvSpPr>
        <p:spPr>
          <a:xfrm>
            <a:off x="9235440" y="1755648"/>
            <a:ext cx="310896" cy="402336"/>
          </a:xfrm>
          <a:prstGeom prst="chevron">
            <a:avLst/>
          </a:prstGeom>
          <a:solidFill>
            <a:srgbClr val="B4D2EB"/>
          </a:solidFill>
          <a:ln>
            <a:solidFill>
              <a:srgbClr val="B4D2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784080" y="1627632"/>
            <a:ext cx="1664208" cy="676656"/>
          </a:xfrm>
          <a:prstGeom prst="roundRect">
            <a:avLst>
              <a:gd name="adj" fmla="val 8000"/>
            </a:avLst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93807" y="1828800"/>
            <a:ext cx="1444752" cy="2560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</a:rPr>
              <a:t>应用服务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2926080"/>
            <a:ext cx="5193792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" y="2926080"/>
            <a:ext cx="73152" cy="960120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3136392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70E0"/>
                </a:solidFill>
                <a:latin typeface="Microsoft YaHei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81328" y="3108960"/>
            <a:ext cx="4169663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道路 / 交通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81328" y="3529584"/>
            <a:ext cx="4169663" cy="2651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研究空间连续、分级表达与对象追溯方法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1928" y="2926080"/>
            <a:ext cx="5193792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81928" y="2926080"/>
            <a:ext cx="73152" cy="960120"/>
          </a:xfrm>
          <a:prstGeom prst="rect">
            <a:avLst/>
          </a:prstGeom>
          <a:solidFill>
            <a:srgbClr val="EF902C"/>
          </a:solidFill>
          <a:ln>
            <a:solidFill>
              <a:srgbClr val="EF9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37960" y="3136392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F902C"/>
                </a:solidFill>
                <a:latin typeface="Microsoft YaHei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04888" y="3108960"/>
            <a:ext cx="4169663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轨道 / 地下空间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04888" y="3529584"/>
            <a:ext cx="4169663" cy="2651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扩展至区间、站点、构件和空间关系表达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" y="4160520"/>
            <a:ext cx="5193792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8368" y="4160520"/>
            <a:ext cx="73152" cy="960120"/>
          </a:xfrm>
          <a:prstGeom prst="rect">
            <a:avLst/>
          </a:prstGeom>
          <a:solidFill>
            <a:srgbClr val="2E8E60"/>
          </a:solidFill>
          <a:ln>
            <a:solidFill>
              <a:srgbClr val="2E8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14400" y="4370832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8E60"/>
                </a:solidFill>
                <a:latin typeface="Microsoft YaHei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81328" y="4343400"/>
            <a:ext cx="4169663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地下管线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81328" y="4764024"/>
            <a:ext cx="4169663" cy="2651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面向管径、埋深、节点、碰撞与权属关系组织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81928" y="4160520"/>
            <a:ext cx="5193792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81928" y="4160520"/>
            <a:ext cx="73152" cy="960120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4370832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B233A"/>
                </a:solidFill>
                <a:latin typeface="Microsoft YaHei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04888" y="4343400"/>
            <a:ext cx="4169663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城市孪生专题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104888" y="4764024"/>
            <a:ext cx="4169663" cy="26517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将基础设施对象接入场景、指标与应用体系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58368" y="5687568"/>
            <a:ext cx="10899648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004080"/>
                </a:solidFill>
                <a:latin typeface="Microsoft YaHei"/>
              </a:rPr>
              <a:t>共性部分在于对象化、规则化和语义化方法；差异部分体现在各专业规则、约束条件和应用场景。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技术路线 · 问题意识 · 能力沉淀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2286000" cy="2286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>
                <a:solidFill>
                  <a:srgbClr val="0070E0"/>
                </a:solidFill>
                <a:latin typeface="Microsoft YaHei"/>
              </a:rPr>
              <a:t>05 / REFLECTION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0652760" cy="45720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1F2D3D"/>
                </a:solidFill>
                <a:latin typeface="Microsoft YaHei"/>
              </a:rPr>
              <a:t>下一阶段：围绕三条主线推进技术能力体系化建设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78408"/>
            <a:ext cx="420624" cy="32004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" y="978408"/>
            <a:ext cx="1097280" cy="32004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02368" y="256032"/>
            <a:ext cx="1874519" cy="16662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356848" y="6446520"/>
            <a:ext cx="320040" cy="18288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00" b="0">
                <a:solidFill>
                  <a:srgbClr val="B4C3D2"/>
                </a:solidFill>
                <a:latin typeface="Microsoft YaHei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71600"/>
            <a:ext cx="571500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371600"/>
            <a:ext cx="73152" cy="987552"/>
          </a:xfrm>
          <a:prstGeom prst="rect">
            <a:avLst/>
          </a:prstGeom>
          <a:solidFill>
            <a:srgbClr val="0070E0"/>
          </a:solidFill>
          <a:ln>
            <a:solidFill>
              <a:srgbClr val="007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581912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70E0"/>
                </a:solidFill>
                <a:latin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81328" y="1554480"/>
            <a:ext cx="469087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自动化建模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1975104"/>
            <a:ext cx="469087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持续完善道路、轨道、地下空间等对象生成方法，形成可复用建模能力。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2606040"/>
            <a:ext cx="571500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606040"/>
            <a:ext cx="73152" cy="987552"/>
          </a:xfrm>
          <a:prstGeom prst="rect">
            <a:avLst/>
          </a:prstGeom>
          <a:solidFill>
            <a:srgbClr val="2E8E60"/>
          </a:solidFill>
          <a:ln>
            <a:solidFill>
              <a:srgbClr val="2E8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816352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2E8E60"/>
                </a:solidFill>
                <a:latin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788920"/>
            <a:ext cx="469087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超融合数据库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81328" y="3209544"/>
            <a:ext cx="469087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围绕多模态时空数据，建设统一对象、索引、关系和版本管理能力。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840480"/>
            <a:ext cx="571500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8368" y="3840480"/>
            <a:ext cx="73152" cy="987552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050792"/>
            <a:ext cx="502920" cy="320040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EB233A"/>
                </a:solidFill>
                <a:latin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81328" y="4023360"/>
            <a:ext cx="4690872" cy="310896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1F2D3D"/>
                </a:solidFill>
                <a:latin typeface="Microsoft YaHei"/>
              </a:rPr>
              <a:t>数字孪生专项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81328" y="4443984"/>
            <a:ext cx="4690872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60" b="0">
                <a:solidFill>
                  <a:srgbClr val="5B6B7E"/>
                </a:solidFill>
                <a:latin typeface="Microsoft YaHei"/>
              </a:rPr>
              <a:t>面向专题建设，形成场景模板、指标体系和智能辅助分析能力。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11696" y="1371600"/>
            <a:ext cx="4846320" cy="3511296"/>
          </a:xfrm>
          <a:prstGeom prst="roundRect">
            <a:avLst>
              <a:gd name="adj" fmla="val 8000"/>
            </a:avLst>
          </a:prstGeom>
          <a:solidFill>
            <a:srgbClr val="004080"/>
          </a:solidFill>
          <a:ln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59168" y="1627632"/>
            <a:ext cx="4151376" cy="38404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后续重点工作</a:t>
            </a:r>
          </a:p>
        </p:txBody>
      </p:sp>
      <p:sp>
        <p:nvSpPr>
          <p:cNvPr id="25" name="Oval 24"/>
          <p:cNvSpPr/>
          <p:nvPr/>
        </p:nvSpPr>
        <p:spPr>
          <a:xfrm>
            <a:off x="7068312" y="2157984"/>
            <a:ext cx="256032" cy="256032"/>
          </a:xfrm>
          <a:prstGeom prst="ellipse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68312" y="2203703"/>
            <a:ext cx="256032" cy="14630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16368" y="2139696"/>
            <a:ext cx="36118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FFFFFF"/>
                </a:solidFill>
                <a:latin typeface="Microsoft YaHei"/>
              </a:rPr>
              <a:t>完善多源数据标准、对象编码与分类体系</a:t>
            </a:r>
          </a:p>
        </p:txBody>
      </p:sp>
      <p:sp>
        <p:nvSpPr>
          <p:cNvPr id="28" name="Oval 27"/>
          <p:cNvSpPr/>
          <p:nvPr/>
        </p:nvSpPr>
        <p:spPr>
          <a:xfrm>
            <a:off x="7068312" y="2587752"/>
            <a:ext cx="256032" cy="256032"/>
          </a:xfrm>
          <a:prstGeom prst="ellipse">
            <a:avLst/>
          </a:prstGeom>
          <a:solidFill>
            <a:srgbClr val="24B4E1"/>
          </a:solidFill>
          <a:ln>
            <a:solidFill>
              <a:srgbClr val="24B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68312" y="2633472"/>
            <a:ext cx="256032" cy="14630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16368" y="2569464"/>
            <a:ext cx="36118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FFFFFF"/>
                </a:solidFill>
                <a:latin typeface="Microsoft YaHei"/>
              </a:rPr>
              <a:t>建设道路、轨道、管线、地下空间对象模板库</a:t>
            </a:r>
          </a:p>
        </p:txBody>
      </p:sp>
      <p:sp>
        <p:nvSpPr>
          <p:cNvPr id="31" name="Oval 30"/>
          <p:cNvSpPr/>
          <p:nvPr/>
        </p:nvSpPr>
        <p:spPr>
          <a:xfrm>
            <a:off x="7068312" y="3017520"/>
            <a:ext cx="256032" cy="256032"/>
          </a:xfrm>
          <a:prstGeom prst="ellipse">
            <a:avLst/>
          </a:prstGeom>
          <a:solidFill>
            <a:srgbClr val="24B4E1"/>
          </a:solidFill>
          <a:ln>
            <a:solidFill>
              <a:srgbClr val="24B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68312" y="3063239"/>
            <a:ext cx="256032" cy="14630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16368" y="2999232"/>
            <a:ext cx="36118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FFFFFF"/>
                </a:solidFill>
                <a:latin typeface="Microsoft YaHei"/>
              </a:rPr>
              <a:t>研究规则配置、参数管理与版本演进机制</a:t>
            </a:r>
          </a:p>
        </p:txBody>
      </p:sp>
      <p:sp>
        <p:nvSpPr>
          <p:cNvPr id="34" name="Oval 33"/>
          <p:cNvSpPr/>
          <p:nvPr/>
        </p:nvSpPr>
        <p:spPr>
          <a:xfrm>
            <a:off x="7068312" y="3447287"/>
            <a:ext cx="256032" cy="256032"/>
          </a:xfrm>
          <a:prstGeom prst="ellipse">
            <a:avLst/>
          </a:prstGeom>
          <a:solidFill>
            <a:srgbClr val="24B4E1"/>
          </a:solidFill>
          <a:ln>
            <a:solidFill>
              <a:srgbClr val="24B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68312" y="3493007"/>
            <a:ext cx="256032" cy="14630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16368" y="3428999"/>
            <a:ext cx="36118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FFFFFF"/>
                </a:solidFill>
                <a:latin typeface="Microsoft YaHei"/>
              </a:rPr>
              <a:t>参与超融合数据库时空索引、关系模型和数据服务设计</a:t>
            </a:r>
          </a:p>
        </p:txBody>
      </p:sp>
      <p:sp>
        <p:nvSpPr>
          <p:cNvPr id="37" name="Oval 36"/>
          <p:cNvSpPr/>
          <p:nvPr/>
        </p:nvSpPr>
        <p:spPr>
          <a:xfrm>
            <a:off x="7068312" y="3877056"/>
            <a:ext cx="256032" cy="256032"/>
          </a:xfrm>
          <a:prstGeom prst="ellipse">
            <a:avLst/>
          </a:prstGeom>
          <a:solidFill>
            <a:srgbClr val="24B4E1"/>
          </a:solidFill>
          <a:ln>
            <a:solidFill>
              <a:srgbClr val="24B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68312" y="3922776"/>
            <a:ext cx="256032" cy="14630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Microsoft YaHei"/>
              </a:rPr>
              <a:t>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16368" y="3858768"/>
            <a:ext cx="36118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FFFFFF"/>
                </a:solidFill>
                <a:latin typeface="Microsoft YaHei"/>
              </a:rPr>
              <a:t>面向数字孪生专项建设场景指标、专题图层和智能分析能力</a:t>
            </a:r>
          </a:p>
        </p:txBody>
      </p:sp>
      <p:sp>
        <p:nvSpPr>
          <p:cNvPr id="40" name="Oval 39"/>
          <p:cNvSpPr/>
          <p:nvPr/>
        </p:nvSpPr>
        <p:spPr>
          <a:xfrm>
            <a:off x="7068312" y="4306823"/>
            <a:ext cx="256032" cy="256032"/>
          </a:xfrm>
          <a:prstGeom prst="ellipse">
            <a:avLst/>
          </a:prstGeom>
          <a:solidFill>
            <a:srgbClr val="24B4E1"/>
          </a:solidFill>
          <a:ln>
            <a:solidFill>
              <a:srgbClr val="24B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068312" y="4352543"/>
            <a:ext cx="256032" cy="146304"/>
          </a:xfrm>
          <a:prstGeom prst="rect">
            <a:avLst/>
          </a:prstGeom>
          <a:noFill/>
        </p:spPr>
        <p:txBody>
          <a:bodyPr wrap="none" lIns="36576" rIns="36576" tIns="36576" bIns="36576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750" b="1">
                <a:solidFill>
                  <a:srgbClr val="FFFFFF"/>
                </a:solidFill>
                <a:latin typeface="Microsoft YaHei"/>
              </a:rPr>
              <a:t>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16368" y="4288536"/>
            <a:ext cx="36118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10" b="0">
                <a:solidFill>
                  <a:srgbClr val="FFFFFF"/>
                </a:solidFill>
                <a:latin typeface="Microsoft YaHei"/>
              </a:rPr>
              <a:t>凝练论文、专利、技术资料与可复用示范样例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711696" y="5157216"/>
            <a:ext cx="4846320" cy="640080"/>
          </a:xfrm>
          <a:prstGeom prst="roundRect">
            <a:avLst>
              <a:gd name="adj" fmla="val 8000"/>
            </a:avLst>
          </a:prstGeom>
          <a:solidFill>
            <a:srgbClr val="EEF7FF"/>
          </a:solidFill>
          <a:ln>
            <a:solidFill>
              <a:srgbClr val="DCE6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94576" y="5266944"/>
            <a:ext cx="4498848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04080"/>
                </a:solidFill>
                <a:latin typeface="Microsoft YaHei"/>
              </a:rPr>
              <a:t>阶段工作的核心价值在于形成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94576" y="5504688"/>
            <a:ext cx="4498848" cy="20116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004080"/>
                </a:solidFill>
                <a:latin typeface="Microsoft YaHei"/>
              </a:rPr>
              <a:t>可迁移、可复用、可持续演进的技术体系。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02920" y="6382512"/>
            <a:ext cx="11183112" cy="0"/>
          </a:xfrm>
          <a:prstGeom prst="line">
            <a:avLst/>
          </a:prstGeom>
          <a:ln w="7620">
            <a:solidFill>
              <a:srgbClr val="DC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502920" y="6455664"/>
            <a:ext cx="5120640" cy="16459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5B6B7E"/>
                </a:solidFill>
                <a:latin typeface="Microsoft YaHei"/>
              </a:rPr>
              <a:t>从阶段积累走向体系化能力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408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11.png"/>
          <p:cNvPicPr>
            <a:picLocks noChangeAspect="1"/>
          </p:cNvPicPr>
          <p:nvPr/>
        </p:nvPicPr>
        <p:blipFill>
          <a:blip r:embed="rId2"/>
          <a:srcRect l="12779" r="12779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4080"/>
          </a:solidFill>
          <a:ln>
            <a:solidFill>
              <a:srgbClr val="004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938528"/>
            <a:ext cx="2926080" cy="713232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</a:rPr>
              <a:t>谢谢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2761488"/>
            <a:ext cx="219456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EE1FF"/>
                </a:solidFill>
                <a:latin typeface="Microsoft YaHei"/>
              </a:rPr>
              <a:t>THANK YOU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" y="3310128"/>
            <a:ext cx="475488" cy="45720"/>
          </a:xfrm>
          <a:prstGeom prst="rect">
            <a:avLst/>
          </a:prstGeom>
          <a:solidFill>
            <a:srgbClr val="EB233A"/>
          </a:solidFill>
          <a:ln>
            <a:solidFill>
              <a:srgbClr val="EB23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694176"/>
            <a:ext cx="5669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推动建模能力向数据资产能力拓展，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4050791"/>
            <a:ext cx="5669280" cy="292608"/>
          </a:xfrm>
          <a:prstGeom prst="rect">
            <a:avLst/>
          </a:prstGeom>
          <a:noFill/>
        </p:spPr>
        <p:txBody>
          <a:bodyPr wrap="none" lIns="36576" rIns="36576" tIns="36576" bIns="36576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</a:rPr>
              <a:t>支撑城市数字孪生与专项应用建设。</a:t>
            </a:r>
          </a:p>
        </p:txBody>
      </p:sp>
      <p:pic>
        <p:nvPicPr>
          <p:cNvPr id="9" name="Picture 8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2912" y="6144768"/>
            <a:ext cx="2084831" cy="18531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