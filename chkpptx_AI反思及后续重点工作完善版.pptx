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
  </p:handoutMasterIdLst>
  <p:sldIdLst>
    <p:sldId id="256" r:id="rId3"/>
    <p:sldId id="531" r:id="rId5"/>
    <p:sldId id="540" r:id="rId6"/>
    <p:sldId id="600" r:id="rId7"/>
    <p:sldId id="587" r:id="rId8"/>
    <p:sldId id="601" r:id="rId9"/>
    <p:sldId id="603" r:id="rId10"/>
    <p:sldId id="604" r:id="rId11"/>
    <p:sldId id="605" r:id="rId12"/>
    <p:sldId id="602" r:id="rId13"/>
    <p:sldId id="586" r:id="rId14"/>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84" userDrawn="1">
          <p15:clr>
            <a:srgbClr val="A4A3A4"/>
          </p15:clr>
        </p15:guide>
        <p15:guide id="2" pos="3779" userDrawn="1">
          <p15:clr>
            <a:srgbClr val="A4A3A4"/>
          </p15:clr>
        </p15:guide>
        <p15:guide id="3" pos="231" userDrawn="1">
          <p15:clr>
            <a:srgbClr val="A4A3A4"/>
          </p15:clr>
        </p15:guide>
        <p15:guide id="4" pos="7488" userDrawn="1">
          <p15:clr>
            <a:srgbClr val="A4A3A4"/>
          </p15:clr>
        </p15:guide>
        <p15:guide id="5" orient="horz" pos="418" userDrawn="1">
          <p15:clr>
            <a:srgbClr val="A4A3A4"/>
          </p15:clr>
        </p15:guide>
        <p15:guide id="6" orient="horz" pos="462" userDrawn="1">
          <p15:clr>
            <a:srgbClr val="A4A3A4"/>
          </p15:clr>
        </p15:guide>
        <p15:guide id="8" orient="horz" pos="40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 id="3" name="曹宏坤" initials="authorId_697021710"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92400"/>
    <a:srgbClr val="0070D8"/>
    <a:srgbClr val="E8F2FB"/>
    <a:srgbClr val="E9F3FC"/>
    <a:srgbClr val="E2E2E2"/>
    <a:srgbClr val="EDF3FA"/>
    <a:srgbClr val="EDF8FE"/>
    <a:srgbClr val="ECFBFD"/>
    <a:srgbClr val="EDF5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showGuides="1">
      <p:cViewPr>
        <p:scale>
          <a:sx n="66" d="100"/>
          <a:sy n="66" d="100"/>
        </p:scale>
        <p:origin x="246" y="618"/>
      </p:cViewPr>
      <p:guideLst>
        <p:guide orient="horz" pos="1984"/>
        <p:guide pos="3779"/>
        <p:guide pos="231"/>
        <p:guide pos="7488"/>
        <p:guide orient="horz" pos="418"/>
        <p:guide orient="horz" pos="462"/>
        <p:guide orient="horz" pos="40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 Id="rId19" Type="http://schemas.openxmlformats.org/officeDocument/2006/relationships/commentAuthors" Target="commentAuthors.xml"/><Relationship Id="rId20" Type="http://schemas.openxmlformats.org/officeDocument/2006/relationships/tags" Target="tags/tag159.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6-06-23T05:06:30.752" idx="1">
    <p:pos x="10" y="10"/>
    <p:text>“本次汇报分四个部分。首先介绍目前已经开展的 CIM 自动化建模工作，这是后续技术路线的基础；第二说明总体技术路线；第三结合目前工作中暴露的问题，梳理后续需要重点突破的方向；最后重点汇报下一阶段在超融合数据库研发和数字孪生专项课题方面的工作设想。”</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当前成果看，规则化建模的基本链路已经能够贯通，但也暴露出四方面问题。第一，多源数据的字段、分类和精度仍需要大量人工理解；第二，专业规范和经验规则转化为配置的成本较高；第三，模型质量问题主要依靠人工浏览发现；第四，规则依据和问题处理经验尚未形成系统化知识沉淀。下一步可以考虑引入人工智能，但需要明确边界。AI更适合承担规范理解、数据映射、异常发现、规则草案生成和知识检索等辅助工作；确定性的几何生成、对象编码以及正式成果发布，仍应由规则引擎和专家审核控制。最终形成可解释、可追溯、人在回路的人机协同机制。</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重点工作围绕四条主线推进。第一，继续完善共性自动化建模能力，既要深化公共道路和区间隧道，也要逐步拓展地下管线、公交站和地铁站点，并统一对象编码、CIM分级、专业属性和空间关系。第二，推进超融合数据库研发，重点研究统一对象模型、时空复合索引、关系与版本模型以及标准数据服务。第三，引入人工智能增强规范解析、数据治理、模型检查和知识复用，但保持人在回路，不替代确定性规则与几何生成。第四，以数字孪生专项牵引场景、数据、指标和专题应用建设。推进次序上，近期先稳定标准和规则，中期形成数据库与AI辅助工具链，持续通过数字孪生专项促进各项能力协同演进。</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tags" Target="../tags/tag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07643" y="7380248"/>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11643" y="7380248"/>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573243" y="7380248"/>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ea"/>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slideLayout" Target="../slideLayouts/slideLayout1.xml"/><Relationship Id="rId30" Type="http://schemas.openxmlformats.org/officeDocument/2006/relationships/notesSlide" Target="../notesSlides/notesSlide2.xml"/><Relationship Id="rId31"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image" Target="../media/image6.png"/><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tags" Target="../tags/tag39.xml"/><Relationship Id="rId9" Type="http://schemas.openxmlformats.org/officeDocument/2006/relationships/tags" Target="../tags/tag40.xml"/><Relationship Id="rId10" Type="http://schemas.openxmlformats.org/officeDocument/2006/relationships/tags" Target="../tags/tag41.xml"/><Relationship Id="rId11" Type="http://schemas.openxmlformats.org/officeDocument/2006/relationships/tags" Target="../tags/tag42.xml"/><Relationship Id="rId12" Type="http://schemas.openxmlformats.org/officeDocument/2006/relationships/tags" Target="../tags/tag43.xml"/><Relationship Id="rId13" Type="http://schemas.openxmlformats.org/officeDocument/2006/relationships/tags" Target="../tags/tag44.xml"/><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 Id="rId7" Type="http://schemas.openxmlformats.org/officeDocument/2006/relationships/tags" Target="../tags/tag48.xml"/><Relationship Id="rId8" Type="http://schemas.openxmlformats.org/officeDocument/2006/relationships/tags" Target="../tags/tag49.xml"/><Relationship Id="rId9" Type="http://schemas.openxmlformats.org/officeDocument/2006/relationships/tags" Target="../tags/tag50.xml"/><Relationship Id="rId10" Type="http://schemas.openxmlformats.org/officeDocument/2006/relationships/tags" Target="../tags/tag51.xml"/><Relationship Id="rId11" Type="http://schemas.openxmlformats.org/officeDocument/2006/relationships/tags" Target="../tags/tag52.xml"/><Relationship Id="rId12" Type="http://schemas.openxmlformats.org/officeDocument/2006/relationships/tags" Target="../tags/tag53.xml"/><Relationship Id="rId13" Type="http://schemas.openxmlformats.org/officeDocument/2006/relationships/tags" Target="../tags/tag54.xml"/><Relationship Id="rId14" Type="http://schemas.openxmlformats.org/officeDocument/2006/relationships/tags" Target="../tags/tag55.xml"/><Relationship Id="rId15" Type="http://schemas.openxmlformats.org/officeDocument/2006/relationships/tags" Target="../tags/tag56.xml"/><Relationship Id="rId16" Type="http://schemas.openxmlformats.org/officeDocument/2006/relationships/tags" Target="../tags/tag57.xml"/><Relationship Id="rId17" Type="http://schemas.openxmlformats.org/officeDocument/2006/relationships/tags" Target="../tags/tag58.xml"/><Relationship Id="rId18" Type="http://schemas.openxmlformats.org/officeDocument/2006/relationships/tags" Target="../tags/tag59.xml"/><Relationship Id="rId19" Type="http://schemas.openxmlformats.org/officeDocument/2006/relationships/tags" Target="../tags/tag60.xml"/><Relationship Id="rId20" Type="http://schemas.openxmlformats.org/officeDocument/2006/relationships/tags" Target="../tags/tag61.xml"/><Relationship Id="rId21" Type="http://schemas.openxmlformats.org/officeDocument/2006/relationships/tags" Target="../tags/tag62.xml"/><Relationship Id="rId22" Type="http://schemas.openxmlformats.org/officeDocument/2006/relationships/tags" Target="../tags/tag63.xml"/><Relationship Id="rId23" Type="http://schemas.openxmlformats.org/officeDocument/2006/relationships/tags" Target="../tags/tag64.xml"/><Relationship Id="rId24" Type="http://schemas.openxmlformats.org/officeDocument/2006/relationships/tags" Target="../tags/tag65.xml"/><Relationship Id="rId25" Type="http://schemas.openxmlformats.org/officeDocument/2006/relationships/tags" Target="../tags/tag66.xml"/><Relationship Id="rId26" Type="http://schemas.openxmlformats.org/officeDocument/2006/relationships/tags" Target="../tags/tag67.xml"/><Relationship Id="rId27" Type="http://schemas.openxmlformats.org/officeDocument/2006/relationships/tags" Target="../tags/tag68.xml"/><Relationship Id="rId28" Type="http://schemas.openxmlformats.org/officeDocument/2006/relationships/tags" Target="../tags/tag69.xml"/><Relationship Id="rId29" Type="http://schemas.openxmlformats.org/officeDocument/2006/relationships/slideLayout" Target="../slideLayouts/slideLayout1.xml"/><Relationship Id="rId30"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70.xml"/><Relationship Id="rId5" Type="http://schemas.openxmlformats.org/officeDocument/2006/relationships/tags" Target="../tags/tag71.xml"/><Relationship Id="rId6" Type="http://schemas.openxmlformats.org/officeDocument/2006/relationships/tags" Target="../tags/tag72.xml"/><Relationship Id="rId7" Type="http://schemas.openxmlformats.org/officeDocument/2006/relationships/tags" Target="../tags/tag73.xml"/><Relationship Id="rId8" Type="http://schemas.openxmlformats.org/officeDocument/2006/relationships/tags" Target="../tags/tag74.xml"/><Relationship Id="rId9" Type="http://schemas.openxmlformats.org/officeDocument/2006/relationships/tags" Target="../tags/tag75.xml"/><Relationship Id="rId10" Type="http://schemas.openxmlformats.org/officeDocument/2006/relationships/tags" Target="../tags/tag76.xml"/><Relationship Id="rId11" Type="http://schemas.openxmlformats.org/officeDocument/2006/relationships/tags" Target="../tags/tag77.xml"/><Relationship Id="rId12" Type="http://schemas.openxmlformats.org/officeDocument/2006/relationships/tags" Target="../tags/tag78.xml"/><Relationship Id="rId13" Type="http://schemas.openxmlformats.org/officeDocument/2006/relationships/tags" Target="../tags/tag79.xml"/><Relationship Id="rId14" Type="http://schemas.openxmlformats.org/officeDocument/2006/relationships/tags" Target="../tags/tag80.xml"/><Relationship Id="rId15" Type="http://schemas.openxmlformats.org/officeDocument/2006/relationships/tags" Target="../tags/tag81.xml"/><Relationship Id="rId16" Type="http://schemas.openxmlformats.org/officeDocument/2006/relationships/tags" Target="../tags/tag82.xml"/><Relationship Id="rId17" Type="http://schemas.openxmlformats.org/officeDocument/2006/relationships/tags" Target="../tags/tag83.xml"/><Relationship Id="rId18" Type="http://schemas.openxmlformats.org/officeDocument/2006/relationships/tags" Target="../tags/tag84.xml"/><Relationship Id="rId19" Type="http://schemas.openxmlformats.org/officeDocument/2006/relationships/tags" Target="../tags/tag85.xml"/><Relationship Id="rId20" Type="http://schemas.openxmlformats.org/officeDocument/2006/relationships/tags" Target="../tags/tag86.xml"/><Relationship Id="rId21" Type="http://schemas.openxmlformats.org/officeDocument/2006/relationships/tags" Target="../tags/tag87.xml"/><Relationship Id="rId22" Type="http://schemas.openxmlformats.org/officeDocument/2006/relationships/tags" Target="../tags/tag88.xml"/><Relationship Id="rId23" Type="http://schemas.openxmlformats.org/officeDocument/2006/relationships/tags" Target="../tags/tag89.xml"/><Relationship Id="rId24" Type="http://schemas.openxmlformats.org/officeDocument/2006/relationships/tags" Target="../tags/tag90.xml"/><Relationship Id="rId25" Type="http://schemas.openxmlformats.org/officeDocument/2006/relationships/tags" Target="../tags/tag91.xml"/><Relationship Id="rId26" Type="http://schemas.openxmlformats.org/officeDocument/2006/relationships/tags" Target="../tags/tag92.xml"/><Relationship Id="rId27" Type="http://schemas.openxmlformats.org/officeDocument/2006/relationships/tags" Target="../tags/tag93.xml"/><Relationship Id="rId28" Type="http://schemas.openxmlformats.org/officeDocument/2006/relationships/tags" Target="../tags/tag94.xml"/><Relationship Id="rId29"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tags" Target="../tags/tag96.xml"/><Relationship Id="rId3" Type="http://schemas.openxmlformats.org/officeDocument/2006/relationships/tags" Target="../tags/tag97.xml"/><Relationship Id="rId4" Type="http://schemas.openxmlformats.org/officeDocument/2006/relationships/tags" Target="../tags/tag98.xml"/><Relationship Id="rId5" Type="http://schemas.openxmlformats.org/officeDocument/2006/relationships/tags" Target="../tags/tag99.xml"/><Relationship Id="rId6" Type="http://schemas.openxmlformats.org/officeDocument/2006/relationships/tags" Target="../tags/tag100.xml"/><Relationship Id="rId7" Type="http://schemas.openxmlformats.org/officeDocument/2006/relationships/image" Target="../media/image6.png"/><Relationship Id="rId8" Type="http://schemas.openxmlformats.org/officeDocument/2006/relationships/tags" Target="../tags/tag101.xml"/><Relationship Id="rId9" Type="http://schemas.openxmlformats.org/officeDocument/2006/relationships/tags" Target="../tags/tag102.xml"/><Relationship Id="rId10" Type="http://schemas.openxmlformats.org/officeDocument/2006/relationships/tags" Target="../tags/tag103.xml"/><Relationship Id="rId11" Type="http://schemas.openxmlformats.org/officeDocument/2006/relationships/tags" Target="../tags/tag104.xml"/><Relationship Id="rId12" Type="http://schemas.openxmlformats.org/officeDocument/2006/relationships/tags" Target="../tags/tag105.xml"/><Relationship Id="rId13" Type="http://schemas.openxmlformats.org/officeDocument/2006/relationships/tags" Target="../tags/tag106.xml"/><Relationship Id="rId14" Type="http://schemas.openxmlformats.org/officeDocument/2006/relationships/tags" Target="../tags/tag107.xml"/><Relationship Id="rId15" Type="http://schemas.openxmlformats.org/officeDocument/2006/relationships/tags" Target="../tags/tag108.xml"/><Relationship Id="rId16" Type="http://schemas.openxmlformats.org/officeDocument/2006/relationships/tags" Target="../tags/tag109.xml"/><Relationship Id="rId17" Type="http://schemas.openxmlformats.org/officeDocument/2006/relationships/tags" Target="../tags/tag110.xml"/><Relationship Id="rId18" Type="http://schemas.openxmlformats.org/officeDocument/2006/relationships/tags" Target="../tags/tag111.xml"/><Relationship Id="rId19" Type="http://schemas.openxmlformats.org/officeDocument/2006/relationships/tags" Target="../tags/tag112.xml"/><Relationship Id="rId20" Type="http://schemas.openxmlformats.org/officeDocument/2006/relationships/tags" Target="../tags/tag113.xml"/><Relationship Id="rId21" Type="http://schemas.openxmlformats.org/officeDocument/2006/relationships/image" Target="../media/image8.png"/><Relationship Id="rId22" Type="http://schemas.openxmlformats.org/officeDocument/2006/relationships/tags" Target="../tags/tag114.xml"/><Relationship Id="rId23" Type="http://schemas.openxmlformats.org/officeDocument/2006/relationships/image" Target="../media/image9.png"/><Relationship Id="rId24" Type="http://schemas.openxmlformats.org/officeDocument/2006/relationships/image" Target="../media/image10.png"/><Relationship Id="rId25"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ags" Target="../tags/tag115.xml"/><Relationship Id="rId3" Type="http://schemas.openxmlformats.org/officeDocument/2006/relationships/tags" Target="../tags/tag116.xml"/><Relationship Id="rId4" Type="http://schemas.openxmlformats.org/officeDocument/2006/relationships/tags" Target="../tags/tag117.xml"/><Relationship Id="rId5" Type="http://schemas.openxmlformats.org/officeDocument/2006/relationships/tags" Target="../tags/tag118.xml"/><Relationship Id="rId6" Type="http://schemas.openxmlformats.org/officeDocument/2006/relationships/tags" Target="../tags/tag119.xml"/><Relationship Id="rId7" Type="http://schemas.openxmlformats.org/officeDocument/2006/relationships/tags" Target="../tags/tag120.xml"/><Relationship Id="rId8" Type="http://schemas.openxmlformats.org/officeDocument/2006/relationships/tags" Target="../tags/tag121.xml"/><Relationship Id="rId9" Type="http://schemas.openxmlformats.org/officeDocument/2006/relationships/tags" Target="../tags/tag122.xml"/><Relationship Id="rId10" Type="http://schemas.openxmlformats.org/officeDocument/2006/relationships/tags" Target="../tags/tag123.xml"/><Relationship Id="rId11" Type="http://schemas.openxmlformats.org/officeDocument/2006/relationships/tags" Target="../tags/tag124.xml"/><Relationship Id="rId12" Type="http://schemas.openxmlformats.org/officeDocument/2006/relationships/tags" Target="../tags/tag125.xml"/><Relationship Id="rId13" Type="http://schemas.openxmlformats.org/officeDocument/2006/relationships/tags" Target="../tags/tag126.xml"/><Relationship Id="rId14" Type="http://schemas.openxmlformats.org/officeDocument/2006/relationships/tags" Target="../tags/tag127.xml"/><Relationship Id="rId15" Type="http://schemas.openxmlformats.org/officeDocument/2006/relationships/tags" Target="../tags/tag128.xml"/><Relationship Id="rId16" Type="http://schemas.openxmlformats.org/officeDocument/2006/relationships/tags" Target="../tags/tag129.xml"/><Relationship Id="rId17" Type="http://schemas.openxmlformats.org/officeDocument/2006/relationships/tags" Target="../tags/tag130.xml"/><Relationship Id="rId18" Type="http://schemas.openxmlformats.org/officeDocument/2006/relationships/tags" Target="../tags/tag131.xml"/><Relationship Id="rId19" Type="http://schemas.openxmlformats.org/officeDocument/2006/relationships/tags" Target="../tags/tag132.xml"/><Relationship Id="rId20" Type="http://schemas.openxmlformats.org/officeDocument/2006/relationships/tags" Target="../tags/tag133.xml"/><Relationship Id="rId21" Type="http://schemas.openxmlformats.org/officeDocument/2006/relationships/slideLayout" Target="../slideLayouts/slideLayout1.xml"/><Relationship Id="rId22" Type="http://schemas.openxmlformats.org/officeDocument/2006/relationships/image" Target="../media/image6.png"/><Relationship Id="rId2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134.xml"/><Relationship Id="rId5" Type="http://schemas.openxmlformats.org/officeDocument/2006/relationships/tags" Target="../tags/tag135.xml"/><Relationship Id="rId6" Type="http://schemas.openxmlformats.org/officeDocument/2006/relationships/tags" Target="../tags/tag136.xml"/><Relationship Id="rId7" Type="http://schemas.openxmlformats.org/officeDocument/2006/relationships/tags" Target="../tags/tag137.xml"/><Relationship Id="rId8" Type="http://schemas.openxmlformats.org/officeDocument/2006/relationships/tags" Target="../tags/tag138.xml"/><Relationship Id="rId9" Type="http://schemas.openxmlformats.org/officeDocument/2006/relationships/tags" Target="../tags/tag139.xml"/><Relationship Id="rId10" Type="http://schemas.openxmlformats.org/officeDocument/2006/relationships/tags" Target="../tags/tag140.xml"/><Relationship Id="rId11" Type="http://schemas.openxmlformats.org/officeDocument/2006/relationships/tags" Target="../tags/tag141.xml"/><Relationship Id="rId12" Type="http://schemas.openxmlformats.org/officeDocument/2006/relationships/tags" Target="../tags/tag142.xml"/><Relationship Id="rId13" Type="http://schemas.openxmlformats.org/officeDocument/2006/relationships/tags" Target="../tags/tag143.xml"/><Relationship Id="rId14" Type="http://schemas.openxmlformats.org/officeDocument/2006/relationships/tags" Target="../tags/tag144.xml"/><Relationship Id="rId15" Type="http://schemas.openxmlformats.org/officeDocument/2006/relationships/tags" Target="../tags/tag145.xml"/><Relationship Id="rId16" Type="http://schemas.openxmlformats.org/officeDocument/2006/relationships/tags" Target="../tags/tag146.xml"/><Relationship Id="rId17" Type="http://schemas.openxmlformats.org/officeDocument/2006/relationships/tags" Target="../tags/tag147.xml"/><Relationship Id="rId18" Type="http://schemas.openxmlformats.org/officeDocument/2006/relationships/tags" Target="../tags/tag148.xml"/><Relationship Id="rId19" Type="http://schemas.openxmlformats.org/officeDocument/2006/relationships/tags" Target="../tags/tag149.xml"/><Relationship Id="rId20" Type="http://schemas.openxmlformats.org/officeDocument/2006/relationships/tags" Target="../tags/tag150.xml"/><Relationship Id="rId21" Type="http://schemas.openxmlformats.org/officeDocument/2006/relationships/tags" Target="../tags/tag151.xml"/><Relationship Id="rId22" Type="http://schemas.openxmlformats.org/officeDocument/2006/relationships/tags" Target="../tags/tag152.xml"/><Relationship Id="rId23" Type="http://schemas.openxmlformats.org/officeDocument/2006/relationships/tags" Target="../tags/tag153.xml"/><Relationship Id="rId24" Type="http://schemas.openxmlformats.org/officeDocument/2006/relationships/tags" Target="../tags/tag154.xml"/><Relationship Id="rId25" Type="http://schemas.openxmlformats.org/officeDocument/2006/relationships/tags" Target="../tags/tag155.xml"/><Relationship Id="rId26" Type="http://schemas.openxmlformats.org/officeDocument/2006/relationships/tags" Target="../tags/tag156.xml"/><Relationship Id="rId27" Type="http://schemas.openxmlformats.org/officeDocument/2006/relationships/tags" Target="../tags/tag157.xml"/><Relationship Id="rId28" Type="http://schemas.openxmlformats.org/officeDocument/2006/relationships/tags" Target="../tags/tag158.xml"/><Relationship Id="rId29" Type="http://schemas.openxmlformats.org/officeDocument/2006/relationships/slideLayout" Target="../slideLayouts/slideLayout1.xml"/><Relationship Id="rId30" Type="http://schemas.openxmlformats.org/officeDocument/2006/relationships/image" Target="../media/image6.png"/><Relationship Id="rId31"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0"/>
            <a:ext cx="12192000" cy="5484466"/>
          </a:xfrm>
          <a:prstGeom prst="rect">
            <a:avLst/>
          </a:prstGeom>
        </p:spPr>
      </p:pic>
      <p:pic>
        <p:nvPicPr>
          <p:cNvPr id="6" name="picture 6"/>
          <p:cNvPicPr>
            <a:picLocks noChangeAspect="1"/>
          </p:cNvPicPr>
          <p:nvPr/>
        </p:nvPicPr>
        <p:blipFill>
          <a:blip r:embed="rId2"/>
          <a:stretch>
            <a:fillRect/>
          </a:stretch>
        </p:blipFill>
        <p:spPr>
          <a:xfrm rot="21600000">
            <a:off x="430000" y="6170676"/>
            <a:ext cx="2993549" cy="256031"/>
          </a:xfrm>
          <a:prstGeom prst="rect">
            <a:avLst/>
          </a:prstGeom>
        </p:spPr>
      </p:pic>
      <p:sp>
        <p:nvSpPr>
          <p:cNvPr id="8" name="textbox 8"/>
          <p:cNvSpPr/>
          <p:nvPr/>
        </p:nvSpPr>
        <p:spPr>
          <a:xfrm>
            <a:off x="10516408" y="6190350"/>
            <a:ext cx="1333500" cy="25971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40970" indent="-128270" algn="l" rtl="0" eaLnBrk="0">
              <a:lnSpc>
                <a:spcPct val="96000"/>
              </a:lnSpc>
            </a:pPr>
            <a:r>
              <a:rPr sz="800" kern="0" spc="0" dirty="0">
                <a:solidFill>
                  <a:srgbClr val="A6A6A6">
                    <a:alpha val="100000"/>
                  </a:srgbClr>
                </a:solidFill>
                <a:cs typeface="+mn-ea"/>
                <a:sym typeface="+mn-lt"/>
              </a:rPr>
              <a:t>让城市更智慧</a:t>
            </a:r>
            <a:r>
              <a:rPr sz="800" kern="0" spc="110" dirty="0">
                <a:solidFill>
                  <a:srgbClr val="A6A6A6">
                    <a:alpha val="100000"/>
                  </a:srgbClr>
                </a:solidFill>
                <a:cs typeface="+mn-ea"/>
                <a:sym typeface="+mn-lt"/>
              </a:rPr>
              <a:t>  </a:t>
            </a:r>
            <a:r>
              <a:rPr sz="800" kern="0" spc="0" dirty="0">
                <a:solidFill>
                  <a:srgbClr val="A6A6A6">
                    <a:alpha val="100000"/>
                  </a:srgbClr>
                </a:solidFill>
                <a:cs typeface="+mn-ea"/>
                <a:sym typeface="+mn-lt"/>
              </a:rPr>
              <a:t>让生活</a:t>
            </a:r>
            <a:r>
              <a:rPr sz="800" kern="0" spc="-10" dirty="0">
                <a:solidFill>
                  <a:srgbClr val="A6A6A6">
                    <a:alpha val="100000"/>
                  </a:srgbClr>
                </a:solidFill>
                <a:cs typeface="+mn-ea"/>
                <a:sym typeface="+mn-lt"/>
              </a:rPr>
              <a:t>更美好</a:t>
            </a:r>
            <a:r>
              <a:rPr sz="800" kern="0" spc="10" dirty="0">
                <a:solidFill>
                  <a:srgbClr val="A6A6A6">
                    <a:alpha val="100000"/>
                  </a:srgbClr>
                </a:solidFill>
                <a:cs typeface="+mn-ea"/>
                <a:sym typeface="+mn-lt"/>
              </a:rPr>
              <a:t> </a:t>
            </a:r>
            <a:r>
              <a:rPr sz="800" kern="0" spc="-10" dirty="0">
                <a:solidFill>
                  <a:srgbClr val="A6A6A6">
                    <a:alpha val="100000"/>
                  </a:srgbClr>
                </a:solidFill>
                <a:cs typeface="+mn-ea"/>
                <a:sym typeface="+mn-lt"/>
              </a:rPr>
              <a:t>Smarter City</a:t>
            </a:r>
            <a:r>
              <a:rPr sz="800" kern="0" spc="20" dirty="0">
                <a:solidFill>
                  <a:srgbClr val="A6A6A6">
                    <a:alpha val="100000"/>
                  </a:srgbClr>
                </a:solidFill>
                <a:cs typeface="+mn-ea"/>
                <a:sym typeface="+mn-lt"/>
              </a:rPr>
              <a:t>   </a:t>
            </a:r>
            <a:r>
              <a:rPr sz="800" kern="0" spc="-10" dirty="0">
                <a:solidFill>
                  <a:srgbClr val="A6A6A6">
                    <a:alpha val="100000"/>
                  </a:srgbClr>
                </a:solidFill>
                <a:cs typeface="+mn-ea"/>
                <a:sym typeface="+mn-lt"/>
              </a:rPr>
              <a:t>Better</a:t>
            </a:r>
            <a:r>
              <a:rPr sz="800" kern="0" spc="80" dirty="0">
                <a:solidFill>
                  <a:srgbClr val="A6A6A6">
                    <a:alpha val="100000"/>
                  </a:srgbClr>
                </a:solidFill>
                <a:cs typeface="+mn-ea"/>
                <a:sym typeface="+mn-lt"/>
              </a:rPr>
              <a:t> </a:t>
            </a:r>
            <a:r>
              <a:rPr sz="800" kern="0" spc="-10" dirty="0">
                <a:solidFill>
                  <a:srgbClr val="A6A6A6">
                    <a:alpha val="100000"/>
                  </a:srgbClr>
                </a:solidFill>
                <a:cs typeface="+mn-ea"/>
                <a:sym typeface="+mn-lt"/>
              </a:rPr>
              <a:t>Lif</a:t>
            </a:r>
            <a:r>
              <a:rPr sz="800" kern="0" spc="-20" dirty="0">
                <a:solidFill>
                  <a:srgbClr val="A6A6A6">
                    <a:alpha val="100000"/>
                  </a:srgbClr>
                </a:solidFill>
                <a:cs typeface="+mn-ea"/>
                <a:sym typeface="+mn-lt"/>
              </a:rPr>
              <a:t>e</a:t>
            </a:r>
            <a:endParaRPr sz="800" dirty="0">
              <a:cs typeface="+mn-ea"/>
              <a:sym typeface="+mn-lt"/>
            </a:endParaRPr>
          </a:p>
        </p:txBody>
      </p:sp>
      <p:sp>
        <p:nvSpPr>
          <p:cNvPr id="3" name="文本框 2"/>
          <p:cNvSpPr txBox="1"/>
          <p:nvPr/>
        </p:nvSpPr>
        <p:spPr>
          <a:xfrm>
            <a:off x="467360" y="2907030"/>
            <a:ext cx="9841230" cy="2020570"/>
          </a:xfrm>
          <a:prstGeom prst="rect">
            <a:avLst/>
          </a:prstGeom>
          <a:noFill/>
        </p:spPr>
        <p:txBody>
          <a:bodyPr wrap="square" rtlCol="0" anchor="t">
            <a:spAutoFit/>
          </a:bodyPr>
          <a:lstStyle/>
          <a:p>
            <a:pPr algn="l" rtl="0" eaLnBrk="0">
              <a:lnSpc>
                <a:spcPct val="81000"/>
              </a:lnSpc>
            </a:pPr>
            <a:endParaRPr sz="100" dirty="0">
              <a:cs typeface="+mn-ea"/>
              <a:sym typeface="+mn-lt"/>
            </a:endParaRPr>
          </a:p>
          <a:p>
            <a:pPr algn="l" rtl="0" eaLnBrk="0">
              <a:lnSpc>
                <a:spcPct val="101000"/>
              </a:lnSpc>
            </a:pPr>
            <a:r>
              <a:rPr lang="zh-CN" altLang="en-US" sz="6000" b="1" kern="0" spc="80" dirty="0">
                <a:solidFill>
                  <a:srgbClr val="FFFFFF">
                    <a:alpha val="100000"/>
                  </a:srgbClr>
                </a:solidFill>
                <a:cs typeface="+mn-ea"/>
                <a:sym typeface="+mn-lt"/>
              </a:rPr>
              <a:t>工作汇报</a:t>
            </a:r>
            <a:endParaRPr sz="2000" dirty="0">
              <a:cs typeface="+mn-ea"/>
              <a:sym typeface="+mn-lt"/>
            </a:endParaRPr>
          </a:p>
          <a:p>
            <a:pPr algn="l" rtl="0" eaLnBrk="0">
              <a:lnSpc>
                <a:spcPct val="101000"/>
              </a:lnSpc>
            </a:pPr>
            <a:endParaRPr sz="1000" dirty="0">
              <a:cs typeface="+mn-ea"/>
              <a:sym typeface="+mn-lt"/>
            </a:endParaRPr>
          </a:p>
          <a:p>
            <a:pPr algn="l" rtl="0" eaLnBrk="0">
              <a:lnSpc>
                <a:spcPct val="101000"/>
              </a:lnSpc>
            </a:pPr>
            <a:endParaRPr sz="1000" dirty="0">
              <a:cs typeface="+mn-ea"/>
              <a:sym typeface="+mn-lt"/>
            </a:endParaRPr>
          </a:p>
          <a:p>
            <a:pPr algn="l" rtl="0" eaLnBrk="0">
              <a:lnSpc>
                <a:spcPct val="115000"/>
              </a:lnSpc>
            </a:pPr>
            <a:endParaRPr sz="500" dirty="0">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汇报人</a:t>
            </a:r>
            <a:r>
              <a:rPr lang="en-US" altLang="zh-CN" sz="2000" kern="0" spc="80" dirty="0">
                <a:solidFill>
                  <a:srgbClr val="FFFFFF">
                    <a:alpha val="100000"/>
                  </a:srgbClr>
                </a:solidFill>
                <a:cs typeface="+mn-ea"/>
                <a:sym typeface="+mn-lt"/>
              </a:rPr>
              <a:t>：</a:t>
            </a:r>
            <a:r>
              <a:rPr lang="zh-CN" altLang="en-US" sz="2000" kern="0" spc="80" dirty="0">
                <a:solidFill>
                  <a:srgbClr val="FFFFFF">
                    <a:alpha val="100000"/>
                  </a:srgbClr>
                </a:solidFill>
                <a:cs typeface="+mn-ea"/>
                <a:sym typeface="+mn-lt"/>
              </a:rPr>
              <a:t>曹宏坤</a:t>
            </a:r>
            <a:endParaRPr lang="zh-CN" altLang="en-US" sz="2000" kern="0" spc="80" dirty="0">
              <a:solidFill>
                <a:srgbClr val="FFFFFF">
                  <a:alpha val="100000"/>
                </a:srgbClr>
              </a:solidFill>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日</a:t>
            </a:r>
            <a:r>
              <a:rPr lang="en-US" altLang="zh-CN" sz="2000" kern="0" spc="80" dirty="0">
                <a:solidFill>
                  <a:srgbClr val="FFFFFF">
                    <a:alpha val="100000"/>
                  </a:srgbClr>
                </a:solidFill>
                <a:cs typeface="+mn-ea"/>
                <a:sym typeface="+mn-lt"/>
              </a:rPr>
              <a:t>   </a:t>
            </a:r>
            <a:r>
              <a:rPr lang="zh-CN" altLang="en-US" sz="2000" kern="0" spc="80" dirty="0">
                <a:solidFill>
                  <a:srgbClr val="FFFFFF">
                    <a:alpha val="100000"/>
                  </a:srgbClr>
                </a:solidFill>
                <a:cs typeface="+mn-ea"/>
                <a:sym typeface="+mn-lt"/>
              </a:rPr>
              <a:t>期</a:t>
            </a:r>
            <a:r>
              <a:rPr lang="en-US" altLang="zh-CN" sz="2000" kern="0" spc="80" dirty="0">
                <a:solidFill>
                  <a:srgbClr val="FFFFFF">
                    <a:alpha val="100000"/>
                  </a:srgbClr>
                </a:solidFill>
                <a:cs typeface="+mn-ea"/>
                <a:sym typeface="+mn-lt"/>
              </a:rPr>
              <a:t>：2026.06.22</a:t>
            </a:r>
            <a:endParaRPr lang="en-US" altLang="zh-CN" sz="2000" kern="0" spc="80" dirty="0">
              <a:solidFill>
                <a:srgbClr val="FFFFFF">
                  <a:alpha val="100000"/>
                </a:srgbClr>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4148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rPr>
                <a:t>目前工作</a:t>
              </a:r>
              <a:r>
                <a:rPr lang="zh-CN" altLang="en-US" sz="2400" b="1" dirty="0">
                  <a:solidFill>
                    <a:schemeClr val="bg1"/>
                  </a:solidFill>
                </a:rPr>
                <a:t>基础</a:t>
              </a:r>
              <a:endParaRPr lang="zh-CN" altLang="en-US" sz="2400" b="1" dirty="0">
                <a:solidFill>
                  <a:schemeClr val="bg1"/>
                </a:solidFill>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01</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占位符 43"/>
            <p:cNvSpPr txBox="1"/>
            <p:nvPr>
              <p:custDataLst>
                <p:tags r:id="rId12"/>
              </p:custDataLst>
            </p:nvPr>
          </p:nvSpPr>
          <p:spPr>
            <a:xfrm>
              <a:off x="8228235" y="2741757"/>
              <a:ext cx="2769870" cy="368935"/>
            </a:xfrm>
            <a:prstGeom prst="rect">
              <a:avLst/>
            </a:prstGeom>
          </p:spPr>
          <p:txBody>
            <a:bodyPr vert="horz" wrap="squar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400" b="1" dirty="0">
                  <a:solidFill>
                    <a:schemeClr val="tx1"/>
                  </a:solidFill>
                </a:rPr>
                <a:t>技术实施</a:t>
              </a:r>
              <a:r>
                <a:rPr lang="zh-CN" altLang="en-US" sz="2400" b="1" dirty="0">
                  <a:solidFill>
                    <a:schemeClr val="tx1"/>
                  </a:solidFill>
                </a:rPr>
                <a:t>方案</a:t>
              </a:r>
              <a:endParaRPr lang="zh-CN" altLang="en-US" sz="2400" b="1" dirty="0">
                <a:solidFill>
                  <a:schemeClr val="tx1"/>
                </a:solidFill>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21785"/>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21785"/>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在</a:t>
            </a:r>
            <a:r>
              <a:rPr lang="en-US" altLang="zh-CN"/>
              <a:t>·</a:t>
            </a:r>
            <a:endParaRPr lang="en-US" altLang="zh-CN"/>
          </a:p>
        </p:txBody>
      </p:sp>
      <p:sp>
        <p:nvSpPr>
          <p:cNvPr id="28" name="任意多边形: 形状 27"/>
          <p:cNvSpPr/>
          <p:nvPr>
            <p:custDataLst>
              <p:tags r:id="rId1"/>
            </p:custDataLst>
          </p:nvPr>
        </p:nvSpPr>
        <p:spPr>
          <a:xfrm>
            <a:off x="3956847" y="1849929"/>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1770743"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392767" y="621923"/>
                </a:lnTo>
                <a:cubicBezTo>
                  <a:pt x="1564067" y="363488"/>
                  <a:pt x="1568715" y="365592"/>
                  <a:pt x="1770743"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任意多边形: 形状 30"/>
          <p:cNvSpPr/>
          <p:nvPr>
            <p:custDataLst>
              <p:tags r:id="rId2"/>
            </p:custDataLst>
          </p:nvPr>
        </p:nvSpPr>
        <p:spPr>
          <a:xfrm>
            <a:off x="3956847" y="3146077"/>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任意多边形: 形状 33"/>
          <p:cNvSpPr/>
          <p:nvPr>
            <p:custDataLst>
              <p:tags r:id="rId3"/>
            </p:custDataLst>
          </p:nvPr>
        </p:nvSpPr>
        <p:spPr>
          <a:xfrm>
            <a:off x="3956847" y="4442225"/>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 name="picture 80"/>
          <p:cNvPicPr>
            <a:picLocks noChangeAspect="1"/>
          </p:cNvPicPr>
          <p:nvPr/>
        </p:nvPicPr>
        <p:blipFill>
          <a:blip r:embed="rId4"/>
          <a:stretch>
            <a:fillRect/>
          </a:stretch>
        </p:blipFill>
        <p:spPr>
          <a:xfrm>
            <a:off x="9212985" y="408444"/>
            <a:ext cx="2674215" cy="220702"/>
          </a:xfrm>
          <a:prstGeom prst="rect">
            <a:avLst/>
          </a:prstGeom>
        </p:spPr>
      </p:pic>
      <p:sp>
        <p:nvSpPr>
          <p:cNvPr id="5" name="文本框 4"/>
          <p:cNvSpPr txBox="1"/>
          <p:nvPr/>
        </p:nvSpPr>
        <p:spPr>
          <a:xfrm>
            <a:off x="514350" y="303530"/>
            <a:ext cx="4817745" cy="430530"/>
          </a:xfrm>
          <a:prstGeom prst="rect">
            <a:avLst/>
          </a:prstGeom>
          <a:noFill/>
        </p:spPr>
        <p:txBody>
          <a:bodyPr wrap="square" rtlCol="0" anchor="t">
            <a:spAutoFit/>
          </a:bodyPr>
          <a:lstStyle/>
          <a:p>
            <a:pPr indent="0" algn="l" rtl="0" eaLnBrk="0" fontAlgn="auto">
              <a:lnSpc>
                <a:spcPct val="96000"/>
              </a:lnSpc>
              <a:spcBef>
                <a:spcPts val="0"/>
              </a:spcBef>
            </a:pPr>
            <a:r>
              <a:rPr lang="zh-CN" altLang="en-US" sz="2300" b="1" kern="0" spc="80" dirty="0">
                <a:solidFill>
                  <a:srgbClr val="000000">
                    <a:alpha val="100000"/>
                  </a:srgbClr>
                </a:solidFill>
                <a:cs typeface="+mn-ea"/>
                <a:sym typeface="+mn-lt"/>
              </a:rPr>
              <a:t>目前工作</a:t>
            </a:r>
            <a:r>
              <a:rPr lang="zh-CN" altLang="en-US" sz="2300" b="1" kern="0" spc="80" dirty="0">
                <a:solidFill>
                  <a:srgbClr val="000000">
                    <a:alpha val="100000"/>
                  </a:srgbClr>
                </a:solidFill>
                <a:cs typeface="+mn-ea"/>
                <a:sym typeface="+mn-lt"/>
              </a:rPr>
              <a:t>基础</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grpSp>
        <p:nvGrpSpPr>
          <p:cNvPr id="22" name="组合 21"/>
          <p:cNvGrpSpPr/>
          <p:nvPr/>
        </p:nvGrpSpPr>
        <p:grpSpPr>
          <a:xfrm>
            <a:off x="537488" y="1290125"/>
            <a:ext cx="4674256" cy="4674256"/>
            <a:chOff x="865910" y="1722253"/>
            <a:chExt cx="3810000" cy="3810000"/>
          </a:xfrm>
        </p:grpSpPr>
        <p:sp>
          <p:nvSpPr>
            <p:cNvPr id="8" name="椭圆 7"/>
            <p:cNvSpPr/>
            <p:nvPr/>
          </p:nvSpPr>
          <p:spPr>
            <a:xfrm>
              <a:off x="865910" y="1722253"/>
              <a:ext cx="3810000" cy="3810000"/>
            </a:xfrm>
            <a:prstGeom prst="ellipse">
              <a:avLst/>
            </a:prstGeom>
            <a:gradFill>
              <a:gsLst>
                <a:gs pos="0">
                  <a:schemeClr val="bg1">
                    <a:lumMod val="100000"/>
                  </a:schemeClr>
                </a:gs>
                <a:gs pos="100000">
                  <a:srgbClr val="D9EDFF"/>
                </a:gs>
              </a:gsLst>
              <a:path path="circle">
                <a:fillToRect l="50000" t="50000" r="50000" b="50000"/>
              </a:path>
              <a:tileRect/>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4" name="椭圆 3"/>
            <p:cNvSpPr/>
            <p:nvPr/>
          </p:nvSpPr>
          <p:spPr>
            <a:xfrm>
              <a:off x="1072692" y="1929036"/>
              <a:ext cx="3396438" cy="3396436"/>
            </a:xfrm>
            <a:prstGeom prst="ellipse">
              <a:avLst/>
            </a:prstGeom>
            <a:solidFill>
              <a:schemeClr val="bg1"/>
            </a:solidFill>
            <a:ln>
              <a:solidFill>
                <a:schemeClr val="bg1"/>
              </a:solidFill>
            </a:ln>
            <a:effectLst>
              <a:outerShdw blurRad="101600" dist="254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344470" y="2200813"/>
              <a:ext cx="2852880" cy="2852880"/>
            </a:xfrm>
            <a:prstGeom prst="ellipse">
              <a:avLst/>
            </a:prstGeom>
            <a:solidFill>
              <a:srgbClr val="0070D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2"/>
          <p:cNvSpPr txBox="1"/>
          <p:nvPr/>
        </p:nvSpPr>
        <p:spPr>
          <a:xfrm>
            <a:off x="2531110" y="3669030"/>
            <a:ext cx="695325" cy="767715"/>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工作</a:t>
            </a: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产出</a:t>
            </a:r>
            <a:endPar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图形 23"/>
          <p:cNvSpPr/>
          <p:nvPr/>
        </p:nvSpPr>
        <p:spPr>
          <a:xfrm>
            <a:off x="2616968" y="3000376"/>
            <a:ext cx="515297" cy="520699"/>
          </a:xfrm>
          <a:custGeom>
            <a:avLst/>
            <a:gdLst>
              <a:gd name="connsiteX0" fmla="*/ 1281470 w 1281685"/>
              <a:gd name="connsiteY0" fmla="*/ 105293 h 1295122"/>
              <a:gd name="connsiteX1" fmla="*/ 1209180 w 1281685"/>
              <a:gd name="connsiteY1" fmla="*/ 451018 h 1295122"/>
              <a:gd name="connsiteX2" fmla="*/ 977520 w 1281685"/>
              <a:gd name="connsiteY2" fmla="*/ 798264 h 1295122"/>
              <a:gd name="connsiteX3" fmla="*/ 967435 w 1281685"/>
              <a:gd name="connsiteY3" fmla="*/ 825608 h 1295122"/>
              <a:gd name="connsiteX4" fmla="*/ 977671 w 1281685"/>
              <a:gd name="connsiteY4" fmla="*/ 933160 h 1295122"/>
              <a:gd name="connsiteX5" fmla="*/ 889987 w 1281685"/>
              <a:gd name="connsiteY5" fmla="*/ 1133602 h 1295122"/>
              <a:gd name="connsiteX6" fmla="*/ 668902 w 1281685"/>
              <a:gd name="connsiteY6" fmla="*/ 1282419 h 1295122"/>
              <a:gd name="connsiteX7" fmla="*/ 559358 w 1281685"/>
              <a:gd name="connsiteY7" fmla="*/ 1229531 h 1295122"/>
              <a:gd name="connsiteX8" fmla="*/ 544220 w 1281685"/>
              <a:gd name="connsiteY8" fmla="*/ 1037269 h 1295122"/>
              <a:gd name="connsiteX9" fmla="*/ 511907 w 1281685"/>
              <a:gd name="connsiteY9" fmla="*/ 1000782 h 1295122"/>
              <a:gd name="connsiteX10" fmla="*/ 321231 w 1281685"/>
              <a:gd name="connsiteY10" fmla="*/ 879675 h 1295122"/>
              <a:gd name="connsiteX11" fmla="*/ 283285 w 1281685"/>
              <a:gd name="connsiteY11" fmla="*/ 760129 h 1295122"/>
              <a:gd name="connsiteX12" fmla="*/ 265020 w 1281685"/>
              <a:gd name="connsiteY12" fmla="*/ 743469 h 1295122"/>
              <a:gd name="connsiteX13" fmla="*/ 65628 w 1281685"/>
              <a:gd name="connsiteY13" fmla="*/ 730795 h 1295122"/>
              <a:gd name="connsiteX14" fmla="*/ 11992 w 1281685"/>
              <a:gd name="connsiteY14" fmla="*/ 619321 h 1295122"/>
              <a:gd name="connsiteX15" fmla="*/ 76399 w 1281685"/>
              <a:gd name="connsiteY15" fmla="*/ 517632 h 1295122"/>
              <a:gd name="connsiteX16" fmla="*/ 145692 w 1281685"/>
              <a:gd name="connsiteY16" fmla="*/ 408108 h 1295122"/>
              <a:gd name="connsiteX17" fmla="*/ 327612 w 1281685"/>
              <a:gd name="connsiteY17" fmla="*/ 304730 h 1295122"/>
              <a:gd name="connsiteX18" fmla="*/ 462188 w 1281685"/>
              <a:gd name="connsiteY18" fmla="*/ 317147 h 1295122"/>
              <a:gd name="connsiteX19" fmla="*/ 482551 w 1281685"/>
              <a:gd name="connsiteY19" fmla="*/ 310339 h 1295122"/>
              <a:gd name="connsiteX20" fmla="*/ 861142 w 1281685"/>
              <a:gd name="connsiteY20" fmla="*/ 62062 h 1295122"/>
              <a:gd name="connsiteX21" fmla="*/ 1115352 w 1281685"/>
              <a:gd name="connsiteY21" fmla="*/ 3799 h 1295122"/>
              <a:gd name="connsiteX22" fmla="*/ 1247163 w 1281685"/>
              <a:gd name="connsiteY22" fmla="*/ 5725 h 1295122"/>
              <a:gd name="connsiteX23" fmla="*/ 1275943 w 1281685"/>
              <a:gd name="connsiteY23" fmla="*/ 34547 h 1295122"/>
              <a:gd name="connsiteX24" fmla="*/ 1281470 w 1281685"/>
              <a:gd name="connsiteY24" fmla="*/ 105293 h 1295122"/>
              <a:gd name="connsiteX25" fmla="*/ 1281470 w 1281685"/>
              <a:gd name="connsiteY25" fmla="*/ 105293 h 1295122"/>
              <a:gd name="connsiteX26" fmla="*/ 1073706 w 1281685"/>
              <a:gd name="connsiteY26" fmla="*/ 400123 h 1295122"/>
              <a:gd name="connsiteX27" fmla="*/ 890606 w 1281685"/>
              <a:gd name="connsiteY27" fmla="*/ 208546 h 1295122"/>
              <a:gd name="connsiteX28" fmla="*/ 694105 w 1281685"/>
              <a:gd name="connsiteY28" fmla="*/ 401235 h 1295122"/>
              <a:gd name="connsiteX29" fmla="*/ 880758 w 1281685"/>
              <a:gd name="connsiteY29" fmla="*/ 590286 h 1295122"/>
              <a:gd name="connsiteX30" fmla="*/ 1073706 w 1281685"/>
              <a:gd name="connsiteY30" fmla="*/ 400123 h 1295122"/>
              <a:gd name="connsiteX31" fmla="*/ 1073706 w 1281685"/>
              <a:gd name="connsiteY31" fmla="*/ 400123 h 1295122"/>
              <a:gd name="connsiteX32" fmla="*/ 185561 w 1281685"/>
              <a:gd name="connsiteY32" fmla="*/ 831646 h 1295122"/>
              <a:gd name="connsiteX33" fmla="*/ 223205 w 1281685"/>
              <a:gd name="connsiteY33" fmla="*/ 860809 h 1295122"/>
              <a:gd name="connsiteX34" fmla="*/ 374184 w 1281685"/>
              <a:gd name="connsiteY34" fmla="*/ 1040609 h 1295122"/>
              <a:gd name="connsiteX35" fmla="*/ 424804 w 1281685"/>
              <a:gd name="connsiteY35" fmla="*/ 1062856 h 1295122"/>
              <a:gd name="connsiteX36" fmla="*/ 440133 w 1281685"/>
              <a:gd name="connsiteY36" fmla="*/ 1128205 h 1295122"/>
              <a:gd name="connsiteX37" fmla="*/ 335857 w 1281685"/>
              <a:gd name="connsiteY37" fmla="*/ 1233149 h 1295122"/>
              <a:gd name="connsiteX38" fmla="*/ 295686 w 1281685"/>
              <a:gd name="connsiteY38" fmla="*/ 1244241 h 1295122"/>
              <a:gd name="connsiteX39" fmla="*/ 270590 w 1281685"/>
              <a:gd name="connsiteY39" fmla="*/ 1208954 h 1295122"/>
              <a:gd name="connsiteX40" fmla="*/ 270075 w 1281685"/>
              <a:gd name="connsiteY40" fmla="*/ 1176535 h 1295122"/>
              <a:gd name="connsiteX41" fmla="*/ 251233 w 1281685"/>
              <a:gd name="connsiteY41" fmla="*/ 1162573 h 1295122"/>
              <a:gd name="connsiteX42" fmla="*/ 134535 w 1281685"/>
              <a:gd name="connsiteY42" fmla="*/ 1201523 h 1295122"/>
              <a:gd name="connsiteX43" fmla="*/ 100318 w 1281685"/>
              <a:gd name="connsiteY43" fmla="*/ 1200560 h 1295122"/>
              <a:gd name="connsiteX44" fmla="*/ 84280 w 1281685"/>
              <a:gd name="connsiteY44" fmla="*/ 1153902 h 1295122"/>
              <a:gd name="connsiteX45" fmla="*/ 124000 w 1281685"/>
              <a:gd name="connsiteY45" fmla="*/ 1033800 h 1295122"/>
              <a:gd name="connsiteX46" fmla="*/ 110682 w 1281685"/>
              <a:gd name="connsiteY46" fmla="*/ 1015751 h 1295122"/>
              <a:gd name="connsiteX47" fmla="*/ 76851 w 1281685"/>
              <a:gd name="connsiteY47" fmla="*/ 1015215 h 1295122"/>
              <a:gd name="connsiteX48" fmla="*/ 42719 w 1281685"/>
              <a:gd name="connsiteY48" fmla="*/ 990868 h 1295122"/>
              <a:gd name="connsiteX49" fmla="*/ 51627 w 1281685"/>
              <a:gd name="connsiteY49" fmla="*/ 951276 h 1295122"/>
              <a:gd name="connsiteX50" fmla="*/ 160359 w 1281685"/>
              <a:gd name="connsiteY50" fmla="*/ 842051 h 1295122"/>
              <a:gd name="connsiteX51" fmla="*/ 185561 w 1281685"/>
              <a:gd name="connsiteY51" fmla="*/ 831646 h 1295122"/>
              <a:gd name="connsiteX52" fmla="*/ 185561 w 1281685"/>
              <a:gd name="connsiteY52" fmla="*/ 831646 h 1295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81685" h="1295122">
                <a:moveTo>
                  <a:pt x="1281470" y="105293"/>
                </a:moveTo>
                <a:cubicBezTo>
                  <a:pt x="1277786" y="224818"/>
                  <a:pt x="1252091" y="339715"/>
                  <a:pt x="1209180" y="451018"/>
                </a:cubicBezTo>
                <a:cubicBezTo>
                  <a:pt x="1157877" y="584203"/>
                  <a:pt x="1082764" y="701414"/>
                  <a:pt x="977520" y="798264"/>
                </a:cubicBezTo>
                <a:cubicBezTo>
                  <a:pt x="968979" y="806122"/>
                  <a:pt x="966300" y="814537"/>
                  <a:pt x="967435" y="825608"/>
                </a:cubicBezTo>
                <a:cubicBezTo>
                  <a:pt x="971074" y="861429"/>
                  <a:pt x="973987" y="897339"/>
                  <a:pt x="977671" y="933160"/>
                </a:cubicBezTo>
                <a:cubicBezTo>
                  <a:pt x="986236" y="1016690"/>
                  <a:pt x="957091" y="1085082"/>
                  <a:pt x="889987" y="1133602"/>
                </a:cubicBezTo>
                <a:cubicBezTo>
                  <a:pt x="818041" y="1185634"/>
                  <a:pt x="743160" y="1233683"/>
                  <a:pt x="668902" y="1282419"/>
                </a:cubicBezTo>
                <a:cubicBezTo>
                  <a:pt x="622094" y="1313146"/>
                  <a:pt x="564561" y="1285267"/>
                  <a:pt x="559358" y="1229531"/>
                </a:cubicBezTo>
                <a:cubicBezTo>
                  <a:pt x="553362" y="1165529"/>
                  <a:pt x="548651" y="1101397"/>
                  <a:pt x="544220" y="1037269"/>
                </a:cubicBezTo>
                <a:cubicBezTo>
                  <a:pt x="542014" y="1005172"/>
                  <a:pt x="542869" y="1004894"/>
                  <a:pt x="511907" y="1000782"/>
                </a:cubicBezTo>
                <a:cubicBezTo>
                  <a:pt x="429726" y="989905"/>
                  <a:pt x="365403" y="950742"/>
                  <a:pt x="321231" y="879675"/>
                </a:cubicBezTo>
                <a:cubicBezTo>
                  <a:pt x="298508" y="843080"/>
                  <a:pt x="287248" y="802630"/>
                  <a:pt x="283285" y="760129"/>
                </a:cubicBezTo>
                <a:cubicBezTo>
                  <a:pt x="282109" y="747389"/>
                  <a:pt x="276990" y="744134"/>
                  <a:pt x="265020" y="743469"/>
                </a:cubicBezTo>
                <a:cubicBezTo>
                  <a:pt x="198513" y="739765"/>
                  <a:pt x="132050" y="735805"/>
                  <a:pt x="65628" y="730795"/>
                </a:cubicBezTo>
                <a:cubicBezTo>
                  <a:pt x="10385" y="726598"/>
                  <a:pt x="-17623" y="668120"/>
                  <a:pt x="11992" y="619321"/>
                </a:cubicBezTo>
                <a:cubicBezTo>
                  <a:pt x="32781" y="585018"/>
                  <a:pt x="54923" y="551529"/>
                  <a:pt x="76399" y="517632"/>
                </a:cubicBezTo>
                <a:cubicBezTo>
                  <a:pt x="99548" y="481147"/>
                  <a:pt x="122501" y="444552"/>
                  <a:pt x="145692" y="408108"/>
                </a:cubicBezTo>
                <a:cubicBezTo>
                  <a:pt x="188130" y="341408"/>
                  <a:pt x="249306" y="305373"/>
                  <a:pt x="327612" y="304730"/>
                </a:cubicBezTo>
                <a:cubicBezTo>
                  <a:pt x="372450" y="304387"/>
                  <a:pt x="417372" y="312309"/>
                  <a:pt x="462188" y="317147"/>
                </a:cubicBezTo>
                <a:cubicBezTo>
                  <a:pt x="470665" y="318068"/>
                  <a:pt x="476684" y="316911"/>
                  <a:pt x="482551" y="310339"/>
                </a:cubicBezTo>
                <a:cubicBezTo>
                  <a:pt x="586591" y="193576"/>
                  <a:pt x="715367" y="114777"/>
                  <a:pt x="861142" y="62062"/>
                </a:cubicBezTo>
                <a:cubicBezTo>
                  <a:pt x="943537" y="32255"/>
                  <a:pt x="1028330" y="12792"/>
                  <a:pt x="1115352" y="3799"/>
                </a:cubicBezTo>
                <a:cubicBezTo>
                  <a:pt x="1159204" y="-762"/>
                  <a:pt x="1203355" y="-2411"/>
                  <a:pt x="1247163" y="5725"/>
                </a:cubicBezTo>
                <a:cubicBezTo>
                  <a:pt x="1271041" y="10158"/>
                  <a:pt x="1272261" y="11144"/>
                  <a:pt x="1275943" y="34547"/>
                </a:cubicBezTo>
                <a:cubicBezTo>
                  <a:pt x="1279608" y="57952"/>
                  <a:pt x="1282517" y="81461"/>
                  <a:pt x="1281470" y="105293"/>
                </a:cubicBezTo>
                <a:lnTo>
                  <a:pt x="1281470" y="105293"/>
                </a:lnTo>
                <a:close/>
                <a:moveTo>
                  <a:pt x="1073706" y="400123"/>
                </a:moveTo>
                <a:cubicBezTo>
                  <a:pt x="1074967" y="298006"/>
                  <a:pt x="990732" y="210194"/>
                  <a:pt x="890606" y="208546"/>
                </a:cubicBezTo>
                <a:cubicBezTo>
                  <a:pt x="786627" y="206812"/>
                  <a:pt x="696568" y="282718"/>
                  <a:pt x="694105" y="401235"/>
                </a:cubicBezTo>
                <a:cubicBezTo>
                  <a:pt x="692027" y="500074"/>
                  <a:pt x="781210" y="589600"/>
                  <a:pt x="880758" y="590286"/>
                </a:cubicBezTo>
                <a:cubicBezTo>
                  <a:pt x="986747" y="591055"/>
                  <a:pt x="1072398" y="506648"/>
                  <a:pt x="1073706" y="400123"/>
                </a:cubicBezTo>
                <a:lnTo>
                  <a:pt x="1073706" y="400123"/>
                </a:lnTo>
                <a:close/>
                <a:moveTo>
                  <a:pt x="185561" y="831646"/>
                </a:moveTo>
                <a:cubicBezTo>
                  <a:pt x="205238" y="831903"/>
                  <a:pt x="216158" y="840617"/>
                  <a:pt x="223205" y="860809"/>
                </a:cubicBezTo>
                <a:cubicBezTo>
                  <a:pt x="250869" y="939906"/>
                  <a:pt x="301211" y="999924"/>
                  <a:pt x="374184" y="1040609"/>
                </a:cubicBezTo>
                <a:cubicBezTo>
                  <a:pt x="390285" y="1049581"/>
                  <a:pt x="407266" y="1056861"/>
                  <a:pt x="424804" y="1062856"/>
                </a:cubicBezTo>
                <a:cubicBezTo>
                  <a:pt x="456322" y="1073646"/>
                  <a:pt x="463518" y="1104482"/>
                  <a:pt x="440133" y="1128205"/>
                </a:cubicBezTo>
                <a:cubicBezTo>
                  <a:pt x="405490" y="1163321"/>
                  <a:pt x="370480" y="1198052"/>
                  <a:pt x="335857" y="1233149"/>
                </a:cubicBezTo>
                <a:cubicBezTo>
                  <a:pt x="324399" y="1244754"/>
                  <a:pt x="311788" y="1250255"/>
                  <a:pt x="295686" y="1244241"/>
                </a:cubicBezTo>
                <a:cubicBezTo>
                  <a:pt x="279328" y="1238137"/>
                  <a:pt x="271425" y="1225955"/>
                  <a:pt x="270590" y="1208954"/>
                </a:cubicBezTo>
                <a:cubicBezTo>
                  <a:pt x="270075" y="1198182"/>
                  <a:pt x="270332" y="1187346"/>
                  <a:pt x="270075" y="1176535"/>
                </a:cubicBezTo>
                <a:cubicBezTo>
                  <a:pt x="269626" y="1156685"/>
                  <a:pt x="269431" y="1156534"/>
                  <a:pt x="251233" y="1162573"/>
                </a:cubicBezTo>
                <a:cubicBezTo>
                  <a:pt x="212305" y="1175529"/>
                  <a:pt x="173463" y="1188590"/>
                  <a:pt x="134535" y="1201523"/>
                </a:cubicBezTo>
                <a:cubicBezTo>
                  <a:pt x="123057" y="1205358"/>
                  <a:pt x="111537" y="1206941"/>
                  <a:pt x="100318" y="1200560"/>
                </a:cubicBezTo>
                <a:cubicBezTo>
                  <a:pt x="83872" y="1191202"/>
                  <a:pt x="77664" y="1174479"/>
                  <a:pt x="84280" y="1153902"/>
                </a:cubicBezTo>
                <a:cubicBezTo>
                  <a:pt x="97211" y="1113752"/>
                  <a:pt x="110767" y="1073840"/>
                  <a:pt x="124000" y="1033800"/>
                </a:cubicBezTo>
                <a:cubicBezTo>
                  <a:pt x="129737" y="1016413"/>
                  <a:pt x="129375" y="1016048"/>
                  <a:pt x="110682" y="1015751"/>
                </a:cubicBezTo>
                <a:cubicBezTo>
                  <a:pt x="99417" y="1015577"/>
                  <a:pt x="88114" y="1015771"/>
                  <a:pt x="76851" y="1015215"/>
                </a:cubicBezTo>
                <a:cubicBezTo>
                  <a:pt x="60449" y="1014422"/>
                  <a:pt x="48778" y="1006456"/>
                  <a:pt x="42719" y="990868"/>
                </a:cubicBezTo>
                <a:cubicBezTo>
                  <a:pt x="36768" y="975686"/>
                  <a:pt x="40578" y="962453"/>
                  <a:pt x="51627" y="951276"/>
                </a:cubicBezTo>
                <a:cubicBezTo>
                  <a:pt x="87770" y="914767"/>
                  <a:pt x="124087" y="878430"/>
                  <a:pt x="160359" y="842051"/>
                </a:cubicBezTo>
                <a:cubicBezTo>
                  <a:pt x="167597" y="834837"/>
                  <a:pt x="176162" y="830724"/>
                  <a:pt x="185561" y="831646"/>
                </a:cubicBezTo>
                <a:lnTo>
                  <a:pt x="185561" y="831646"/>
                </a:lnTo>
                <a:close/>
              </a:path>
            </a:pathLst>
          </a:custGeom>
          <a:solidFill>
            <a:schemeClr val="bg1"/>
          </a:solidFill>
          <a:ln w="1860" cap="flat">
            <a:noFill/>
            <a:prstDash val="solid"/>
            <a:miter/>
          </a:ln>
        </p:spPr>
        <p:txBody>
          <a:bodyPr rtlCol="0" anchor="ctr"/>
          <a:lstStyle/>
          <a:p>
            <a:endParaRPr lang="zh-CN" altLang="en-US"/>
          </a:p>
        </p:txBody>
      </p:sp>
      <p:sp>
        <p:nvSpPr>
          <p:cNvPr id="36" name="标题"/>
          <p:cNvSpPr txBox="1"/>
          <p:nvPr>
            <p:custDataLst>
              <p:tags r:id="rId5"/>
            </p:custDataLst>
          </p:nvPr>
        </p:nvSpPr>
        <p:spPr>
          <a:xfrm>
            <a:off x="6229188" y="2123045"/>
            <a:ext cx="63158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01</a:t>
            </a:r>
            <a:endParaRPr lang="zh-CN" altLang="en-US" sz="3600" b="1" spc="300" dirty="0">
              <a:latin typeface="MiSans" pitchFamily="2" charset="-122"/>
              <a:ea typeface="MiSans" pitchFamily="2" charset="-122"/>
              <a:cs typeface="MiSans" pitchFamily="2" charset="-122"/>
              <a:sym typeface="+mn-lt"/>
            </a:endParaRPr>
          </a:p>
        </p:txBody>
      </p:sp>
      <p:sp>
        <p:nvSpPr>
          <p:cNvPr id="37" name="标题"/>
          <p:cNvSpPr txBox="1"/>
          <p:nvPr>
            <p:custDataLst>
              <p:tags r:id="rId6"/>
            </p:custDataLst>
          </p:nvPr>
        </p:nvSpPr>
        <p:spPr>
          <a:xfrm>
            <a:off x="6229188" y="3427821"/>
            <a:ext cx="67967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02</a:t>
            </a:r>
            <a:endParaRPr lang="zh-CN" altLang="en-US" sz="3600" b="1" spc="300" dirty="0">
              <a:latin typeface="MiSans" pitchFamily="2" charset="-122"/>
              <a:ea typeface="MiSans" pitchFamily="2" charset="-122"/>
              <a:cs typeface="MiSans" pitchFamily="2" charset="-122"/>
              <a:sym typeface="+mn-lt"/>
            </a:endParaRPr>
          </a:p>
        </p:txBody>
      </p:sp>
      <p:sp>
        <p:nvSpPr>
          <p:cNvPr id="38" name="标题"/>
          <p:cNvSpPr txBox="1"/>
          <p:nvPr>
            <p:custDataLst>
              <p:tags r:id="rId7"/>
            </p:custDataLst>
          </p:nvPr>
        </p:nvSpPr>
        <p:spPr>
          <a:xfrm>
            <a:off x="6229188" y="4699778"/>
            <a:ext cx="681277"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03</a:t>
            </a:r>
            <a:endParaRPr lang="zh-CN" altLang="en-US" sz="3600" b="1" spc="300" dirty="0">
              <a:latin typeface="MiSans" pitchFamily="2" charset="-122"/>
              <a:ea typeface="MiSans" pitchFamily="2" charset="-122"/>
              <a:cs typeface="MiSans" pitchFamily="2" charset="-122"/>
              <a:sym typeface="+mn-lt"/>
            </a:endParaRPr>
          </a:p>
        </p:txBody>
      </p:sp>
      <p:sp>
        <p:nvSpPr>
          <p:cNvPr id="41" name="文本框 12"/>
          <p:cNvSpPr txBox="1"/>
          <p:nvPr>
            <p:custDataLst>
              <p:tags r:id="rId8"/>
            </p:custDataLst>
          </p:nvPr>
        </p:nvSpPr>
        <p:spPr>
          <a:xfrm>
            <a:off x="7057390" y="1943100"/>
            <a:ext cx="2099310" cy="276225"/>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数据基础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a:p>
            <a:pPr indent="0" algn="l" rtl="0" eaLnBrk="0" fontAlgn="auto">
              <a:lnSpc>
                <a:spcPct val="96000"/>
              </a:lnSpc>
              <a:spcBef>
                <a:spcPts val="0"/>
              </a:spcBef>
            </a:pP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2" name="文本框 27"/>
          <p:cNvSpPr txBox="1"/>
          <p:nvPr>
            <p:custDataLst>
              <p:tags r:id="rId9"/>
            </p:custDataLst>
          </p:nvPr>
        </p:nvSpPr>
        <p:spPr>
          <a:xfrm>
            <a:off x="7057388" y="2273538"/>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已围绕道路、轨道、管线等城市基础设施对象，梳理多源空间数据和业务属性数据。</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3" name="文本框 12"/>
          <p:cNvSpPr txBox="1"/>
          <p:nvPr>
            <p:custDataLst>
              <p:tags r:id="rId10"/>
            </p:custDataLst>
          </p:nvPr>
        </p:nvSpPr>
        <p:spPr>
          <a:xfrm>
            <a:off x="7057388" y="3249569"/>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建模基础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4" name="文本框 27"/>
          <p:cNvSpPr txBox="1"/>
          <p:nvPr>
            <p:custDataLst>
              <p:tags r:id="rId11"/>
            </p:custDataLst>
          </p:nvPr>
        </p:nvSpPr>
        <p:spPr>
          <a:xfrm>
            <a:off x="7057388" y="3564537"/>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以 </a:t>
            </a:r>
            <a:r>
              <a:rPr lang="en-US" altLang="zh-CN" sz="1400" kern="0" spc="80" dirty="0">
                <a:latin typeface="微软雅黑" panose="020B0503020204020204" charset="-122"/>
                <a:ea typeface="微软雅黑" panose="020B0503020204020204" charset="-122"/>
                <a:cs typeface="微软雅黑" panose="020B0503020204020204" charset="-122"/>
                <a:sym typeface="+mn-ea"/>
              </a:rPr>
              <a:t>CIM </a:t>
            </a:r>
            <a:r>
              <a:rPr lang="zh-CN" altLang="en-US" sz="1400" kern="0" spc="80" dirty="0">
                <a:latin typeface="微软雅黑" panose="020B0503020204020204" charset="-122"/>
                <a:ea typeface="微软雅黑" panose="020B0503020204020204" charset="-122"/>
                <a:cs typeface="微软雅黑" panose="020B0503020204020204" charset="-122"/>
                <a:sym typeface="+mn-ea"/>
              </a:rPr>
              <a:t>自动化建模为切入点，开展道路等基础设施对象的规则化三维表达。</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5" name="文本框 12"/>
          <p:cNvSpPr txBox="1"/>
          <p:nvPr>
            <p:custDataLst>
              <p:tags r:id="rId12"/>
            </p:custDataLst>
          </p:nvPr>
        </p:nvSpPr>
        <p:spPr>
          <a:xfrm>
            <a:off x="7057388" y="4559318"/>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语义基础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27"/>
          <p:cNvSpPr txBox="1"/>
          <p:nvPr>
            <p:custDataLst>
              <p:tags r:id="rId13"/>
            </p:custDataLst>
          </p:nvPr>
        </p:nvSpPr>
        <p:spPr>
          <a:xfrm>
            <a:off x="7057388" y="4874286"/>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将模型对象与道路类型、构件分类、空间关系、源数据属性进行关联。</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圆角 7"/>
          <p:cNvSpPr/>
          <p:nvPr/>
        </p:nvSpPr>
        <p:spPr>
          <a:xfrm>
            <a:off x="-1" y="0"/>
            <a:ext cx="12192001" cy="6858000"/>
          </a:xfrm>
          <a:prstGeom prst="roundRect">
            <a:avLst>
              <a:gd name="adj" fmla="val 0"/>
            </a:avLst>
          </a:prstGeom>
          <a:gradFill flip="none" rotWithShape="1">
            <a:gsLst>
              <a:gs pos="0">
                <a:srgbClr val="0070D8">
                  <a:alpha val="0"/>
                </a:srgbClr>
              </a:gs>
              <a:gs pos="100000">
                <a:srgbClr val="0070D8">
                  <a:alpha val="10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2"/>
          <p:cNvSpPr/>
          <p:nvPr/>
        </p:nvSpPr>
        <p:spPr>
          <a:xfrm>
            <a:off x="9115617"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238539"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p:nvSpPr>
        <p:spPr>
          <a:xfrm>
            <a:off x="484383" y="-1"/>
            <a:ext cx="2592000" cy="6857999"/>
          </a:xfrm>
          <a:prstGeom prst="roundRect">
            <a:avLst>
              <a:gd name="adj" fmla="val 0"/>
            </a:avLst>
          </a:prstGeom>
          <a:gradFill>
            <a:gsLst>
              <a:gs pos="100000">
                <a:srgbClr val="E9F3FC"/>
              </a:gs>
              <a:gs pos="0">
                <a:schemeClr val="bg1"/>
              </a:gs>
            </a:gsLst>
            <a:lin ang="5400000" scaled="0"/>
          </a:gradFill>
          <a:ln>
            <a:noFill/>
          </a:ln>
          <a:effectLst>
            <a:outerShdw blurRad="101600" dist="38100" dir="5400000" sx="50000" sy="5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3361461" y="-1"/>
            <a:ext cx="2592000" cy="6857999"/>
          </a:xfrm>
          <a:prstGeom prst="roundRect">
            <a:avLst>
              <a:gd name="adj" fmla="val 0"/>
            </a:avLst>
          </a:prstGeom>
          <a:gradFill>
            <a:gsLst>
              <a:gs pos="100000">
                <a:schemeClr val="bg1">
                  <a:alpha val="0"/>
                </a:schemeClr>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a:off x="3380511" y="-1"/>
            <a:ext cx="2592000" cy="6857999"/>
          </a:xfrm>
          <a:prstGeom prst="roundRect">
            <a:avLst>
              <a:gd name="adj" fmla="val 0"/>
            </a:avLst>
          </a:prstGeom>
          <a:gradFill>
            <a:gsLst>
              <a:gs pos="100000">
                <a:srgbClr val="E9F3FC"/>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80"/>
          <p:cNvPicPr>
            <a:picLocks noChangeAspect="1"/>
          </p:cNvPicPr>
          <p:nvPr/>
        </p:nvPicPr>
        <p:blipFill>
          <a:blip r:embed="rId1"/>
          <a:stretch>
            <a:fillRect/>
          </a:stretch>
        </p:blipFill>
        <p:spPr>
          <a:xfrm>
            <a:off x="9212985" y="408444"/>
            <a:ext cx="2674215" cy="220702"/>
          </a:xfrm>
          <a:prstGeom prst="rect">
            <a:avLst/>
          </a:prstGeom>
        </p:spPr>
      </p:pic>
      <p:sp>
        <p:nvSpPr>
          <p:cNvPr id="11" name="文本框 10"/>
          <p:cNvSpPr txBox="1"/>
          <p:nvPr/>
        </p:nvSpPr>
        <p:spPr>
          <a:xfrm>
            <a:off x="514350" y="303530"/>
            <a:ext cx="139192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基础链路</a:t>
            </a:r>
            <a:endParaRPr lang="zh-CN" altLang="en-US" sz="2300" b="1" kern="0" spc="80" dirty="0">
              <a:solidFill>
                <a:srgbClr val="000000">
                  <a:alpha val="100000"/>
                </a:srgbClr>
              </a:solidFill>
              <a:cs typeface="+mn-ea"/>
              <a:sym typeface="+mn-lt"/>
            </a:endParaRPr>
          </a:p>
        </p:txBody>
      </p:sp>
      <p:sp>
        <p:nvSpPr>
          <p:cNvPr id="14"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9" name="矩形: 圆角 18"/>
          <p:cNvSpPr/>
          <p:nvPr/>
        </p:nvSpPr>
        <p:spPr>
          <a:xfrm>
            <a:off x="0" y="2832408"/>
            <a:ext cx="11736000" cy="72000"/>
          </a:xfrm>
          <a:prstGeom prst="roundRect">
            <a:avLst/>
          </a:prstGeom>
          <a:gradFill>
            <a:gsLst>
              <a:gs pos="0">
                <a:srgbClr val="0070D8">
                  <a:alpha val="0"/>
                </a:srgbClr>
              </a:gs>
              <a:gs pos="100000">
                <a:srgbClr val="0070D8"/>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a:off x="11727384" y="2650300"/>
            <a:ext cx="314597" cy="247649"/>
          </a:xfrm>
          <a:prstGeom prst="triangle">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84383"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261461"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7138539"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686099"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4563177"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440255"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p:cNvSpPr/>
          <p:nvPr/>
        </p:nvSpPr>
        <p:spPr>
          <a:xfrm>
            <a:off x="1008689" y="3159125"/>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eaLnBrk="0">
              <a:lnSpc>
                <a:spcPct val="96000"/>
              </a:lnSpc>
            </a:pPr>
            <a:r>
              <a:rPr lang="en-US" altLang="zh-CN" sz="1400" b="1" kern="0" spc="80" dirty="0">
                <a:solidFill>
                  <a:srgbClr val="0070D8"/>
                </a:solidFill>
                <a:cs typeface="+mn-ea"/>
                <a:sym typeface="+mn-lt"/>
              </a:rPr>
              <a:t>   </a:t>
            </a:r>
            <a:r>
              <a:rPr lang="zh-CN" altLang="en-US" sz="1400" b="1" kern="0" spc="80" dirty="0">
                <a:solidFill>
                  <a:srgbClr val="0070D8"/>
                </a:solidFill>
                <a:cs typeface="+mn-ea"/>
                <a:sym typeface="+mn-lt"/>
              </a:rPr>
              <a:t>数据标准化</a:t>
            </a:r>
            <a:endParaRPr lang="zh-CN" altLang="en-US" sz="1400" b="1" dirty="0">
              <a:solidFill>
                <a:srgbClr val="0070D8"/>
              </a:solidFill>
            </a:endParaRPr>
          </a:p>
        </p:txBody>
      </p:sp>
      <p:sp>
        <p:nvSpPr>
          <p:cNvPr id="31" name="椭圆 30"/>
          <p:cNvSpPr/>
          <p:nvPr/>
        </p:nvSpPr>
        <p:spPr>
          <a:xfrm>
            <a:off x="10317333"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7"/>
          <p:cNvSpPr/>
          <p:nvPr/>
        </p:nvSpPr>
        <p:spPr>
          <a:xfrm>
            <a:off x="3885767"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专业规则配置</a:t>
            </a:r>
            <a:endParaRPr lang="zh-CN" altLang="en-US" sz="1400" b="1" dirty="0">
              <a:solidFill>
                <a:srgbClr val="0070D8"/>
              </a:solidFill>
            </a:endParaRPr>
          </a:p>
        </p:txBody>
      </p:sp>
      <p:sp>
        <p:nvSpPr>
          <p:cNvPr id="35" name="矩形: 圆角 39"/>
          <p:cNvSpPr/>
          <p:nvPr/>
        </p:nvSpPr>
        <p:spPr>
          <a:xfrm>
            <a:off x="6762845"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三维对象生成</a:t>
            </a:r>
            <a:endParaRPr lang="zh-CN" altLang="en-US" sz="1400" b="1" dirty="0">
              <a:solidFill>
                <a:srgbClr val="0070D8"/>
              </a:solidFill>
            </a:endParaRPr>
          </a:p>
        </p:txBody>
      </p:sp>
      <p:sp>
        <p:nvSpPr>
          <p:cNvPr id="55" name="文本框 54"/>
          <p:cNvSpPr txBox="1"/>
          <p:nvPr/>
        </p:nvSpPr>
        <p:spPr>
          <a:xfrm>
            <a:off x="799465" y="4041140"/>
            <a:ext cx="1961515" cy="136398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接入</a:t>
            </a:r>
            <a:r>
              <a:rPr lang="en-US" altLang="zh-CN" sz="1400" kern="0" spc="80" dirty="0">
                <a:cs typeface="+mn-ea"/>
                <a:sym typeface="+mn-lt"/>
              </a:rPr>
              <a:t>GIS、CAD、</a:t>
            </a:r>
            <a:r>
              <a:rPr lang="zh-CN" altLang="en-US" sz="1400" kern="0" spc="80" dirty="0">
                <a:cs typeface="+mn-ea"/>
                <a:sym typeface="+mn-lt"/>
              </a:rPr>
              <a:t>业务表、基础属性等数据，统一坐标、分类、编码和属性字段。</a:t>
            </a:r>
            <a:endParaRPr lang="zh-CN" altLang="en-US" sz="1400" kern="0" spc="80" dirty="0">
              <a:cs typeface="+mn-ea"/>
              <a:sym typeface="+mn-lt"/>
            </a:endParaRPr>
          </a:p>
        </p:txBody>
      </p:sp>
      <p:sp>
        <p:nvSpPr>
          <p:cNvPr id="56" name="文本框 55"/>
          <p:cNvSpPr txBox="1"/>
          <p:nvPr/>
        </p:nvSpPr>
        <p:spPr>
          <a:xfrm>
            <a:off x="3850005" y="3845560"/>
            <a:ext cx="1958340" cy="394335"/>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断面规则、构件类型</a:t>
            </a:r>
            <a:endParaRPr lang="zh-CN" altLang="en-US" sz="1400" kern="0" spc="80" dirty="0">
              <a:cs typeface="+mn-ea"/>
              <a:sym typeface="+mn-lt"/>
            </a:endParaRPr>
          </a:p>
        </p:txBody>
      </p:sp>
      <p:sp>
        <p:nvSpPr>
          <p:cNvPr id="57" name="文本框 56"/>
          <p:cNvSpPr txBox="1"/>
          <p:nvPr/>
        </p:nvSpPr>
        <p:spPr>
          <a:xfrm>
            <a:off x="6383482"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形成</a:t>
            </a:r>
            <a:r>
              <a:rPr lang="zh-CN" altLang="en-US" sz="1400" kern="0" spc="80" dirty="0">
                <a:cs typeface="+mn-ea"/>
                <a:sym typeface="+mn-lt"/>
              </a:rPr>
              <a:t>公共道路、地下管线、地铁区间隧道等三维对象。 </a:t>
            </a:r>
            <a:endParaRPr lang="zh-CN" altLang="en-US" sz="1400" kern="0" spc="80" dirty="0">
              <a:cs typeface="+mn-ea"/>
              <a:sym typeface="+mn-lt"/>
            </a:endParaRPr>
          </a:p>
        </p:txBody>
      </p:sp>
      <p:sp>
        <p:nvSpPr>
          <p:cNvPr id="58" name="椭圆 57"/>
          <p:cNvSpPr/>
          <p:nvPr/>
        </p:nvSpPr>
        <p:spPr>
          <a:xfrm>
            <a:off x="10015617"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圆角 57"/>
          <p:cNvSpPr/>
          <p:nvPr/>
        </p:nvSpPr>
        <p:spPr>
          <a:xfrm>
            <a:off x="9639923"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语义关系对应</a:t>
            </a:r>
            <a:endParaRPr lang="zh-CN" altLang="en-US" sz="1400" b="1" dirty="0">
              <a:solidFill>
                <a:srgbClr val="0070D8"/>
              </a:solidFill>
            </a:endParaRPr>
          </a:p>
        </p:txBody>
      </p:sp>
      <p:sp>
        <p:nvSpPr>
          <p:cNvPr id="61" name="文本框 60"/>
          <p:cNvSpPr txBox="1"/>
          <p:nvPr/>
        </p:nvSpPr>
        <p:spPr>
          <a:xfrm>
            <a:off x="9260560"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建立对象、属性、来源之间的关联。</a:t>
            </a:r>
            <a:endParaRPr lang="zh-CN" altLang="en-US" sz="1400" kern="0" spc="80" dirty="0">
              <a:cs typeface="+mn-ea"/>
              <a:sym typeface="+mn-lt"/>
            </a:endParaRPr>
          </a:p>
        </p:txBody>
      </p:sp>
      <p:sp>
        <p:nvSpPr>
          <p:cNvPr id="64" name="图形 62"/>
          <p:cNvSpPr/>
          <p:nvPr/>
        </p:nvSpPr>
        <p:spPr>
          <a:xfrm>
            <a:off x="1583546"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5" name="图形 62"/>
          <p:cNvSpPr/>
          <p:nvPr/>
        </p:nvSpPr>
        <p:spPr>
          <a:xfrm>
            <a:off x="4459989"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7" name="图形 62"/>
          <p:cNvSpPr/>
          <p:nvPr/>
        </p:nvSpPr>
        <p:spPr>
          <a:xfrm>
            <a:off x="7337067"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9" name="图形 62"/>
          <p:cNvSpPr/>
          <p:nvPr/>
        </p:nvSpPr>
        <p:spPr>
          <a:xfrm>
            <a:off x="10214145"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sym typeface="+mn-ea"/>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文本占位符 43"/>
            <p:cNvSpPr txBox="1"/>
            <p:nvPr>
              <p:custDataLst>
                <p:tags r:id="rId12"/>
              </p:custDataLst>
            </p:nvPr>
          </p:nvSpPr>
          <p:spPr>
            <a:xfrm>
              <a:off x="8228090"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技术实施方案</a:t>
              </a:r>
              <a:endParaRPr lang="zh-CN" altLang="en-US" sz="2400" b="1" dirty="0">
                <a:solidFill>
                  <a:schemeClr val="bg1"/>
                </a:solidFill>
                <a:sym typeface="+mn-ea"/>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02</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0972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0972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矩形: 圆角 37"/>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icture 80"/>
          <p:cNvPicPr>
            <a:picLocks noChangeAspect="1"/>
          </p:cNvPicPr>
          <p:nvPr/>
        </p:nvPicPr>
        <p:blipFill>
          <a:blip r:embed="rId1"/>
          <a:stretch>
            <a:fillRect/>
          </a:stretch>
        </p:blipFill>
        <p:spPr>
          <a:xfrm>
            <a:off x="9212985" y="408444"/>
            <a:ext cx="2674215" cy="220702"/>
          </a:xfrm>
          <a:prstGeom prst="rect">
            <a:avLst/>
          </a:prstGeom>
        </p:spPr>
      </p:pic>
      <p:sp>
        <p:nvSpPr>
          <p:cNvPr id="5" name="文本框 4"/>
          <p:cNvSpPr txBox="1"/>
          <p:nvPr/>
        </p:nvSpPr>
        <p:spPr>
          <a:xfrm>
            <a:off x="514350" y="303530"/>
            <a:ext cx="199644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技术实施方案</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pic>
        <p:nvPicPr>
          <p:cNvPr id="6" name="图片 5" descr="CIM自动化建模_实施技术流程图(1)"/>
          <p:cNvPicPr>
            <a:picLocks noChangeAspect="1"/>
          </p:cNvPicPr>
          <p:nvPr/>
        </p:nvPicPr>
        <p:blipFill>
          <a:blip r:embed="rId2"/>
          <a:stretch>
            <a:fillRect/>
          </a:stretch>
        </p:blipFill>
        <p:spPr>
          <a:xfrm>
            <a:off x="0" y="1590675"/>
            <a:ext cx="12192000" cy="3676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31855"/>
            <a:ext cx="2724794" cy="270250"/>
          </a:xfrm>
          <a:prstGeom prst="rect">
            <a:avLst/>
          </a:prstGeom>
        </p:spPr>
      </p:pic>
      <p:sp>
        <p:nvSpPr>
          <p:cNvPr id="3" name="圆角矩形 4"/>
          <p:cNvSpPr/>
          <p:nvPr/>
        </p:nvSpPr>
        <p:spPr>
          <a:xfrm>
            <a:off x="0" y="22225"/>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4" name="图形"/>
          <p:cNvSpPr/>
          <p:nvPr/>
        </p:nvSpPr>
        <p:spPr>
          <a:xfrm>
            <a:off x="0" y="0"/>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5" name="标题 2"/>
          <p:cNvSpPr txBox="1"/>
          <p:nvPr/>
        </p:nvSpPr>
        <p:spPr>
          <a:xfrm>
            <a:off x="581025" y="659765"/>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0" name="标题 2"/>
          <p:cNvSpPr>
            <a:spLocks noGrp="1"/>
          </p:cNvSpPr>
          <p:nvPr/>
        </p:nvSpPr>
        <p:spPr>
          <a:xfrm>
            <a:off x="581025" y="1631315"/>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31890"/>
            <a:ext cx="2725200" cy="270578"/>
          </a:xfrm>
          <a:prstGeom prst="rect">
            <a:avLst/>
          </a:prstGeom>
        </p:spPr>
      </p:pic>
      <p:grpSp>
        <p:nvGrpSpPr>
          <p:cNvPr id="16" name="组合 15"/>
          <p:cNvGrpSpPr/>
          <p:nvPr>
            <p:custDataLst>
              <p:tags r:id="rId4"/>
            </p:custDataLst>
          </p:nvPr>
        </p:nvGrpSpPr>
        <p:grpSpPr>
          <a:xfrm>
            <a:off x="4209320" y="1461077"/>
            <a:ext cx="7244309" cy="3980296"/>
            <a:chOff x="4142645" y="1775604"/>
            <a:chExt cx="7244309" cy="3980296"/>
          </a:xfrm>
        </p:grpSpPr>
        <p:sp>
          <p:nvSpPr>
            <p:cNvPr id="17"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43"/>
            <p:cNvSpPr txBox="1"/>
            <p:nvPr>
              <p:custDataLst>
                <p:tags r:id="rId6"/>
              </p:custDataLst>
            </p:nvPr>
          </p:nvSpPr>
          <p:spPr>
            <a:xfrm>
              <a:off x="4403781"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endParaRPr>
            </a:p>
          </p:txBody>
        </p:sp>
        <p:sp>
          <p:nvSpPr>
            <p:cNvPr id="20"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1" name="组合 20"/>
            <p:cNvGrpSpPr/>
            <p:nvPr/>
          </p:nvGrpSpPr>
          <p:grpSpPr>
            <a:xfrm rot="5400000">
              <a:off x="7191746" y="2155900"/>
              <a:ext cx="317922" cy="80362"/>
              <a:chOff x="9893117" y="424718"/>
              <a:chExt cx="704849" cy="178167"/>
            </a:xfrm>
            <a:solidFill>
              <a:srgbClr val="2E5BEA"/>
            </a:solidFill>
          </p:grpSpPr>
          <p:sp>
            <p:nvSpPr>
              <p:cNvPr id="22" name="椭圆 21"/>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6" name="文本占位符 43"/>
            <p:cNvSpPr txBox="1"/>
            <p:nvPr>
              <p:custDataLst>
                <p:tags r:id="rId12"/>
              </p:custDataLst>
            </p:nvPr>
          </p:nvSpPr>
          <p:spPr>
            <a:xfrm>
              <a:off x="8228090"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技术实施方案</a:t>
              </a:r>
              <a:endParaRPr lang="zh-CN" altLang="en-US" sz="2400" b="1" dirty="0">
                <a:solidFill>
                  <a:schemeClr val="tx1"/>
                </a:solidFill>
              </a:endParaRPr>
            </a:p>
          </p:txBody>
        </p:sp>
        <p:sp>
          <p:nvSpPr>
            <p:cNvPr id="31"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32" name="组合 31"/>
            <p:cNvGrpSpPr/>
            <p:nvPr/>
          </p:nvGrpSpPr>
          <p:grpSpPr>
            <a:xfrm rot="5400000">
              <a:off x="11016055" y="2155900"/>
              <a:ext cx="317922" cy="80362"/>
              <a:chOff x="9893117" y="424718"/>
              <a:chExt cx="704849" cy="178167"/>
            </a:xfrm>
            <a:solidFill>
              <a:srgbClr val="2E5BEA"/>
            </a:solidFill>
          </p:grpSpPr>
          <p:sp>
            <p:nvSpPr>
              <p:cNvPr id="33" name="椭圆 32"/>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矩形: 圆角 66"/>
            <p:cNvSpPr/>
            <p:nvPr>
              <p:custDataLst>
                <p:tags r:id="rId17"/>
              </p:custDataLst>
            </p:nvPr>
          </p:nvSpPr>
          <p:spPr>
            <a:xfrm>
              <a:off x="4142645" y="3955900"/>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占位符 43"/>
            <p:cNvSpPr txBox="1"/>
            <p:nvPr>
              <p:custDataLst>
                <p:tags r:id="rId18"/>
              </p:custDataLst>
            </p:nvPr>
          </p:nvSpPr>
          <p:spPr>
            <a:xfrm>
              <a:off x="4403781" y="486146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成果与反思</a:t>
              </a:r>
              <a:endParaRPr lang="zh-CN" altLang="en-US" sz="2400" b="1" dirty="0">
                <a:solidFill>
                  <a:schemeClr val="bg1"/>
                </a:solidFill>
                <a:sym typeface="+mn-ea"/>
              </a:endParaRPr>
            </a:p>
          </p:txBody>
        </p:sp>
        <p:sp>
          <p:nvSpPr>
            <p:cNvPr id="38"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03</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39" name="组合 38"/>
            <p:cNvGrpSpPr/>
            <p:nvPr/>
          </p:nvGrpSpPr>
          <p:grpSpPr>
            <a:xfrm rot="5400000">
              <a:off x="7191746" y="4336196"/>
              <a:ext cx="317922" cy="80362"/>
              <a:chOff x="9893117" y="424718"/>
              <a:chExt cx="704849" cy="178167"/>
            </a:xfrm>
            <a:solidFill>
              <a:srgbClr val="2E5BEA"/>
            </a:solidFill>
          </p:grpSpPr>
          <p:sp>
            <p:nvSpPr>
              <p:cNvPr id="40" name="椭圆 39"/>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占位符 43"/>
            <p:cNvSpPr txBox="1"/>
            <p:nvPr>
              <p:custDataLst>
                <p:tags r:id="rId24"/>
              </p:custDataLst>
            </p:nvPr>
          </p:nvSpPr>
          <p:spPr>
            <a:xfrm>
              <a:off x="8213576" y="486146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后续重点工作</a:t>
              </a:r>
              <a:endParaRPr lang="zh-CN" altLang="en-US" sz="2400" b="1" dirty="0">
                <a:solidFill>
                  <a:schemeClr val="tx1"/>
                </a:solidFill>
              </a:endParaRPr>
            </a:p>
          </p:txBody>
        </p:sp>
        <p:sp>
          <p:nvSpPr>
            <p:cNvPr id="52"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53" name="组合 52"/>
            <p:cNvGrpSpPr/>
            <p:nvPr/>
          </p:nvGrpSpPr>
          <p:grpSpPr>
            <a:xfrm rot="5400000">
              <a:off x="11001541" y="4336196"/>
              <a:ext cx="317922" cy="80362"/>
              <a:chOff x="9893117" y="424718"/>
              <a:chExt cx="704849" cy="178167"/>
            </a:xfrm>
            <a:solidFill>
              <a:srgbClr val="2E5BEA"/>
            </a:solidFill>
          </p:grpSpPr>
          <p:sp>
            <p:nvSpPr>
              <p:cNvPr id="54" name="椭圆 53"/>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7" name="组合 56"/>
          <p:cNvGrpSpPr/>
          <p:nvPr/>
        </p:nvGrpSpPr>
        <p:grpSpPr>
          <a:xfrm rot="5400000">
            <a:off x="11614388" y="424271"/>
            <a:ext cx="317922" cy="80362"/>
            <a:chOff x="9893117" y="424718"/>
            <a:chExt cx="704849" cy="178167"/>
          </a:xfrm>
          <a:solidFill>
            <a:srgbClr val="2E5BEA"/>
          </a:solidFill>
        </p:grpSpPr>
        <p:sp>
          <p:nvSpPr>
            <p:cNvPr id="58" name="椭圆 57"/>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 name="组合 36"/>
          <p:cNvGrpSpPr/>
          <p:nvPr>
            <p:custDataLst>
              <p:tags r:id="rId1"/>
            </p:custDataLst>
          </p:nvPr>
        </p:nvGrpSpPr>
        <p:grpSpPr>
          <a:xfrm>
            <a:off x="5070" y="1680209"/>
            <a:ext cx="12182475" cy="3124199"/>
            <a:chOff x="5070" y="2705099"/>
            <a:chExt cx="12182475" cy="3124199"/>
          </a:xfrm>
          <a:effectLst/>
        </p:grpSpPr>
        <p:sp>
          <p:nvSpPr>
            <p:cNvPr id="23" name="矩形 22"/>
            <p:cNvSpPr/>
            <p:nvPr>
              <p:custDataLst>
                <p:tags r:id="rId2"/>
              </p:custDataLst>
            </p:nvPr>
          </p:nvSpPr>
          <p:spPr>
            <a:xfrm>
              <a:off x="8218795" y="3038474"/>
              <a:ext cx="3968750" cy="2466340"/>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矩形 7"/>
            <p:cNvSpPr/>
            <p:nvPr>
              <p:custDataLst>
                <p:tags r:id="rId3"/>
              </p:custDataLst>
            </p:nvPr>
          </p:nvSpPr>
          <p:spPr>
            <a:xfrm>
              <a:off x="5070" y="3038475"/>
              <a:ext cx="3957503" cy="2466074"/>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矩形 3"/>
            <p:cNvSpPr/>
            <p:nvPr>
              <p:custDataLst>
                <p:tags r:id="rId4"/>
              </p:custDataLst>
            </p:nvPr>
          </p:nvSpPr>
          <p:spPr>
            <a:xfrm>
              <a:off x="4111848" y="2713725"/>
              <a:ext cx="3957503" cy="3115573"/>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矩形 8"/>
            <p:cNvSpPr/>
            <p:nvPr>
              <p:custDataLst>
                <p:tags r:id="rId5"/>
              </p:custDataLst>
            </p:nvPr>
          </p:nvSpPr>
          <p:spPr>
            <a:xfrm>
              <a:off x="3962573"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矩形 8"/>
            <p:cNvSpPr/>
            <p:nvPr>
              <p:custDataLst>
                <p:tags r:id="rId6"/>
              </p:custDataLst>
            </p:nvPr>
          </p:nvSpPr>
          <p:spPr>
            <a:xfrm flipH="1">
              <a:off x="8069350"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3" name="picture 80"/>
          <p:cNvPicPr>
            <a:picLocks noChangeAspect="1"/>
          </p:cNvPicPr>
          <p:nvPr/>
        </p:nvPicPr>
        <p:blipFill>
          <a:blip r:embed="rId7"/>
          <a:stretch>
            <a:fillRect/>
          </a:stretch>
        </p:blipFill>
        <p:spPr>
          <a:xfrm>
            <a:off x="9212985" y="408444"/>
            <a:ext cx="2674215" cy="220702"/>
          </a:xfrm>
          <a:prstGeom prst="rect">
            <a:avLst/>
          </a:prstGeom>
        </p:spPr>
      </p:pic>
      <p:sp>
        <p:nvSpPr>
          <p:cNvPr id="5" name="文本框 4"/>
          <p:cNvSpPr txBox="1"/>
          <p:nvPr/>
        </p:nvSpPr>
        <p:spPr>
          <a:xfrm>
            <a:off x="514350" y="303530"/>
            <a:ext cx="1351280" cy="430530"/>
          </a:xfrm>
          <a:prstGeom prst="rect">
            <a:avLst/>
          </a:prstGeom>
          <a:noFill/>
        </p:spPr>
        <p:txBody>
          <a:bodyPr wrap="none" rtlCol="0" anchor="t">
            <a:spAutoFit/>
          </a:bodyPr>
          <a:lstStyle/>
          <a:p>
            <a:pPr indent="0" algn="l" rtl="0" eaLnBrk="0" fontAlgn="auto">
              <a:lnSpc>
                <a:spcPct val="96000"/>
              </a:lnSpc>
              <a:spcBef>
                <a:spcPts val="0"/>
              </a:spcBef>
            </a:pPr>
            <a:r>
              <a:rPr lang="zh-CN" altLang="en-US" sz="2300" b="1" kern="0" dirty="0">
                <a:cs typeface="+mn-ea"/>
                <a:sym typeface="+mn-lt"/>
              </a:rPr>
              <a:t>当</a:t>
            </a:r>
            <a:r>
              <a:rPr lang="zh-CN" altLang="en-US" sz="2300" b="1" kern="0" dirty="0">
                <a:cs typeface="+mn-ea"/>
                <a:sym typeface="+mn-lt"/>
              </a:rPr>
              <a:t>前成果</a:t>
            </a:r>
            <a:endParaRPr lang="zh-CN" altLang="en-US" sz="2300" b="1" kern="0" dirty="0">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2" name="文本框 62"/>
          <p:cNvSpPr txBox="1"/>
          <p:nvPr>
            <p:custDataLst>
              <p:tags r:id="rId8"/>
            </p:custDataLst>
          </p:nvPr>
        </p:nvSpPr>
        <p:spPr>
          <a:xfrm>
            <a:off x="304800" y="2125420"/>
            <a:ext cx="36703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02</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18" name="文本框 62"/>
          <p:cNvSpPr txBox="1"/>
          <p:nvPr>
            <p:custDataLst>
              <p:tags r:id="rId9"/>
            </p:custDataLst>
          </p:nvPr>
        </p:nvSpPr>
        <p:spPr>
          <a:xfrm>
            <a:off x="4337810" y="1953970"/>
            <a:ext cx="30861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01</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28" name="文本框 62"/>
          <p:cNvSpPr txBox="1"/>
          <p:nvPr>
            <p:custDataLst>
              <p:tags r:id="rId10"/>
            </p:custDataLst>
          </p:nvPr>
        </p:nvSpPr>
        <p:spPr>
          <a:xfrm>
            <a:off x="8312184" y="2159511"/>
            <a:ext cx="403957" cy="369332"/>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03</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grpSp>
        <p:nvGrpSpPr>
          <p:cNvPr id="86" name="组合 85"/>
          <p:cNvGrpSpPr/>
          <p:nvPr>
            <p:custDataLst>
              <p:tags r:id="rId11"/>
            </p:custDataLst>
          </p:nvPr>
        </p:nvGrpSpPr>
        <p:grpSpPr>
          <a:xfrm>
            <a:off x="618911" y="2176854"/>
            <a:ext cx="2936821" cy="312031"/>
            <a:chOff x="304800" y="3264933"/>
            <a:chExt cx="3636000" cy="386317"/>
          </a:xfrm>
        </p:grpSpPr>
        <p:sp>
          <p:nvSpPr>
            <p:cNvPr id="46" name="文本框 27"/>
            <p:cNvSpPr txBox="1"/>
            <p:nvPr>
              <p:custDataLst>
                <p:tags r:id="rId12"/>
              </p:custDataLst>
            </p:nvPr>
          </p:nvSpPr>
          <p:spPr>
            <a:xfrm>
              <a:off x="418009" y="3264933"/>
              <a:ext cx="1197347" cy="274376"/>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地铁区间</a:t>
              </a: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隧道</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47" name="直接连接符 46"/>
            <p:cNvCxnSpPr/>
            <p:nvPr>
              <p:custDataLst>
                <p:tags r:id="rId13"/>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custDataLst>
              <p:tags r:id="rId14"/>
            </p:custDataLst>
          </p:nvPr>
        </p:nvGrpSpPr>
        <p:grpSpPr>
          <a:xfrm>
            <a:off x="8575074" y="2199714"/>
            <a:ext cx="2936821" cy="289171"/>
            <a:chOff x="304800" y="3293235"/>
            <a:chExt cx="3636000" cy="358015"/>
          </a:xfrm>
        </p:grpSpPr>
        <p:sp>
          <p:nvSpPr>
            <p:cNvPr id="25" name="文本框 27"/>
            <p:cNvSpPr txBox="1"/>
            <p:nvPr>
              <p:custDataLst>
                <p:tags r:id="rId15"/>
              </p:custDataLst>
            </p:nvPr>
          </p:nvSpPr>
          <p:spPr>
            <a:xfrm>
              <a:off x="474612" y="3293235"/>
              <a:ext cx="930833" cy="255507"/>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地下管线</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26" name="直接连接符 25"/>
            <p:cNvCxnSpPr/>
            <p:nvPr>
              <p:custDataLst>
                <p:tags r:id="rId16"/>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custDataLst>
              <p:tags r:id="rId17"/>
            </p:custDataLst>
          </p:nvPr>
        </p:nvGrpSpPr>
        <p:grpSpPr>
          <a:xfrm>
            <a:off x="4272600" y="2013487"/>
            <a:ext cx="3636000" cy="273287"/>
            <a:chOff x="4615202" y="3377963"/>
            <a:chExt cx="3636000" cy="273287"/>
          </a:xfrm>
        </p:grpSpPr>
        <p:sp>
          <p:nvSpPr>
            <p:cNvPr id="77" name="文本框 27"/>
            <p:cNvSpPr txBox="1"/>
            <p:nvPr>
              <p:custDataLst>
                <p:tags r:id="rId18"/>
              </p:custDataLst>
            </p:nvPr>
          </p:nvSpPr>
          <p:spPr>
            <a:xfrm>
              <a:off x="5046367" y="3377963"/>
              <a:ext cx="751840" cy="20637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公共道路</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78" name="直接连接符 77"/>
            <p:cNvCxnSpPr/>
            <p:nvPr>
              <p:custDataLst>
                <p:tags r:id="rId19"/>
              </p:custDataLst>
            </p:nvPr>
          </p:nvCxnSpPr>
          <p:spPr>
            <a:xfrm>
              <a:off x="4615202"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pic>
        <p:nvPicPr>
          <p:cNvPr id="14" name="图片 13"/>
          <p:cNvPicPr>
            <a:picLocks noChangeAspect="1"/>
          </p:cNvPicPr>
          <p:nvPr>
            <p:custDataLst>
              <p:tags r:id="rId20"/>
            </p:custDataLst>
          </p:nvPr>
        </p:nvPicPr>
        <p:blipFill>
          <a:blip r:embed="rId21"/>
          <a:stretch>
            <a:fillRect/>
          </a:stretch>
        </p:blipFill>
        <p:spPr>
          <a:xfrm>
            <a:off x="367030" y="2580005"/>
            <a:ext cx="3136265" cy="1800225"/>
          </a:xfrm>
          <a:prstGeom prst="rect">
            <a:avLst/>
          </a:prstGeom>
        </p:spPr>
      </p:pic>
      <p:pic>
        <p:nvPicPr>
          <p:cNvPr id="49" name="图片 48"/>
          <p:cNvPicPr>
            <a:picLocks noChangeAspect="1"/>
          </p:cNvPicPr>
          <p:nvPr>
            <p:custDataLst>
              <p:tags r:id="rId22"/>
            </p:custDataLst>
          </p:nvPr>
        </p:nvPicPr>
        <p:blipFill>
          <a:blip r:embed="rId23"/>
          <a:srcRect l="16392"/>
          <a:stretch>
            <a:fillRect/>
          </a:stretch>
        </p:blipFill>
        <p:spPr>
          <a:xfrm>
            <a:off x="4383405" y="2494280"/>
            <a:ext cx="3414395" cy="1909445"/>
          </a:xfrm>
          <a:prstGeom prst="rect">
            <a:avLst/>
          </a:prstGeom>
        </p:spPr>
      </p:pic>
      <p:sp>
        <p:nvSpPr>
          <p:cNvPr id="55" name="Text 15"/>
          <p:cNvSpPr/>
          <p:nvPr/>
        </p:nvSpPr>
        <p:spPr>
          <a:xfrm>
            <a:off x="373761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公共</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道路成果：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车行道、人行道、绿化带、路缘与道路附属对象</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7" name="Text 15"/>
          <p:cNvSpPr/>
          <p:nvPr/>
        </p:nvSpPr>
        <p:spPr>
          <a:xfrm>
            <a:off x="-454025"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地铁区间隧道</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结构、轨道、疏散、机电与通信专业构件</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8" name="Text 15"/>
          <p:cNvSpPr/>
          <p:nvPr/>
        </p:nvSpPr>
        <p:spPr>
          <a:xfrm>
            <a:off x="762508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pic>
        <p:nvPicPr>
          <p:cNvPr id="59" name="图片 58"/>
          <p:cNvPicPr>
            <a:picLocks noChangeAspect="1"/>
          </p:cNvPicPr>
          <p:nvPr/>
        </p:nvPicPr>
        <p:blipFill>
          <a:blip r:embed="rId24"/>
          <a:stretch>
            <a:fillRect/>
          </a:stretch>
        </p:blipFill>
        <p:spPr>
          <a:xfrm>
            <a:off x="8490585" y="2572385"/>
            <a:ext cx="3171825" cy="1726565"/>
          </a:xfrm>
          <a:prstGeom prst="rect">
            <a:avLst/>
          </a:prstGeom>
        </p:spPr>
      </p:pic>
      <p:sp>
        <p:nvSpPr>
          <p:cNvPr id="61" name="Text 15"/>
          <p:cNvSpPr/>
          <p:nvPr/>
        </p:nvSpPr>
        <p:spPr>
          <a:xfrm>
            <a:off x="765810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底下管线</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目前只将管线做成了</a:t>
            </a: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圆柱</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12064" y="274320"/>
            <a:ext cx="6309360" cy="457200"/>
          </a:xfrm>
          <a:prstGeom prst="rect">
            <a:avLst/>
          </a:prstGeom>
          <a:noFill/>
        </p:spPr>
        <p:txBody>
          <a:bodyPr wrap="square" lIns="27432" rIns="27432" tIns="27432" bIns="27432" anchor="ctr">
            <a:spAutoFit/>
          </a:bodyPr>
          <a:lstStyle/>
          <a:p>
            <a:pPr algn="l">
              <a:lnSpc>
                <a:spcPct val="105000"/>
              </a:lnSpc>
              <a:spcAft>
                <a:spcPts val="0"/>
              </a:spcAft>
            </a:pPr>
            <a:r>
              <a:rPr sz="2300" b="1">
                <a:solidFill>
                  <a:srgbClr val="1E3148"/>
                </a:solidFill>
                <a:latin typeface="Microsoft YaHei"/>
              </a:rPr>
              <a:t>成果反思与 AI 赋能思考</a:t>
            </a:r>
          </a:p>
        </p:txBody>
      </p:sp>
      <p:sp>
        <p:nvSpPr>
          <p:cNvPr id="3" name="TextBox 2"/>
          <p:cNvSpPr txBox="1"/>
          <p:nvPr/>
        </p:nvSpPr>
        <p:spPr>
          <a:xfrm>
            <a:off x="530352" y="786384"/>
            <a:ext cx="8869680" cy="292608"/>
          </a:xfrm>
          <a:prstGeom prst="rect">
            <a:avLst/>
          </a:prstGeom>
          <a:noFill/>
        </p:spPr>
        <p:txBody>
          <a:bodyPr wrap="square" lIns="27432" rIns="27432" tIns="27432" bIns="27432" anchor="ctr">
            <a:spAutoFit/>
          </a:bodyPr>
          <a:lstStyle/>
          <a:p>
            <a:pPr algn="l">
              <a:lnSpc>
                <a:spcPct val="105000"/>
              </a:lnSpc>
              <a:spcAft>
                <a:spcPts val="0"/>
              </a:spcAft>
            </a:pPr>
            <a:r>
              <a:rPr sz="1050" b="0">
                <a:solidFill>
                  <a:srgbClr val="5B6F87"/>
                </a:solidFill>
                <a:latin typeface="Microsoft YaHei"/>
              </a:rPr>
              <a:t>AI 不替代确定性建模内核，重点增强数据理解、规则构建、质量检查与知识复用</a:t>
            </a:r>
          </a:p>
        </p:txBody>
      </p:sp>
      <p:sp>
        <p:nvSpPr>
          <p:cNvPr id="4" name="Rectangle 3"/>
          <p:cNvSpPr/>
          <p:nvPr/>
        </p:nvSpPr>
        <p:spPr>
          <a:xfrm>
            <a:off x="292608" y="356616"/>
            <a:ext cx="82296" cy="256032"/>
          </a:xfrm>
          <a:prstGeom prst="rect">
            <a:avLst/>
          </a:prstGeom>
          <a:solidFill>
            <a:srgbClr val="EB233A"/>
          </a:solidFill>
          <a:ln w="1270">
            <a:solidFill>
              <a:srgbClr val="EB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92608" y="612648"/>
            <a:ext cx="82296" cy="1828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2"/>
          <a:stretch>
            <a:fillRect/>
          </a:stretch>
        </p:blipFill>
        <p:spPr>
          <a:xfrm>
            <a:off x="9217152" y="393192"/>
            <a:ext cx="2596896" cy="221012"/>
          </a:xfrm>
          <a:prstGeom prst="rect">
            <a:avLst/>
          </a:prstGeom>
        </p:spPr>
      </p:pic>
      <p:sp>
        <p:nvSpPr>
          <p:cNvPr id="7" name="Rounded Rectangle 6"/>
          <p:cNvSpPr/>
          <p:nvPr/>
        </p:nvSpPr>
        <p:spPr>
          <a:xfrm>
            <a:off x="530352" y="1280160"/>
            <a:ext cx="5468112" cy="171907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80160"/>
            <a:ext cx="73152" cy="1719072"/>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49808" y="1463039"/>
            <a:ext cx="438912" cy="438912"/>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45336"/>
            <a:ext cx="438912"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01</a:t>
            </a:r>
          </a:p>
        </p:txBody>
      </p:sp>
      <p:sp>
        <p:nvSpPr>
          <p:cNvPr id="11" name="TextBox 10"/>
          <p:cNvSpPr txBox="1"/>
          <p:nvPr/>
        </p:nvSpPr>
        <p:spPr>
          <a:xfrm>
            <a:off x="1335024" y="1426463"/>
            <a:ext cx="4407408" cy="329184"/>
          </a:xfrm>
          <a:prstGeom prst="rect">
            <a:avLst/>
          </a:prstGeom>
          <a:noFill/>
        </p:spPr>
        <p:txBody>
          <a:bodyPr wrap="square" lIns="27432" rIns="27432" tIns="27432" bIns="27432" anchor="ctr">
            <a:spAutoFit/>
          </a:bodyPr>
          <a:lstStyle/>
          <a:p>
            <a:pPr algn="l">
              <a:lnSpc>
                <a:spcPct val="105000"/>
              </a:lnSpc>
              <a:spcAft>
                <a:spcPts val="0"/>
              </a:spcAft>
            </a:pPr>
            <a:r>
              <a:rPr sz="1400" b="1">
                <a:solidFill>
                  <a:srgbClr val="1E3148"/>
                </a:solidFill>
                <a:latin typeface="Microsoft YaHei"/>
              </a:rPr>
              <a:t>多源数据理解与治理</a:t>
            </a:r>
          </a:p>
        </p:txBody>
      </p:sp>
      <p:sp>
        <p:nvSpPr>
          <p:cNvPr id="12" name="Rounded Rectangle 11"/>
          <p:cNvSpPr/>
          <p:nvPr/>
        </p:nvSpPr>
        <p:spPr>
          <a:xfrm>
            <a:off x="758952" y="1938528"/>
            <a:ext cx="786384" cy="256032"/>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1947672"/>
            <a:ext cx="713232"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1070E0"/>
                </a:solidFill>
                <a:latin typeface="Microsoft YaHei"/>
              </a:rPr>
              <a:t>现状反思</a:t>
            </a:r>
          </a:p>
        </p:txBody>
      </p:sp>
      <p:sp>
        <p:nvSpPr>
          <p:cNvPr id="14" name="TextBox 13"/>
          <p:cNvSpPr txBox="1"/>
          <p:nvPr/>
        </p:nvSpPr>
        <p:spPr>
          <a:xfrm>
            <a:off x="1673352" y="1892807"/>
            <a:ext cx="4096512" cy="457200"/>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5B6F87"/>
                </a:solidFill>
                <a:latin typeface="Microsoft YaHei"/>
              </a:rPr>
              <a:t>不同来源数据在字段、分类、精度和业务口径上存在差异，规则匹配仍依赖人工判断。</a:t>
            </a:r>
          </a:p>
        </p:txBody>
      </p:sp>
      <p:sp>
        <p:nvSpPr>
          <p:cNvPr id="15" name="Rounded Rectangle 14"/>
          <p:cNvSpPr/>
          <p:nvPr/>
        </p:nvSpPr>
        <p:spPr>
          <a:xfrm>
            <a:off x="758952" y="2468880"/>
            <a:ext cx="896112" cy="256032"/>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2478024"/>
            <a:ext cx="822960"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219167"/>
                </a:solidFill>
                <a:latin typeface="Microsoft YaHei"/>
              </a:rPr>
              <a:t>AI 应用设想</a:t>
            </a:r>
          </a:p>
        </p:txBody>
      </p:sp>
      <p:sp>
        <p:nvSpPr>
          <p:cNvPr id="17" name="TextBox 16"/>
          <p:cNvSpPr txBox="1"/>
          <p:nvPr/>
        </p:nvSpPr>
        <p:spPr>
          <a:xfrm>
            <a:off x="1764792" y="2404872"/>
            <a:ext cx="4005072" cy="502919"/>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1E3148"/>
                </a:solidFill>
                <a:latin typeface="Microsoft YaHei"/>
              </a:rPr>
              <a:t>利用语义模型辅助字段映射、对象分类、异常识别和缺失信息补全建议，并保留置信度与人工复核。</a:t>
            </a:r>
          </a:p>
        </p:txBody>
      </p:sp>
      <p:sp>
        <p:nvSpPr>
          <p:cNvPr id="18" name="Rounded Rectangle 17"/>
          <p:cNvSpPr/>
          <p:nvPr/>
        </p:nvSpPr>
        <p:spPr>
          <a:xfrm>
            <a:off x="6172200" y="1280160"/>
            <a:ext cx="5468112" cy="171907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1280160"/>
            <a:ext cx="73152" cy="1719072"/>
          </a:xfrm>
          <a:prstGeom prst="rect">
            <a:avLst/>
          </a:prstGeom>
          <a:solidFill>
            <a:srgbClr val="18A6CF"/>
          </a:solidFill>
          <a:ln w="1270">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1656" y="1463039"/>
            <a:ext cx="438912" cy="438912"/>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1545336"/>
            <a:ext cx="438912"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02</a:t>
            </a:r>
          </a:p>
        </p:txBody>
      </p:sp>
      <p:sp>
        <p:nvSpPr>
          <p:cNvPr id="22" name="TextBox 21"/>
          <p:cNvSpPr txBox="1"/>
          <p:nvPr/>
        </p:nvSpPr>
        <p:spPr>
          <a:xfrm>
            <a:off x="6976872" y="1426463"/>
            <a:ext cx="4407408" cy="329184"/>
          </a:xfrm>
          <a:prstGeom prst="rect">
            <a:avLst/>
          </a:prstGeom>
          <a:noFill/>
        </p:spPr>
        <p:txBody>
          <a:bodyPr wrap="square" lIns="27432" rIns="27432" tIns="27432" bIns="27432" anchor="ctr">
            <a:spAutoFit/>
          </a:bodyPr>
          <a:lstStyle/>
          <a:p>
            <a:pPr algn="l">
              <a:lnSpc>
                <a:spcPct val="105000"/>
              </a:lnSpc>
              <a:spcAft>
                <a:spcPts val="0"/>
              </a:spcAft>
            </a:pPr>
            <a:r>
              <a:rPr sz="1400" b="1">
                <a:solidFill>
                  <a:srgbClr val="1E3148"/>
                </a:solidFill>
                <a:latin typeface="Microsoft YaHei"/>
              </a:rPr>
              <a:t>专业规则解析与配置</a:t>
            </a:r>
          </a:p>
        </p:txBody>
      </p:sp>
      <p:sp>
        <p:nvSpPr>
          <p:cNvPr id="23" name="Rounded Rectangle 22"/>
          <p:cNvSpPr/>
          <p:nvPr/>
        </p:nvSpPr>
        <p:spPr>
          <a:xfrm>
            <a:off x="6400800" y="1938528"/>
            <a:ext cx="786384" cy="256032"/>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1947672"/>
            <a:ext cx="713232"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1070E0"/>
                </a:solidFill>
                <a:latin typeface="Microsoft YaHei"/>
              </a:rPr>
              <a:t>现状反思</a:t>
            </a:r>
          </a:p>
        </p:txBody>
      </p:sp>
      <p:sp>
        <p:nvSpPr>
          <p:cNvPr id="25" name="TextBox 24"/>
          <p:cNvSpPr txBox="1"/>
          <p:nvPr/>
        </p:nvSpPr>
        <p:spPr>
          <a:xfrm>
            <a:off x="7315200" y="1892807"/>
            <a:ext cx="4096512" cy="457200"/>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5B6F87"/>
                </a:solidFill>
                <a:latin typeface="Microsoft YaHei"/>
              </a:rPr>
              <a:t>专业规范、参数表与经验规则较为分散，转化为机器可执行配置的成本较高。</a:t>
            </a:r>
          </a:p>
        </p:txBody>
      </p:sp>
      <p:sp>
        <p:nvSpPr>
          <p:cNvPr id="26" name="Rounded Rectangle 25"/>
          <p:cNvSpPr/>
          <p:nvPr/>
        </p:nvSpPr>
        <p:spPr>
          <a:xfrm>
            <a:off x="6400800" y="2468880"/>
            <a:ext cx="896112" cy="256032"/>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7376" y="2478024"/>
            <a:ext cx="822960"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219167"/>
                </a:solidFill>
                <a:latin typeface="Microsoft YaHei"/>
              </a:rPr>
              <a:t>AI 应用设想</a:t>
            </a:r>
          </a:p>
        </p:txBody>
      </p:sp>
      <p:sp>
        <p:nvSpPr>
          <p:cNvPr id="28" name="TextBox 27"/>
          <p:cNvSpPr txBox="1"/>
          <p:nvPr/>
        </p:nvSpPr>
        <p:spPr>
          <a:xfrm>
            <a:off x="7406640" y="2404872"/>
            <a:ext cx="4005072" cy="502919"/>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1E3148"/>
                </a:solidFill>
                <a:latin typeface="Microsoft YaHei"/>
              </a:rPr>
              <a:t>从规范和设计资料中提取构件、参数与约束，形成规则草案和版本差异，由专家审定后进入规则库。</a:t>
            </a:r>
          </a:p>
        </p:txBody>
      </p:sp>
      <p:sp>
        <p:nvSpPr>
          <p:cNvPr id="29" name="Rounded Rectangle 28"/>
          <p:cNvSpPr/>
          <p:nvPr/>
        </p:nvSpPr>
        <p:spPr>
          <a:xfrm>
            <a:off x="530352" y="3246120"/>
            <a:ext cx="5468112" cy="171907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30352" y="3246120"/>
            <a:ext cx="73152" cy="1719072"/>
          </a:xfrm>
          <a:prstGeom prst="rect">
            <a:avLst/>
          </a:prstGeom>
          <a:solidFill>
            <a:srgbClr val="E58B30"/>
          </a:solidFill>
          <a:ln w="1270">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3429000"/>
            <a:ext cx="438912" cy="438912"/>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3511296"/>
            <a:ext cx="438912"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03</a:t>
            </a:r>
          </a:p>
        </p:txBody>
      </p:sp>
      <p:sp>
        <p:nvSpPr>
          <p:cNvPr id="33" name="TextBox 32"/>
          <p:cNvSpPr txBox="1"/>
          <p:nvPr/>
        </p:nvSpPr>
        <p:spPr>
          <a:xfrm>
            <a:off x="1335024" y="3392424"/>
            <a:ext cx="4407408" cy="329184"/>
          </a:xfrm>
          <a:prstGeom prst="rect">
            <a:avLst/>
          </a:prstGeom>
          <a:noFill/>
        </p:spPr>
        <p:txBody>
          <a:bodyPr wrap="square" lIns="27432" rIns="27432" tIns="27432" bIns="27432" anchor="ctr">
            <a:spAutoFit/>
          </a:bodyPr>
          <a:lstStyle/>
          <a:p>
            <a:pPr algn="l">
              <a:lnSpc>
                <a:spcPct val="105000"/>
              </a:lnSpc>
              <a:spcAft>
                <a:spcPts val="0"/>
              </a:spcAft>
            </a:pPr>
            <a:r>
              <a:rPr sz="1400" b="1">
                <a:solidFill>
                  <a:srgbClr val="1E3148"/>
                </a:solidFill>
                <a:latin typeface="Microsoft YaHei"/>
              </a:rPr>
              <a:t>模型检查与问题定位</a:t>
            </a:r>
          </a:p>
        </p:txBody>
      </p:sp>
      <p:sp>
        <p:nvSpPr>
          <p:cNvPr id="34" name="Rounded Rectangle 33"/>
          <p:cNvSpPr/>
          <p:nvPr/>
        </p:nvSpPr>
        <p:spPr>
          <a:xfrm>
            <a:off x="758952" y="3904487"/>
            <a:ext cx="786384" cy="256032"/>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3913631"/>
            <a:ext cx="713232"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1070E0"/>
                </a:solidFill>
                <a:latin typeface="Microsoft YaHei"/>
              </a:rPr>
              <a:t>现状反思</a:t>
            </a:r>
          </a:p>
        </p:txBody>
      </p:sp>
      <p:sp>
        <p:nvSpPr>
          <p:cNvPr id="36" name="TextBox 35"/>
          <p:cNvSpPr txBox="1"/>
          <p:nvPr/>
        </p:nvSpPr>
        <p:spPr>
          <a:xfrm>
            <a:off x="1673352" y="3858768"/>
            <a:ext cx="4096512" cy="457200"/>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5B6F87"/>
                </a:solidFill>
                <a:latin typeface="Microsoft YaHei"/>
              </a:rPr>
              <a:t>路口缝隙、重叠、构件缺失等问题，目前仍主要依靠人工浏览模型进行发现。</a:t>
            </a:r>
          </a:p>
        </p:txBody>
      </p:sp>
      <p:sp>
        <p:nvSpPr>
          <p:cNvPr id="37" name="Rounded Rectangle 36"/>
          <p:cNvSpPr/>
          <p:nvPr/>
        </p:nvSpPr>
        <p:spPr>
          <a:xfrm>
            <a:off x="758952" y="4434840"/>
            <a:ext cx="896112" cy="256032"/>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5528" y="4443983"/>
            <a:ext cx="822960"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219167"/>
                </a:solidFill>
                <a:latin typeface="Microsoft YaHei"/>
              </a:rPr>
              <a:t>AI 应用设想</a:t>
            </a:r>
          </a:p>
        </p:txBody>
      </p:sp>
      <p:sp>
        <p:nvSpPr>
          <p:cNvPr id="39" name="TextBox 38"/>
          <p:cNvSpPr txBox="1"/>
          <p:nvPr/>
        </p:nvSpPr>
        <p:spPr>
          <a:xfrm>
            <a:off x="1764792" y="4370831"/>
            <a:ext cx="4005072" cy="502919"/>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1E3148"/>
                </a:solidFill>
                <a:latin typeface="Microsoft YaHei"/>
              </a:rPr>
              <a:t>融合几何指标、语义属性与渲染图像开展智能巡检，辅助回溯数据或规则来源并提出修正建议。</a:t>
            </a:r>
          </a:p>
        </p:txBody>
      </p:sp>
      <p:sp>
        <p:nvSpPr>
          <p:cNvPr id="40" name="Rounded Rectangle 39"/>
          <p:cNvSpPr/>
          <p:nvPr/>
        </p:nvSpPr>
        <p:spPr>
          <a:xfrm>
            <a:off x="6172200" y="3246120"/>
            <a:ext cx="5468112" cy="171907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72200" y="3246120"/>
            <a:ext cx="73152" cy="1719072"/>
          </a:xfrm>
          <a:prstGeom prst="rect">
            <a:avLst/>
          </a:prstGeom>
          <a:solidFill>
            <a:srgbClr val="219167"/>
          </a:solidFill>
          <a:ln w="1270">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91656" y="3429000"/>
            <a:ext cx="438912" cy="438912"/>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91656" y="3511296"/>
            <a:ext cx="438912"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04</a:t>
            </a:r>
          </a:p>
        </p:txBody>
      </p:sp>
      <p:sp>
        <p:nvSpPr>
          <p:cNvPr id="44" name="TextBox 43"/>
          <p:cNvSpPr txBox="1"/>
          <p:nvPr/>
        </p:nvSpPr>
        <p:spPr>
          <a:xfrm>
            <a:off x="6976872" y="3392424"/>
            <a:ext cx="4407408" cy="329184"/>
          </a:xfrm>
          <a:prstGeom prst="rect">
            <a:avLst/>
          </a:prstGeom>
          <a:noFill/>
        </p:spPr>
        <p:txBody>
          <a:bodyPr wrap="square" lIns="27432" rIns="27432" tIns="27432" bIns="27432" anchor="ctr">
            <a:spAutoFit/>
          </a:bodyPr>
          <a:lstStyle/>
          <a:p>
            <a:pPr algn="l">
              <a:lnSpc>
                <a:spcPct val="105000"/>
              </a:lnSpc>
              <a:spcAft>
                <a:spcPts val="0"/>
              </a:spcAft>
            </a:pPr>
            <a:r>
              <a:rPr sz="1400" b="1">
                <a:solidFill>
                  <a:srgbClr val="1E3148"/>
                </a:solidFill>
                <a:latin typeface="Microsoft YaHei"/>
              </a:rPr>
              <a:t>知识沉淀与专题辅助</a:t>
            </a:r>
          </a:p>
        </p:txBody>
      </p:sp>
      <p:sp>
        <p:nvSpPr>
          <p:cNvPr id="45" name="Rounded Rectangle 44"/>
          <p:cNvSpPr/>
          <p:nvPr/>
        </p:nvSpPr>
        <p:spPr>
          <a:xfrm>
            <a:off x="6400800" y="3904487"/>
            <a:ext cx="786384" cy="256032"/>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37376" y="3913631"/>
            <a:ext cx="713232"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1070E0"/>
                </a:solidFill>
                <a:latin typeface="Microsoft YaHei"/>
              </a:rPr>
              <a:t>现状反思</a:t>
            </a:r>
          </a:p>
        </p:txBody>
      </p:sp>
      <p:sp>
        <p:nvSpPr>
          <p:cNvPr id="47" name="TextBox 46"/>
          <p:cNvSpPr txBox="1"/>
          <p:nvPr/>
        </p:nvSpPr>
        <p:spPr>
          <a:xfrm>
            <a:off x="7315200" y="3858768"/>
            <a:ext cx="4096512" cy="457200"/>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5B6F87"/>
                </a:solidFill>
                <a:latin typeface="Microsoft YaHei"/>
              </a:rPr>
              <a:t>规则依据、问题案例和处理经验分散在代码、文档及个人经验中，跨项目复用能力不足。</a:t>
            </a:r>
          </a:p>
        </p:txBody>
      </p:sp>
      <p:sp>
        <p:nvSpPr>
          <p:cNvPr id="48" name="Rounded Rectangle 47"/>
          <p:cNvSpPr/>
          <p:nvPr/>
        </p:nvSpPr>
        <p:spPr>
          <a:xfrm>
            <a:off x="6400800" y="4434840"/>
            <a:ext cx="896112" cy="256032"/>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37376" y="4443983"/>
            <a:ext cx="822960" cy="219456"/>
          </a:xfrm>
          <a:prstGeom prst="rect">
            <a:avLst/>
          </a:prstGeom>
          <a:noFill/>
        </p:spPr>
        <p:txBody>
          <a:bodyPr wrap="square" lIns="27432" rIns="27432" tIns="27432" bIns="27432" anchor="ctr">
            <a:spAutoFit/>
          </a:bodyPr>
          <a:lstStyle/>
          <a:p>
            <a:pPr algn="ctr">
              <a:lnSpc>
                <a:spcPct val="105000"/>
              </a:lnSpc>
              <a:spcAft>
                <a:spcPts val="0"/>
              </a:spcAft>
            </a:pPr>
            <a:r>
              <a:rPr sz="819" b="1">
                <a:solidFill>
                  <a:srgbClr val="219167"/>
                </a:solidFill>
                <a:latin typeface="Microsoft YaHei"/>
              </a:rPr>
              <a:t>AI 应用设想</a:t>
            </a:r>
          </a:p>
        </p:txBody>
      </p:sp>
      <p:sp>
        <p:nvSpPr>
          <p:cNvPr id="50" name="TextBox 49"/>
          <p:cNvSpPr txBox="1"/>
          <p:nvPr/>
        </p:nvSpPr>
        <p:spPr>
          <a:xfrm>
            <a:off x="7406640" y="4370831"/>
            <a:ext cx="4005072" cy="502919"/>
          </a:xfrm>
          <a:prstGeom prst="rect">
            <a:avLst/>
          </a:prstGeom>
          <a:noFill/>
        </p:spPr>
        <p:txBody>
          <a:bodyPr wrap="square" lIns="27432" rIns="27432" tIns="27432" bIns="27432" anchor="t">
            <a:spAutoFit/>
          </a:bodyPr>
          <a:lstStyle/>
          <a:p>
            <a:pPr algn="l">
              <a:lnSpc>
                <a:spcPct val="105000"/>
              </a:lnSpc>
              <a:spcAft>
                <a:spcPts val="0"/>
              </a:spcAft>
            </a:pPr>
            <a:r>
              <a:rPr sz="890" b="0">
                <a:solidFill>
                  <a:srgbClr val="1E3148"/>
                </a:solidFill>
                <a:latin typeface="Microsoft YaHei"/>
              </a:rPr>
              <a:t>构建“规范—规则—对象—问题案例”知识库，支持自然语言查询、相似案例检索、参数建议和专题分析。</a:t>
            </a:r>
          </a:p>
        </p:txBody>
      </p:sp>
      <p:sp>
        <p:nvSpPr>
          <p:cNvPr id="51" name="Rounded Rectangle 50"/>
          <p:cNvSpPr/>
          <p:nvPr/>
        </p:nvSpPr>
        <p:spPr>
          <a:xfrm>
            <a:off x="530352" y="5230368"/>
            <a:ext cx="11109960" cy="713232"/>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5404104"/>
            <a:ext cx="1051560" cy="274320"/>
          </a:xfrm>
          <a:prstGeom prst="rect">
            <a:avLst/>
          </a:prstGeom>
          <a:noFill/>
        </p:spPr>
        <p:txBody>
          <a:bodyPr wrap="square" lIns="27432" rIns="27432" tIns="27432" bIns="27432" anchor="ctr">
            <a:spAutoFit/>
          </a:bodyPr>
          <a:lstStyle/>
          <a:p>
            <a:pPr algn="ctr">
              <a:lnSpc>
                <a:spcPct val="105000"/>
              </a:lnSpc>
              <a:spcAft>
                <a:spcPts val="0"/>
              </a:spcAft>
            </a:pPr>
            <a:r>
              <a:rPr sz="1150" b="1">
                <a:solidFill>
                  <a:srgbClr val="FFFFFF"/>
                </a:solidFill>
                <a:latin typeface="Microsoft YaHei"/>
              </a:rPr>
              <a:t>AI 应用边界</a:t>
            </a:r>
          </a:p>
        </p:txBody>
      </p:sp>
      <p:sp>
        <p:nvSpPr>
          <p:cNvPr id="53" name="TextBox 52"/>
          <p:cNvSpPr txBox="1"/>
          <p:nvPr/>
        </p:nvSpPr>
        <p:spPr>
          <a:xfrm>
            <a:off x="2011680" y="5413248"/>
            <a:ext cx="2212848" cy="256032"/>
          </a:xfrm>
          <a:prstGeom prst="rect">
            <a:avLst/>
          </a:prstGeom>
          <a:noFill/>
        </p:spPr>
        <p:txBody>
          <a:bodyPr wrap="square" lIns="27432" rIns="27432" tIns="27432" bIns="27432" anchor="ctr">
            <a:spAutoFit/>
          </a:bodyPr>
          <a:lstStyle/>
          <a:p>
            <a:pPr algn="ctr">
              <a:lnSpc>
                <a:spcPct val="105000"/>
              </a:lnSpc>
              <a:spcAft>
                <a:spcPts val="0"/>
              </a:spcAft>
            </a:pPr>
            <a:r>
              <a:rPr sz="1050" b="1">
                <a:solidFill>
                  <a:srgbClr val="C3E1FF"/>
                </a:solidFill>
                <a:latin typeface="Microsoft YaHei"/>
              </a:rPr>
              <a:t>AI 负责“理解、建议与检查”</a:t>
            </a:r>
          </a:p>
        </p:txBody>
      </p:sp>
      <p:sp>
        <p:nvSpPr>
          <p:cNvPr id="54" name="TextBox 53"/>
          <p:cNvSpPr txBox="1"/>
          <p:nvPr/>
        </p:nvSpPr>
        <p:spPr>
          <a:xfrm>
            <a:off x="4379976" y="5413248"/>
            <a:ext cx="2834640" cy="256032"/>
          </a:xfrm>
          <a:prstGeom prst="rect">
            <a:avLst/>
          </a:prstGeom>
          <a:noFill/>
        </p:spPr>
        <p:txBody>
          <a:bodyPr wrap="square" lIns="27432" rIns="27432" tIns="27432" bIns="27432" anchor="ctr">
            <a:spAutoFit/>
          </a:bodyPr>
          <a:lstStyle/>
          <a:p>
            <a:pPr algn="ctr">
              <a:lnSpc>
                <a:spcPct val="105000"/>
              </a:lnSpc>
              <a:spcAft>
                <a:spcPts val="0"/>
              </a:spcAft>
            </a:pPr>
            <a:r>
              <a:rPr sz="1050" b="1">
                <a:solidFill>
                  <a:srgbClr val="C3EEE1"/>
                </a:solidFill>
                <a:latin typeface="Microsoft YaHei"/>
              </a:rPr>
              <a:t>规则与几何引擎负责“确定性生成”</a:t>
            </a:r>
          </a:p>
        </p:txBody>
      </p:sp>
      <p:sp>
        <p:nvSpPr>
          <p:cNvPr id="55" name="TextBox 54"/>
          <p:cNvSpPr txBox="1"/>
          <p:nvPr/>
        </p:nvSpPr>
        <p:spPr>
          <a:xfrm>
            <a:off x="7388352" y="5413248"/>
            <a:ext cx="2487168" cy="256032"/>
          </a:xfrm>
          <a:prstGeom prst="rect">
            <a:avLst/>
          </a:prstGeom>
          <a:noFill/>
        </p:spPr>
        <p:txBody>
          <a:bodyPr wrap="square" lIns="27432" rIns="27432" tIns="27432" bIns="27432" anchor="ctr">
            <a:spAutoFit/>
          </a:bodyPr>
          <a:lstStyle/>
          <a:p>
            <a:pPr algn="ctr">
              <a:lnSpc>
                <a:spcPct val="105000"/>
              </a:lnSpc>
              <a:spcAft>
                <a:spcPts val="0"/>
              </a:spcAft>
            </a:pPr>
            <a:r>
              <a:rPr sz="1050" b="1">
                <a:solidFill>
                  <a:srgbClr val="FFE1BE"/>
                </a:solidFill>
                <a:latin typeface="Microsoft YaHei"/>
              </a:rPr>
              <a:t>专家负责“审定、追溯与发布”</a:t>
            </a:r>
          </a:p>
        </p:txBody>
      </p:sp>
      <p:sp>
        <p:nvSpPr>
          <p:cNvPr id="56" name="TextBox 55"/>
          <p:cNvSpPr txBox="1"/>
          <p:nvPr/>
        </p:nvSpPr>
        <p:spPr>
          <a:xfrm>
            <a:off x="9930384" y="5413248"/>
            <a:ext cx="1435608" cy="274320"/>
          </a:xfrm>
          <a:prstGeom prst="rect">
            <a:avLst/>
          </a:prstGeom>
          <a:noFill/>
        </p:spPr>
        <p:txBody>
          <a:bodyPr wrap="square" lIns="27432" rIns="27432" tIns="27432" bIns="27432" anchor="ctr">
            <a:spAutoFit/>
          </a:bodyPr>
          <a:lstStyle/>
          <a:p>
            <a:pPr algn="ctr">
              <a:lnSpc>
                <a:spcPct val="105000"/>
              </a:lnSpc>
              <a:spcAft>
                <a:spcPts val="0"/>
              </a:spcAft>
            </a:pPr>
            <a:r>
              <a:rPr sz="800" b="1">
                <a:solidFill>
                  <a:srgbClr val="FFFFFF"/>
                </a:solidFill>
                <a:latin typeface="Microsoft YaHei"/>
              </a:rPr>
              <a:t>形成可解释、可追溯、人在回路的人机协同机制</a:t>
            </a:r>
          </a:p>
        </p:txBody>
      </p:sp>
      <p:cxnSp>
        <p:nvCxnSpPr>
          <p:cNvPr id="57" name="Connector 56"/>
          <p:cNvCxnSpPr/>
          <p:nvPr/>
        </p:nvCxnSpPr>
        <p:spPr>
          <a:xfrm>
            <a:off x="530352" y="6272784"/>
            <a:ext cx="11119104" cy="0"/>
          </a:xfrm>
          <a:prstGeom prst="line">
            <a:avLst/>
          </a:prstGeom>
          <a:ln w="8890">
            <a:solidFill>
              <a:srgbClr val="D7E4F0"/>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30352" y="6345936"/>
            <a:ext cx="1463040" cy="182880"/>
          </a:xfrm>
          <a:prstGeom prst="rect">
            <a:avLst/>
          </a:prstGeom>
          <a:noFill/>
        </p:spPr>
        <p:txBody>
          <a:bodyPr wrap="square" lIns="27432" rIns="27432" tIns="27432" bIns="27432" anchor="ctr">
            <a:spAutoFit/>
          </a:bodyPr>
          <a:lstStyle/>
          <a:p>
            <a:pPr algn="l">
              <a:lnSpc>
                <a:spcPct val="105000"/>
              </a:lnSpc>
              <a:spcAft>
                <a:spcPts val="0"/>
              </a:spcAft>
            </a:pPr>
            <a:r>
              <a:rPr sz="750" b="0">
                <a:solidFill>
                  <a:srgbClr val="5B6F87"/>
                </a:solidFill>
                <a:latin typeface="Microsoft YaHei"/>
              </a:rPr>
              <a:t>成果与反思</a:t>
            </a:r>
          </a:p>
        </p:txBody>
      </p:sp>
      <p:sp>
        <p:nvSpPr>
          <p:cNvPr id="59" name="TextBox 58"/>
          <p:cNvSpPr txBox="1"/>
          <p:nvPr/>
        </p:nvSpPr>
        <p:spPr>
          <a:xfrm>
            <a:off x="11338560" y="6345936"/>
            <a:ext cx="301752" cy="182880"/>
          </a:xfrm>
          <a:prstGeom prst="rect">
            <a:avLst/>
          </a:prstGeom>
          <a:noFill/>
        </p:spPr>
        <p:txBody>
          <a:bodyPr wrap="square" lIns="27432" rIns="27432" tIns="27432" bIns="27432" anchor="ctr">
            <a:spAutoFit/>
          </a:bodyPr>
          <a:lstStyle/>
          <a:p>
            <a:pPr algn="r">
              <a:lnSpc>
                <a:spcPct val="105000"/>
              </a:lnSpc>
              <a:spcAft>
                <a:spcPts val="0"/>
              </a:spcAft>
            </a:pPr>
            <a:r>
              <a:rPr sz="800" b="0">
                <a:solidFill>
                  <a:srgbClr val="AABBCD"/>
                </a:solidFill>
                <a:latin typeface="Microsoft YaHe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12064" y="274320"/>
            <a:ext cx="3840480" cy="457200"/>
          </a:xfrm>
          <a:prstGeom prst="rect">
            <a:avLst/>
          </a:prstGeom>
          <a:noFill/>
        </p:spPr>
        <p:txBody>
          <a:bodyPr wrap="square" lIns="27432" rIns="27432" tIns="27432" bIns="27432" anchor="ctr">
            <a:spAutoFit/>
          </a:bodyPr>
          <a:lstStyle/>
          <a:p>
            <a:pPr algn="l">
              <a:lnSpc>
                <a:spcPct val="105000"/>
              </a:lnSpc>
              <a:spcAft>
                <a:spcPts val="0"/>
              </a:spcAft>
            </a:pPr>
            <a:r>
              <a:rPr sz="2300" b="1">
                <a:solidFill>
                  <a:srgbClr val="1E3148"/>
                </a:solidFill>
                <a:latin typeface="Microsoft YaHei"/>
              </a:rPr>
              <a:t>后续重点工作</a:t>
            </a:r>
          </a:p>
        </p:txBody>
      </p:sp>
      <p:sp>
        <p:nvSpPr>
          <p:cNvPr id="3" name="TextBox 2"/>
          <p:cNvSpPr txBox="1"/>
          <p:nvPr/>
        </p:nvSpPr>
        <p:spPr>
          <a:xfrm>
            <a:off x="530352" y="786384"/>
            <a:ext cx="9235440" cy="292608"/>
          </a:xfrm>
          <a:prstGeom prst="rect">
            <a:avLst/>
          </a:prstGeom>
          <a:noFill/>
        </p:spPr>
        <p:txBody>
          <a:bodyPr wrap="square" lIns="27432" rIns="27432" tIns="27432" bIns="27432" anchor="ctr">
            <a:spAutoFit/>
          </a:bodyPr>
          <a:lstStyle/>
          <a:p>
            <a:pPr algn="l">
              <a:lnSpc>
                <a:spcPct val="105000"/>
              </a:lnSpc>
              <a:spcAft>
                <a:spcPts val="0"/>
              </a:spcAft>
            </a:pPr>
            <a:r>
              <a:rPr sz="1050" b="0">
                <a:solidFill>
                  <a:srgbClr val="5B6F87"/>
                </a:solidFill>
                <a:latin typeface="Microsoft YaHei"/>
              </a:rPr>
              <a:t>围绕“对象生产—数据沉淀—智能增强—专题应用”形成可持续演进的技术能力体系</a:t>
            </a:r>
          </a:p>
        </p:txBody>
      </p:sp>
      <p:sp>
        <p:nvSpPr>
          <p:cNvPr id="4" name="Rectangle 3"/>
          <p:cNvSpPr/>
          <p:nvPr/>
        </p:nvSpPr>
        <p:spPr>
          <a:xfrm>
            <a:off x="292608" y="356616"/>
            <a:ext cx="82296" cy="256032"/>
          </a:xfrm>
          <a:prstGeom prst="rect">
            <a:avLst/>
          </a:prstGeom>
          <a:solidFill>
            <a:srgbClr val="EB233A"/>
          </a:solidFill>
          <a:ln w="1270">
            <a:solidFill>
              <a:srgbClr val="EB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92608" y="612648"/>
            <a:ext cx="82296" cy="1828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30"/>
          <a:stretch>
            <a:fillRect/>
          </a:stretch>
        </p:blipFill>
        <p:spPr>
          <a:xfrm>
            <a:off x="9217152" y="393192"/>
            <a:ext cx="2596896" cy="221012"/>
          </a:xfrm>
          <a:prstGeom prst="rect">
            <a:avLst/>
          </a:prstGeom>
        </p:spPr>
      </p:pic>
      <p:sp>
        <p:nvSpPr>
          <p:cNvPr id="7" name="Rounded Rectangle 6"/>
          <p:cNvSpPr/>
          <p:nvPr/>
        </p:nvSpPr>
        <p:spPr>
          <a:xfrm>
            <a:off x="530352" y="1280160"/>
            <a:ext cx="5468112" cy="162763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80160"/>
            <a:ext cx="73152" cy="1627632"/>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1481328"/>
            <a:ext cx="457200" cy="457200"/>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563624"/>
            <a:ext cx="457200"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01</a:t>
            </a:r>
          </a:p>
        </p:txBody>
      </p:sp>
      <p:sp>
        <p:nvSpPr>
          <p:cNvPr id="11" name="TextBox 10"/>
          <p:cNvSpPr txBox="1"/>
          <p:nvPr/>
        </p:nvSpPr>
        <p:spPr>
          <a:xfrm>
            <a:off x="1371600" y="1435607"/>
            <a:ext cx="4352544" cy="329184"/>
          </a:xfrm>
          <a:prstGeom prst="rect">
            <a:avLst/>
          </a:prstGeom>
          <a:noFill/>
        </p:spPr>
        <p:txBody>
          <a:bodyPr wrap="square" lIns="27432" rIns="27432" tIns="27432" bIns="27432" anchor="ctr">
            <a:spAutoFit/>
          </a:bodyPr>
          <a:lstStyle/>
          <a:p>
            <a:pPr algn="l">
              <a:lnSpc>
                <a:spcPct val="105000"/>
              </a:lnSpc>
              <a:spcAft>
                <a:spcPts val="0"/>
              </a:spcAft>
            </a:pPr>
            <a:r>
              <a:rPr sz="1350" b="1">
                <a:solidFill>
                  <a:srgbClr val="1E3148"/>
                </a:solidFill>
                <a:latin typeface="Microsoft YaHei"/>
              </a:rPr>
              <a:t>共性自动化建模能力</a:t>
            </a:r>
          </a:p>
        </p:txBody>
      </p:sp>
      <p:sp>
        <p:nvSpPr>
          <p:cNvPr id="12" name="Oval 11"/>
          <p:cNvSpPr/>
          <p:nvPr/>
        </p:nvSpPr>
        <p:spPr>
          <a:xfrm>
            <a:off x="813815" y="1993391"/>
            <a:ext cx="109728" cy="109728"/>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1920239"/>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完善公共道路、区间隧道既有链路，深化路口与专业构件表达</a:t>
            </a:r>
          </a:p>
        </p:txBody>
      </p:sp>
      <p:sp>
        <p:nvSpPr>
          <p:cNvPr id="14" name="Oval 13"/>
          <p:cNvSpPr/>
          <p:nvPr/>
        </p:nvSpPr>
        <p:spPr>
          <a:xfrm>
            <a:off x="813815" y="2331720"/>
            <a:ext cx="109728" cy="109728"/>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2258568"/>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拓展地下管线、公交站、地铁站点等对象的规则化生成</a:t>
            </a:r>
          </a:p>
        </p:txBody>
      </p:sp>
      <p:sp>
        <p:nvSpPr>
          <p:cNvPr id="16" name="Oval 15"/>
          <p:cNvSpPr/>
          <p:nvPr/>
        </p:nvSpPr>
        <p:spPr>
          <a:xfrm>
            <a:off x="813815" y="2670048"/>
            <a:ext cx="109728" cy="109728"/>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2596896"/>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统一对象编码、CIM3/CIM4 分级、专业属性与空间关系</a:t>
            </a:r>
          </a:p>
        </p:txBody>
      </p:sp>
      <p:sp>
        <p:nvSpPr>
          <p:cNvPr id="18" name="Oval 17"/>
          <p:cNvSpPr/>
          <p:nvPr/>
        </p:nvSpPr>
        <p:spPr>
          <a:xfrm>
            <a:off x="813815" y="3008375"/>
            <a:ext cx="109728" cy="109728"/>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1" y="2935223"/>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推动断面、构件和语义规则配置化、模板化、版本化</a:t>
            </a:r>
          </a:p>
        </p:txBody>
      </p:sp>
      <p:sp>
        <p:nvSpPr>
          <p:cNvPr id="20" name="Rounded Rectangle 19"/>
          <p:cNvSpPr/>
          <p:nvPr/>
        </p:nvSpPr>
        <p:spPr>
          <a:xfrm>
            <a:off x="6172200" y="1280160"/>
            <a:ext cx="5468112" cy="162763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280160"/>
            <a:ext cx="73152" cy="1627632"/>
          </a:xfrm>
          <a:prstGeom prst="rect">
            <a:avLst/>
          </a:prstGeom>
          <a:solidFill>
            <a:srgbClr val="18A6CF"/>
          </a:solidFill>
          <a:ln w="1270">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0" y="1481328"/>
            <a:ext cx="457200" cy="457200"/>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1563624"/>
            <a:ext cx="457200"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02</a:t>
            </a:r>
          </a:p>
        </p:txBody>
      </p:sp>
      <p:sp>
        <p:nvSpPr>
          <p:cNvPr id="24" name="TextBox 23"/>
          <p:cNvSpPr txBox="1"/>
          <p:nvPr/>
        </p:nvSpPr>
        <p:spPr>
          <a:xfrm>
            <a:off x="7013448" y="1435607"/>
            <a:ext cx="4352544" cy="329184"/>
          </a:xfrm>
          <a:prstGeom prst="rect">
            <a:avLst/>
          </a:prstGeom>
          <a:noFill/>
        </p:spPr>
        <p:txBody>
          <a:bodyPr wrap="square" lIns="27432" rIns="27432" tIns="27432" bIns="27432" anchor="ctr">
            <a:spAutoFit/>
          </a:bodyPr>
          <a:lstStyle/>
          <a:p>
            <a:pPr algn="l">
              <a:lnSpc>
                <a:spcPct val="105000"/>
              </a:lnSpc>
              <a:spcAft>
                <a:spcPts val="0"/>
              </a:spcAft>
            </a:pPr>
            <a:r>
              <a:rPr sz="1350" b="1">
                <a:solidFill>
                  <a:srgbClr val="1E3148"/>
                </a:solidFill>
                <a:latin typeface="Microsoft YaHei"/>
              </a:rPr>
              <a:t>超融合数据库研发</a:t>
            </a:r>
          </a:p>
        </p:txBody>
      </p:sp>
      <p:sp>
        <p:nvSpPr>
          <p:cNvPr id="25" name="Oval 24"/>
          <p:cNvSpPr/>
          <p:nvPr/>
        </p:nvSpPr>
        <p:spPr>
          <a:xfrm>
            <a:off x="6455664" y="1993391"/>
            <a:ext cx="109728" cy="109728"/>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1920239"/>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统一组织 GIS、CAD、三维模型、业务表、文档和专题数据</a:t>
            </a:r>
          </a:p>
        </p:txBody>
      </p:sp>
      <p:sp>
        <p:nvSpPr>
          <p:cNvPr id="27" name="Oval 26"/>
          <p:cNvSpPr/>
          <p:nvPr/>
        </p:nvSpPr>
        <p:spPr>
          <a:xfrm>
            <a:off x="6455664" y="2331720"/>
            <a:ext cx="109728" cy="109728"/>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0" y="2258568"/>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研究跨专业统一对象模型、分类编码和多层级表达</a:t>
            </a:r>
          </a:p>
        </p:txBody>
      </p:sp>
      <p:sp>
        <p:nvSpPr>
          <p:cNvPr id="29" name="Oval 28"/>
          <p:cNvSpPr/>
          <p:nvPr/>
        </p:nvSpPr>
        <p:spPr>
          <a:xfrm>
            <a:off x="6455664" y="2670048"/>
            <a:ext cx="109728" cy="109728"/>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2596896"/>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建立空间、时间、属性、关系与语义标签的复合索引</a:t>
            </a:r>
          </a:p>
        </p:txBody>
      </p:sp>
      <p:sp>
        <p:nvSpPr>
          <p:cNvPr id="31" name="Oval 30"/>
          <p:cNvSpPr/>
          <p:nvPr/>
        </p:nvSpPr>
        <p:spPr>
          <a:xfrm>
            <a:off x="6455664" y="3008375"/>
            <a:ext cx="109728" cy="109728"/>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0" y="2935223"/>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完善对象关系、历史版本、增量更新和标准数据服务</a:t>
            </a:r>
          </a:p>
        </p:txBody>
      </p:sp>
      <p:sp>
        <p:nvSpPr>
          <p:cNvPr id="33" name="Rounded Rectangle 32"/>
          <p:cNvSpPr/>
          <p:nvPr/>
        </p:nvSpPr>
        <p:spPr>
          <a:xfrm>
            <a:off x="530352" y="3163824"/>
            <a:ext cx="5468112" cy="162763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30352" y="3163824"/>
            <a:ext cx="73152" cy="1627632"/>
          </a:xfrm>
          <a:prstGeom prst="rect">
            <a:avLst/>
          </a:prstGeom>
          <a:solidFill>
            <a:srgbClr val="219167"/>
          </a:solidFill>
          <a:ln w="1270">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8952" y="3364992"/>
            <a:ext cx="457200" cy="457200"/>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952" y="3447288"/>
            <a:ext cx="457200"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03</a:t>
            </a:r>
          </a:p>
        </p:txBody>
      </p:sp>
      <p:sp>
        <p:nvSpPr>
          <p:cNvPr id="37" name="TextBox 36"/>
          <p:cNvSpPr txBox="1"/>
          <p:nvPr/>
        </p:nvSpPr>
        <p:spPr>
          <a:xfrm>
            <a:off x="1371600" y="3319272"/>
            <a:ext cx="4352544" cy="329184"/>
          </a:xfrm>
          <a:prstGeom prst="rect">
            <a:avLst/>
          </a:prstGeom>
          <a:noFill/>
        </p:spPr>
        <p:txBody>
          <a:bodyPr wrap="square" lIns="27432" rIns="27432" tIns="27432" bIns="27432" anchor="ctr">
            <a:spAutoFit/>
          </a:bodyPr>
          <a:lstStyle/>
          <a:p>
            <a:pPr algn="l">
              <a:lnSpc>
                <a:spcPct val="105000"/>
              </a:lnSpc>
              <a:spcAft>
                <a:spcPts val="0"/>
              </a:spcAft>
            </a:pPr>
            <a:r>
              <a:rPr sz="1350" b="1">
                <a:solidFill>
                  <a:srgbClr val="1E3148"/>
                </a:solidFill>
                <a:latin typeface="Microsoft YaHei"/>
              </a:rPr>
              <a:t>AI 能力增强</a:t>
            </a:r>
          </a:p>
        </p:txBody>
      </p:sp>
      <p:sp>
        <p:nvSpPr>
          <p:cNvPr id="38" name="Oval 37"/>
          <p:cNvSpPr/>
          <p:nvPr/>
        </p:nvSpPr>
        <p:spPr>
          <a:xfrm>
            <a:off x="813815" y="3877056"/>
            <a:ext cx="109728" cy="109728"/>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3271" y="3803904"/>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开展规范解析、字段映射、对象分类和规则草案生成</a:t>
            </a:r>
          </a:p>
        </p:txBody>
      </p:sp>
      <p:sp>
        <p:nvSpPr>
          <p:cNvPr id="40" name="Oval 39"/>
          <p:cNvSpPr/>
          <p:nvPr/>
        </p:nvSpPr>
        <p:spPr>
          <a:xfrm>
            <a:off x="813815" y="4215384"/>
            <a:ext cx="109728" cy="109728"/>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33271" y="4142232"/>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研究融合几何、语义与渲染图像的模型智能检查</a:t>
            </a:r>
          </a:p>
        </p:txBody>
      </p:sp>
      <p:sp>
        <p:nvSpPr>
          <p:cNvPr id="42" name="Oval 41"/>
          <p:cNvSpPr/>
          <p:nvPr/>
        </p:nvSpPr>
        <p:spPr>
          <a:xfrm>
            <a:off x="813815" y="4553712"/>
            <a:ext cx="109728" cy="109728"/>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1" y="4480560"/>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建设规范—规则—对象—问题案例的专业知识库</a:t>
            </a:r>
          </a:p>
        </p:txBody>
      </p:sp>
      <p:sp>
        <p:nvSpPr>
          <p:cNvPr id="44" name="Oval 43"/>
          <p:cNvSpPr/>
          <p:nvPr/>
        </p:nvSpPr>
        <p:spPr>
          <a:xfrm>
            <a:off x="813815" y="4892040"/>
            <a:ext cx="109728" cy="109728"/>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3271" y="4818888"/>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坚持人在回路，保留规则依据、置信度和人工审定过程</a:t>
            </a:r>
          </a:p>
        </p:txBody>
      </p:sp>
      <p:sp>
        <p:nvSpPr>
          <p:cNvPr id="46" name="Rounded Rectangle 45"/>
          <p:cNvSpPr/>
          <p:nvPr/>
        </p:nvSpPr>
        <p:spPr>
          <a:xfrm>
            <a:off x="6172200" y="3163824"/>
            <a:ext cx="5468112" cy="162763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72200" y="3163824"/>
            <a:ext cx="73152" cy="1627632"/>
          </a:xfrm>
          <a:prstGeom prst="rect">
            <a:avLst/>
          </a:prstGeom>
          <a:solidFill>
            <a:srgbClr val="E58B30"/>
          </a:solidFill>
          <a:ln w="1270">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400800" y="3364992"/>
            <a:ext cx="457200" cy="457200"/>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3447288"/>
            <a:ext cx="457200" cy="164592"/>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FFFFFF"/>
                </a:solidFill>
                <a:latin typeface="Microsoft YaHei"/>
              </a:rPr>
              <a:t>04</a:t>
            </a:r>
          </a:p>
        </p:txBody>
      </p:sp>
      <p:sp>
        <p:nvSpPr>
          <p:cNvPr id="50" name="TextBox 49"/>
          <p:cNvSpPr txBox="1"/>
          <p:nvPr/>
        </p:nvSpPr>
        <p:spPr>
          <a:xfrm>
            <a:off x="7013448" y="3319272"/>
            <a:ext cx="4352544" cy="329184"/>
          </a:xfrm>
          <a:prstGeom prst="rect">
            <a:avLst/>
          </a:prstGeom>
          <a:noFill/>
        </p:spPr>
        <p:txBody>
          <a:bodyPr wrap="square" lIns="27432" rIns="27432" tIns="27432" bIns="27432" anchor="ctr">
            <a:spAutoFit/>
          </a:bodyPr>
          <a:lstStyle/>
          <a:p>
            <a:pPr algn="l">
              <a:lnSpc>
                <a:spcPct val="105000"/>
              </a:lnSpc>
              <a:spcAft>
                <a:spcPts val="0"/>
              </a:spcAft>
            </a:pPr>
            <a:r>
              <a:rPr sz="1350" b="1">
                <a:solidFill>
                  <a:srgbClr val="1E3148"/>
                </a:solidFill>
                <a:latin typeface="Microsoft YaHei"/>
              </a:rPr>
              <a:t>数字孪生专项建设</a:t>
            </a:r>
          </a:p>
        </p:txBody>
      </p:sp>
      <p:sp>
        <p:nvSpPr>
          <p:cNvPr id="51" name="Oval 50"/>
          <p:cNvSpPr/>
          <p:nvPr/>
        </p:nvSpPr>
        <p:spPr>
          <a:xfrm>
            <a:off x="6455664" y="3877056"/>
            <a:ext cx="109728" cy="109728"/>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75120" y="3803904"/>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构建道路、轨道、管线、站点和地下空间专题场景</a:t>
            </a:r>
          </a:p>
        </p:txBody>
      </p:sp>
      <p:sp>
        <p:nvSpPr>
          <p:cNvPr id="53" name="Oval 52"/>
          <p:cNvSpPr/>
          <p:nvPr/>
        </p:nvSpPr>
        <p:spPr>
          <a:xfrm>
            <a:off x="6455664" y="4215384"/>
            <a:ext cx="109728" cy="109728"/>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75120" y="4142232"/>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建立场景对象与数据库对象、业务属性和专题数据关联</a:t>
            </a:r>
          </a:p>
        </p:txBody>
      </p:sp>
      <p:sp>
        <p:nvSpPr>
          <p:cNvPr id="55" name="Oval 54"/>
          <p:cNvSpPr/>
          <p:nvPr/>
        </p:nvSpPr>
        <p:spPr>
          <a:xfrm>
            <a:off x="6455664" y="4553712"/>
            <a:ext cx="109728" cy="109728"/>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675120" y="4480560"/>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形成专题图层、指标口径、查询统计与关系分析能力</a:t>
            </a:r>
          </a:p>
        </p:txBody>
      </p:sp>
      <p:sp>
        <p:nvSpPr>
          <p:cNvPr id="57" name="Oval 56"/>
          <p:cNvSpPr/>
          <p:nvPr/>
        </p:nvSpPr>
        <p:spPr>
          <a:xfrm>
            <a:off x="6455664" y="4892040"/>
            <a:ext cx="109728" cy="109728"/>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75120" y="4818888"/>
            <a:ext cx="4736592" cy="265176"/>
          </a:xfrm>
          <a:prstGeom prst="rect">
            <a:avLst/>
          </a:prstGeom>
          <a:noFill/>
        </p:spPr>
        <p:txBody>
          <a:bodyPr wrap="square" lIns="27432" rIns="27432" tIns="27432" bIns="27432" anchor="t">
            <a:spAutoFit/>
          </a:bodyPr>
          <a:lstStyle/>
          <a:p>
            <a:pPr algn="l">
              <a:lnSpc>
                <a:spcPct val="105000"/>
              </a:lnSpc>
              <a:spcAft>
                <a:spcPts val="0"/>
              </a:spcAft>
            </a:pPr>
            <a:r>
              <a:rPr sz="865" b="0">
                <a:solidFill>
                  <a:srgbClr val="5B6F87"/>
                </a:solidFill>
                <a:latin typeface="Microsoft YaHei"/>
              </a:rPr>
              <a:t>沉淀可复用的场景模板、对象接口和专题应用方法</a:t>
            </a:r>
          </a:p>
        </p:txBody>
      </p:sp>
      <p:sp>
        <p:nvSpPr>
          <p:cNvPr id="59" name="TextBox 58"/>
          <p:cNvSpPr txBox="1"/>
          <p:nvPr/>
        </p:nvSpPr>
        <p:spPr>
          <a:xfrm>
            <a:off x="530352" y="5047488"/>
            <a:ext cx="822960" cy="246888"/>
          </a:xfrm>
          <a:prstGeom prst="rect">
            <a:avLst/>
          </a:prstGeom>
          <a:noFill/>
        </p:spPr>
        <p:txBody>
          <a:bodyPr wrap="square" lIns="27432" rIns="27432" tIns="27432" bIns="27432" anchor="ctr">
            <a:spAutoFit/>
          </a:bodyPr>
          <a:lstStyle/>
          <a:p>
            <a:pPr algn="l">
              <a:lnSpc>
                <a:spcPct val="105000"/>
              </a:lnSpc>
              <a:spcAft>
                <a:spcPts val="0"/>
              </a:spcAft>
            </a:pPr>
            <a:r>
              <a:rPr sz="1050" b="1">
                <a:solidFill>
                  <a:srgbClr val="1E3148"/>
                </a:solidFill>
                <a:latin typeface="Microsoft YaHei"/>
              </a:rPr>
              <a:t>推进次序</a:t>
            </a:r>
          </a:p>
        </p:txBody>
      </p:sp>
      <p:sp>
        <p:nvSpPr>
          <p:cNvPr id="60" name="Rounded Rectangle 59"/>
          <p:cNvSpPr/>
          <p:nvPr/>
        </p:nvSpPr>
        <p:spPr>
          <a:xfrm>
            <a:off x="1463040" y="4965192"/>
            <a:ext cx="3063240" cy="603504"/>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581912" y="5056632"/>
            <a:ext cx="475488" cy="228600"/>
          </a:xfrm>
          <a:prstGeom prst="rect">
            <a:avLst/>
          </a:prstGeom>
          <a:noFill/>
        </p:spPr>
        <p:txBody>
          <a:bodyPr wrap="square" lIns="27432" rIns="27432" tIns="27432" bIns="27432" anchor="ctr">
            <a:spAutoFit/>
          </a:bodyPr>
          <a:lstStyle/>
          <a:p>
            <a:pPr algn="ctr">
              <a:lnSpc>
                <a:spcPct val="105000"/>
              </a:lnSpc>
              <a:spcAft>
                <a:spcPts val="0"/>
              </a:spcAft>
            </a:pPr>
            <a:r>
              <a:rPr sz="900" b="1">
                <a:solidFill>
                  <a:srgbClr val="1070E0"/>
                </a:solidFill>
                <a:latin typeface="Microsoft YaHei"/>
              </a:rPr>
              <a:t>近期</a:t>
            </a:r>
          </a:p>
        </p:txBody>
      </p:sp>
      <p:sp>
        <p:nvSpPr>
          <p:cNvPr id="62" name="TextBox 61"/>
          <p:cNvSpPr txBox="1"/>
          <p:nvPr/>
        </p:nvSpPr>
        <p:spPr>
          <a:xfrm>
            <a:off x="2130552" y="5020056"/>
            <a:ext cx="2267712" cy="310896"/>
          </a:xfrm>
          <a:prstGeom prst="rect">
            <a:avLst/>
          </a:prstGeom>
          <a:noFill/>
        </p:spPr>
        <p:txBody>
          <a:bodyPr wrap="square" lIns="27432" rIns="27432" tIns="27432" bIns="27432" anchor="t">
            <a:spAutoFit/>
          </a:bodyPr>
          <a:lstStyle/>
          <a:p>
            <a:pPr algn="l">
              <a:lnSpc>
                <a:spcPct val="105000"/>
              </a:lnSpc>
              <a:spcAft>
                <a:spcPts val="0"/>
              </a:spcAft>
            </a:pPr>
            <a:r>
              <a:rPr sz="790" b="0">
                <a:solidFill>
                  <a:srgbClr val="1E3148"/>
                </a:solidFill>
                <a:latin typeface="Microsoft YaHei"/>
              </a:rPr>
              <a:t>统一标准、对象编码与规则模板，补齐道路、隧道和管线关键能力</a:t>
            </a:r>
          </a:p>
        </p:txBody>
      </p:sp>
      <p:sp>
        <p:nvSpPr>
          <p:cNvPr id="63" name="Rounded Rectangle 62"/>
          <p:cNvSpPr/>
          <p:nvPr/>
        </p:nvSpPr>
        <p:spPr>
          <a:xfrm>
            <a:off x="4663440" y="4965192"/>
            <a:ext cx="3090672" cy="603504"/>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782312" y="5056632"/>
            <a:ext cx="475488" cy="228600"/>
          </a:xfrm>
          <a:prstGeom prst="rect">
            <a:avLst/>
          </a:prstGeom>
          <a:noFill/>
        </p:spPr>
        <p:txBody>
          <a:bodyPr wrap="square" lIns="27432" rIns="27432" tIns="27432" bIns="27432" anchor="ctr">
            <a:spAutoFit/>
          </a:bodyPr>
          <a:lstStyle/>
          <a:p>
            <a:pPr algn="ctr">
              <a:lnSpc>
                <a:spcPct val="105000"/>
              </a:lnSpc>
              <a:spcAft>
                <a:spcPts val="0"/>
              </a:spcAft>
            </a:pPr>
            <a:r>
              <a:rPr sz="900" b="1">
                <a:solidFill>
                  <a:srgbClr val="219167"/>
                </a:solidFill>
                <a:latin typeface="Microsoft YaHei"/>
              </a:rPr>
              <a:t>中期</a:t>
            </a:r>
          </a:p>
        </p:txBody>
      </p:sp>
      <p:sp>
        <p:nvSpPr>
          <p:cNvPr id="65" name="TextBox 64"/>
          <p:cNvSpPr txBox="1"/>
          <p:nvPr/>
        </p:nvSpPr>
        <p:spPr>
          <a:xfrm>
            <a:off x="5330952" y="5020056"/>
            <a:ext cx="2295144" cy="310896"/>
          </a:xfrm>
          <a:prstGeom prst="rect">
            <a:avLst/>
          </a:prstGeom>
          <a:noFill/>
        </p:spPr>
        <p:txBody>
          <a:bodyPr wrap="square" lIns="27432" rIns="27432" tIns="27432" bIns="27432" anchor="t">
            <a:spAutoFit/>
          </a:bodyPr>
          <a:lstStyle/>
          <a:p>
            <a:pPr algn="l">
              <a:lnSpc>
                <a:spcPct val="105000"/>
              </a:lnSpc>
              <a:spcAft>
                <a:spcPts val="0"/>
              </a:spcAft>
            </a:pPr>
            <a:r>
              <a:rPr sz="790" b="0">
                <a:solidFill>
                  <a:srgbClr val="1E3148"/>
                </a:solidFill>
                <a:latin typeface="Microsoft YaHei"/>
              </a:rPr>
              <a:t>推进超融合数据库对象、索引和版本模型，形成 AI 辅助工具链</a:t>
            </a:r>
          </a:p>
        </p:txBody>
      </p:sp>
      <p:sp>
        <p:nvSpPr>
          <p:cNvPr id="66" name="Rounded Rectangle 65"/>
          <p:cNvSpPr/>
          <p:nvPr/>
        </p:nvSpPr>
        <p:spPr>
          <a:xfrm>
            <a:off x="7900416" y="4965192"/>
            <a:ext cx="3739896" cy="603504"/>
          </a:xfrm>
          <a:prstGeom prst="roundRect">
            <a:avLst>
              <a:gd name="adj" fmla="val 8000"/>
            </a:avLst>
          </a:prstGeom>
          <a:solidFill>
            <a:srgbClr val="FFF4E7"/>
          </a:solidFill>
          <a:ln w="8890">
            <a:solidFill>
              <a:srgbClr val="FFF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019288" y="5056632"/>
            <a:ext cx="475488" cy="228600"/>
          </a:xfrm>
          <a:prstGeom prst="rect">
            <a:avLst/>
          </a:prstGeom>
          <a:noFill/>
        </p:spPr>
        <p:txBody>
          <a:bodyPr wrap="square" lIns="27432" rIns="27432" tIns="27432" bIns="27432" anchor="ctr">
            <a:spAutoFit/>
          </a:bodyPr>
          <a:lstStyle/>
          <a:p>
            <a:pPr algn="ctr">
              <a:lnSpc>
                <a:spcPct val="105000"/>
              </a:lnSpc>
              <a:spcAft>
                <a:spcPts val="0"/>
              </a:spcAft>
            </a:pPr>
            <a:r>
              <a:rPr sz="900" b="1">
                <a:solidFill>
                  <a:srgbClr val="E58B30"/>
                </a:solidFill>
                <a:latin typeface="Microsoft YaHei"/>
              </a:rPr>
              <a:t>持续</a:t>
            </a:r>
          </a:p>
        </p:txBody>
      </p:sp>
      <p:sp>
        <p:nvSpPr>
          <p:cNvPr id="68" name="TextBox 67"/>
          <p:cNvSpPr txBox="1"/>
          <p:nvPr/>
        </p:nvSpPr>
        <p:spPr>
          <a:xfrm>
            <a:off x="8567928" y="5020056"/>
            <a:ext cx="2944368" cy="310896"/>
          </a:xfrm>
          <a:prstGeom prst="rect">
            <a:avLst/>
          </a:prstGeom>
          <a:noFill/>
        </p:spPr>
        <p:txBody>
          <a:bodyPr wrap="square" lIns="27432" rIns="27432" tIns="27432" bIns="27432" anchor="t">
            <a:spAutoFit/>
          </a:bodyPr>
          <a:lstStyle/>
          <a:p>
            <a:pPr algn="l">
              <a:lnSpc>
                <a:spcPct val="105000"/>
              </a:lnSpc>
              <a:spcAft>
                <a:spcPts val="0"/>
              </a:spcAft>
            </a:pPr>
            <a:r>
              <a:rPr sz="790" b="0">
                <a:solidFill>
                  <a:srgbClr val="1E3148"/>
                </a:solidFill>
                <a:latin typeface="Microsoft YaHei"/>
              </a:rPr>
              <a:t>以数字孪生专项牵引数据、建模、AI 和专题应用协同演进</a:t>
            </a:r>
          </a:p>
        </p:txBody>
      </p:sp>
      <p:sp>
        <p:nvSpPr>
          <p:cNvPr id="69" name="Rounded Rectangle 68"/>
          <p:cNvSpPr/>
          <p:nvPr/>
        </p:nvSpPr>
        <p:spPr>
          <a:xfrm>
            <a:off x="530352" y="5733288"/>
            <a:ext cx="11109960" cy="438912"/>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9808" y="5815584"/>
            <a:ext cx="10671048" cy="246888"/>
          </a:xfrm>
          <a:prstGeom prst="rect">
            <a:avLst/>
          </a:prstGeom>
          <a:noFill/>
        </p:spPr>
        <p:txBody>
          <a:bodyPr wrap="square" lIns="27432" rIns="27432" tIns="27432" bIns="27432" anchor="ctr">
            <a:spAutoFit/>
          </a:bodyPr>
          <a:lstStyle/>
          <a:p>
            <a:pPr algn="ctr">
              <a:lnSpc>
                <a:spcPct val="105000"/>
              </a:lnSpc>
              <a:spcAft>
                <a:spcPts val="0"/>
              </a:spcAft>
            </a:pPr>
            <a:r>
              <a:rPr sz="1050" b="1">
                <a:solidFill>
                  <a:srgbClr val="FFFFFF"/>
                </a:solidFill>
                <a:latin typeface="Microsoft YaHei"/>
              </a:rPr>
              <a:t>以自动化建模形成数字对象，以超融合数据库沉淀数据资产，以 AI 增强理解与检查，以数字孪生专项牵引应用。</a:t>
            </a:r>
          </a:p>
        </p:txBody>
      </p:sp>
      <p:cxnSp>
        <p:nvCxnSpPr>
          <p:cNvPr id="71" name="Connector 70"/>
          <p:cNvCxnSpPr/>
          <p:nvPr/>
        </p:nvCxnSpPr>
        <p:spPr>
          <a:xfrm>
            <a:off x="530352" y="6345936"/>
            <a:ext cx="11119104" cy="0"/>
          </a:xfrm>
          <a:prstGeom prst="line">
            <a:avLst/>
          </a:prstGeom>
          <a:ln w="8890">
            <a:solidFill>
              <a:srgbClr val="D7E4F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30352" y="6400800"/>
            <a:ext cx="1463040" cy="164592"/>
          </a:xfrm>
          <a:prstGeom prst="rect">
            <a:avLst/>
          </a:prstGeom>
          <a:noFill/>
        </p:spPr>
        <p:txBody>
          <a:bodyPr wrap="square" lIns="27432" rIns="27432" tIns="27432" bIns="27432" anchor="ctr">
            <a:spAutoFit/>
          </a:bodyPr>
          <a:lstStyle/>
          <a:p>
            <a:pPr algn="l">
              <a:lnSpc>
                <a:spcPct val="105000"/>
              </a:lnSpc>
              <a:spcAft>
                <a:spcPts val="0"/>
              </a:spcAft>
            </a:pPr>
            <a:r>
              <a:rPr sz="750" b="0">
                <a:solidFill>
                  <a:srgbClr val="5B6F87"/>
                </a:solidFill>
                <a:latin typeface="Microsoft YaHei"/>
              </a:rPr>
              <a:t>后续重点工作</a:t>
            </a:r>
          </a:p>
        </p:txBody>
      </p:sp>
      <p:sp>
        <p:nvSpPr>
          <p:cNvPr id="73" name="TextBox 72"/>
          <p:cNvSpPr txBox="1"/>
          <p:nvPr/>
        </p:nvSpPr>
        <p:spPr>
          <a:xfrm>
            <a:off x="11338560" y="6400800"/>
            <a:ext cx="301752" cy="164592"/>
          </a:xfrm>
          <a:prstGeom prst="rect">
            <a:avLst/>
          </a:prstGeom>
          <a:noFill/>
        </p:spPr>
        <p:txBody>
          <a:bodyPr wrap="square" lIns="27432" rIns="27432" tIns="27432" bIns="27432" anchor="ctr">
            <a:spAutoFit/>
          </a:bodyPr>
          <a:lstStyle/>
          <a:p>
            <a:pPr algn="r">
              <a:lnSpc>
                <a:spcPct val="105000"/>
              </a:lnSpc>
              <a:spcAft>
                <a:spcPts val="0"/>
              </a:spcAft>
            </a:pPr>
            <a:r>
              <a:rPr sz="800" b="0">
                <a:solidFill>
                  <a:srgbClr val="AABBCD"/>
                </a:solidFill>
                <a:latin typeface="Microsoft YaHe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8" name="picture 568"/>
          <p:cNvPicPr>
            <a:picLocks noChangeAspect="1"/>
          </p:cNvPicPr>
          <p:nvPr/>
        </p:nvPicPr>
        <p:blipFill>
          <a:blip r:embed="rId1"/>
          <a:stretch>
            <a:fillRect/>
          </a:stretch>
        </p:blipFill>
        <p:spPr>
          <a:xfrm rot="21600000">
            <a:off x="0" y="0"/>
            <a:ext cx="12192000" cy="5096255"/>
          </a:xfrm>
          <a:prstGeom prst="rect">
            <a:avLst/>
          </a:prstGeom>
        </p:spPr>
      </p:pic>
      <p:sp>
        <p:nvSpPr>
          <p:cNvPr id="570" name="textbox 570"/>
          <p:cNvSpPr/>
          <p:nvPr/>
        </p:nvSpPr>
        <p:spPr>
          <a:xfrm>
            <a:off x="846569" y="2930842"/>
            <a:ext cx="2368550" cy="110807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algn="r" rtl="0" eaLnBrk="0">
              <a:lnSpc>
                <a:spcPts val="8520"/>
              </a:lnSpc>
            </a:pPr>
            <a:r>
              <a:rPr sz="5500" kern="0" spc="-450" dirty="0">
                <a:solidFill>
                  <a:srgbClr val="FFFFFF">
                    <a:alpha val="100000"/>
                  </a:srgbClr>
                </a:solidFill>
                <a:cs typeface="+mn-ea"/>
                <a:sym typeface="+mn-lt"/>
              </a:rPr>
              <a:t>谢谢！</a:t>
            </a:r>
            <a:endParaRPr sz="5500" dirty="0">
              <a:cs typeface="+mn-ea"/>
              <a:sym typeface="+mn-lt"/>
            </a:endParaRPr>
          </a:p>
        </p:txBody>
      </p:sp>
      <p:sp>
        <p:nvSpPr>
          <p:cNvPr id="572" name="textbox 572"/>
          <p:cNvSpPr/>
          <p:nvPr/>
        </p:nvSpPr>
        <p:spPr>
          <a:xfrm>
            <a:off x="884530" y="3982875"/>
            <a:ext cx="2164714" cy="551180"/>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2700" algn="l" rtl="0" eaLnBrk="0">
              <a:lnSpc>
                <a:spcPts val="4135"/>
              </a:lnSpc>
            </a:pPr>
            <a:r>
              <a:rPr sz="3200" kern="0" spc="-20" dirty="0">
                <a:solidFill>
                  <a:srgbClr val="FFFFFF">
                    <a:alpha val="100000"/>
                  </a:srgbClr>
                </a:solidFill>
                <a:cs typeface="+mn-ea"/>
                <a:sym typeface="+mn-lt"/>
              </a:rPr>
              <a:t>Thank you!</a:t>
            </a:r>
            <a:endParaRPr sz="3200" dirty="0">
              <a:cs typeface="+mn-ea"/>
              <a:sym typeface="+mn-lt"/>
            </a:endParaRPr>
          </a:p>
        </p:txBody>
      </p:sp>
      <p:pic>
        <p:nvPicPr>
          <p:cNvPr id="574" name="picture 574"/>
          <p:cNvPicPr>
            <a:picLocks noChangeAspect="1"/>
          </p:cNvPicPr>
          <p:nvPr/>
        </p:nvPicPr>
        <p:blipFill>
          <a:blip r:embed="rId2"/>
          <a:stretch>
            <a:fillRect/>
          </a:stretch>
        </p:blipFill>
        <p:spPr>
          <a:xfrm rot="21600000">
            <a:off x="10453597" y="6329285"/>
            <a:ext cx="1444830" cy="281714"/>
          </a:xfrm>
          <a:prstGeom prst="rect">
            <a:avLst/>
          </a:prstGeom>
        </p:spPr>
      </p:pic>
      <p:sp>
        <p:nvSpPr>
          <p:cNvPr id="576" name="textbox 576"/>
          <p:cNvSpPr/>
          <p:nvPr/>
        </p:nvSpPr>
        <p:spPr>
          <a:xfrm>
            <a:off x="413390" y="6422201"/>
            <a:ext cx="2032000" cy="137795"/>
          </a:xfrm>
          <a:prstGeom prst="rect">
            <a:avLst/>
          </a:prstGeom>
          <a:noFill/>
          <a:ln w="0" cap="flat">
            <a:noFill/>
            <a:prstDash val="solid"/>
            <a:miter lim="0"/>
          </a:ln>
        </p:spPr>
        <p:txBody>
          <a:bodyPr vert="horz" wrap="square" lIns="0" tIns="0" rIns="0" bIns="0"/>
          <a:lstStyle/>
          <a:p>
            <a:pPr algn="l" rtl="0" eaLnBrk="0">
              <a:lnSpc>
                <a:spcPct val="81000"/>
              </a:lnSpc>
            </a:pPr>
            <a:endParaRPr sz="100" dirty="0">
              <a:cs typeface="+mn-ea"/>
              <a:sym typeface="+mn-lt"/>
            </a:endParaRPr>
          </a:p>
          <a:p>
            <a:pPr marL="12700" algn="l" rtl="0" eaLnBrk="0">
              <a:lnSpc>
                <a:spcPct val="92000"/>
              </a:lnSpc>
            </a:pPr>
            <a:r>
              <a:rPr sz="800" i="1" kern="0" spc="200" dirty="0">
                <a:solidFill>
                  <a:srgbClr val="000000">
                    <a:alpha val="100000"/>
                  </a:srgbClr>
                </a:solidFill>
                <a:cs typeface="+mn-ea"/>
                <a:sym typeface="+mn-lt"/>
              </a:rPr>
              <a:t>让</a:t>
            </a:r>
            <a:r>
              <a:rPr sz="800" kern="0" spc="60" dirty="0">
                <a:solidFill>
                  <a:srgbClr val="000000">
                    <a:alpha val="100000"/>
                  </a:srgbClr>
                </a:solidFill>
                <a:cs typeface="+mn-ea"/>
                <a:sym typeface="+mn-lt"/>
              </a:rPr>
              <a:t> </a:t>
            </a:r>
            <a:r>
              <a:rPr sz="800" i="1" kern="0" spc="200" dirty="0">
                <a:solidFill>
                  <a:srgbClr val="000000">
                    <a:alpha val="100000"/>
                  </a:srgbClr>
                </a:solidFill>
                <a:cs typeface="+mn-ea"/>
                <a:sym typeface="+mn-lt"/>
              </a:rPr>
              <a:t>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市</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智</a:t>
            </a:r>
            <a:r>
              <a:rPr sz="800" kern="0" spc="20" dirty="0">
                <a:solidFill>
                  <a:srgbClr val="000000">
                    <a:alpha val="100000"/>
                  </a:srgbClr>
                </a:solidFill>
                <a:cs typeface="+mn-ea"/>
                <a:sym typeface="+mn-lt"/>
              </a:rPr>
              <a:t> </a:t>
            </a:r>
            <a:r>
              <a:rPr sz="800" i="1" kern="0" spc="200" dirty="0">
                <a:solidFill>
                  <a:srgbClr val="000000">
                    <a:alpha val="100000"/>
                  </a:srgbClr>
                </a:solidFill>
                <a:cs typeface="+mn-ea"/>
                <a:sym typeface="+mn-lt"/>
              </a:rPr>
              <a:t>慧</a:t>
            </a:r>
            <a:r>
              <a:rPr sz="800" kern="0" spc="200" dirty="0">
                <a:solidFill>
                  <a:srgbClr val="000000">
                    <a:alpha val="100000"/>
                  </a:srgbClr>
                </a:solidFill>
                <a:cs typeface="+mn-ea"/>
                <a:sym typeface="+mn-lt"/>
              </a:rPr>
              <a:t>   </a:t>
            </a:r>
            <a:r>
              <a:rPr sz="800" i="1" kern="0" spc="200" dirty="0">
                <a:solidFill>
                  <a:srgbClr val="000000">
                    <a:alpha val="100000"/>
                  </a:srgbClr>
                </a:solidFill>
                <a:cs typeface="+mn-ea"/>
                <a:sym typeface="+mn-lt"/>
              </a:rPr>
              <a:t>让</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生</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活</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好</a:t>
            </a:r>
            <a:endParaRPr sz="800" dirty="0">
              <a:cs typeface="+mn-ea"/>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5.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6.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7.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8.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9.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0.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1.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2.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7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5.xml><?xml version="1.0" encoding="utf-8"?>
<p:tagLst xmlns:p="http://schemas.openxmlformats.org/presentationml/2006/main">
  <p:tag name="KSO_WM_DIAGRAM_VIRTUALLY_FRAME" val="{&quot;height&quot;:294.19393700787396,&quot;left&quot;:0.3992125984252198,&quot;top&quot;:84.10590551181102,&quot;width&quot;:959.25}"/>
</p:tagLst>
</file>

<file path=ppt/tags/tag96.xml><?xml version="1.0" encoding="utf-8"?>
<p:tagLst xmlns:p="http://schemas.openxmlformats.org/presentationml/2006/main">
  <p:tag name="KSO_WM_DIAGRAM_VIRTUALLY_FRAME" val="{&quot;height&quot;:294.19393700787396,&quot;left&quot;:0.3992125984252198,&quot;top&quot;:84.10590551181102,&quot;width&quot;:959.25}"/>
</p:tagLst>
</file>

<file path=ppt/tags/tag97.xml><?xml version="1.0" encoding="utf-8"?>
<p:tagLst xmlns:p="http://schemas.openxmlformats.org/presentationml/2006/main">
  <p:tag name="KSO_WM_DIAGRAM_VIRTUALLY_FRAME" val="{&quot;height&quot;:294.19393700787396,&quot;left&quot;:0.3992125984252198,&quot;top&quot;:84.10590551181102,&quot;width&quot;:959.25}"/>
</p:tagLst>
</file>

<file path=ppt/tags/tag98.xml><?xml version="1.0" encoding="utf-8"?>
<p:tagLst xmlns:p="http://schemas.openxmlformats.org/presentationml/2006/main">
  <p:tag name="KSO_WM_DIAGRAM_VIRTUALLY_FRAME" val="{&quot;height&quot;:294.19393700787396,&quot;left&quot;:0.3992125984252198,&quot;top&quot;:84.10590551181102,&quot;width&quot;:959.25}"/>
</p:tagLst>
</file>

<file path=ppt/tags/tag99.xml><?xml version="1.0" encoding="utf-8"?>
<p:tagLst xmlns:p="http://schemas.openxmlformats.org/presentationml/2006/main">
  <p:tag name="KSO_WM_DIAGRAM_VIRTUALLY_FRAME" val="{&quot;height&quot;:294.19393700787396,&quot;left&quot;:0.3992125984252198,&quot;top&quot;:84.10590551181102,&quot;width&quot;:959.25}"/>
</p:tagLst>
</file>

<file path=ppt/tags/tag100.xml><?xml version="1.0" encoding="utf-8"?>
<p:tagLst xmlns:p="http://schemas.openxmlformats.org/presentationml/2006/main">
  <p:tag name="KSO_WM_DIAGRAM_VIRTUALLY_FRAME" val="{&quot;height&quot;:294.19393700787396,&quot;left&quot;:0.3992125984252198,&quot;top&quot;:84.10590551181102,&quot;width&quot;:959.25}"/>
</p:tagLst>
</file>

<file path=ppt/tags/tag101.xml><?xml version="1.0" encoding="utf-8"?>
<p:tagLst xmlns:p="http://schemas.openxmlformats.org/presentationml/2006/main">
  <p:tag name="KSO_WM_DIAGRAM_VIRTUALLY_FRAME" val="{&quot;height&quot;:294.19393700787396,&quot;left&quot;:0.3992125984252198,&quot;top&quot;:84.10590551181102,&quot;width&quot;:959.25}"/>
</p:tagLst>
</file>

<file path=ppt/tags/tag102.xml><?xml version="1.0" encoding="utf-8"?>
<p:tagLst xmlns:p="http://schemas.openxmlformats.org/presentationml/2006/main">
  <p:tag name="KSO_WM_DIAGRAM_VIRTUALLY_FRAME" val="{&quot;height&quot;:294.19393700787396,&quot;left&quot;:0.3992125984252198,&quot;top&quot;:84.10590551181102,&quot;width&quot;:959.25}"/>
</p:tagLst>
</file>

<file path=ppt/tags/tag103.xml><?xml version="1.0" encoding="utf-8"?>
<p:tagLst xmlns:p="http://schemas.openxmlformats.org/presentationml/2006/main">
  <p:tag name="KSO_WM_DIAGRAM_VIRTUALLY_FRAME" val="{&quot;height&quot;:294.19393700787396,&quot;left&quot;:0.3992125984252198,&quot;top&quot;:84.10590551181102,&quot;width&quot;:959.25}"/>
</p:tagLst>
</file>

<file path=ppt/tags/tag104.xml><?xml version="1.0" encoding="utf-8"?>
<p:tagLst xmlns:p="http://schemas.openxmlformats.org/presentationml/2006/main">
  <p:tag name="KSO_WM_DIAGRAM_VIRTUALLY_FRAME" val="{&quot;height&quot;:294.19393700787396,&quot;left&quot;:0.3992125984252198,&quot;top&quot;:84.10590551181102,&quot;width&quot;:959.25}"/>
</p:tagLst>
</file>

<file path=ppt/tags/tag105.xml><?xml version="1.0" encoding="utf-8"?>
<p:tagLst xmlns:p="http://schemas.openxmlformats.org/presentationml/2006/main">
  <p:tag name="KSO_WM_DIAGRAM_VIRTUALLY_FRAME" val="{&quot;height&quot;:294.19393700787396,&quot;left&quot;:0.3992125984252198,&quot;top&quot;:84.10590551181102,&quot;width&quot;:959.25}"/>
</p:tagLst>
</file>

<file path=ppt/tags/tag106.xml><?xml version="1.0" encoding="utf-8"?>
<p:tagLst xmlns:p="http://schemas.openxmlformats.org/presentationml/2006/main">
  <p:tag name="KSO_WM_DIAGRAM_VIRTUALLY_FRAME" val="{&quot;height&quot;:294.19393700787396,&quot;left&quot;:0.3992125984252198,&quot;top&quot;:84.10590551181102,&quot;width&quot;:959.25}"/>
</p:tagLst>
</file>

<file path=ppt/tags/tag107.xml><?xml version="1.0" encoding="utf-8"?>
<p:tagLst xmlns:p="http://schemas.openxmlformats.org/presentationml/2006/main">
  <p:tag name="KSO_WM_DIAGRAM_VIRTUALLY_FRAME" val="{&quot;height&quot;:294.19393700787396,&quot;left&quot;:0.3992125984252198,&quot;top&quot;:84.10590551181102,&quot;width&quot;:959.25}"/>
</p:tagLst>
</file>

<file path=ppt/tags/tag108.xml><?xml version="1.0" encoding="utf-8"?>
<p:tagLst xmlns:p="http://schemas.openxmlformats.org/presentationml/2006/main">
  <p:tag name="KSO_WM_DIAGRAM_VIRTUALLY_FRAME" val="{&quot;height&quot;:294.19393700787396,&quot;left&quot;:0.3992125984252198,&quot;top&quot;:84.10590551181102,&quot;width&quot;:959.25}"/>
</p:tagLst>
</file>

<file path=ppt/tags/tag109.xml><?xml version="1.0" encoding="utf-8"?>
<p:tagLst xmlns:p="http://schemas.openxmlformats.org/presentationml/2006/main">
  <p:tag name="KSO_WM_DIAGRAM_VIRTUALLY_FRAME" val="{&quot;height&quot;:294.19393700787396,&quot;left&quot;:0.3992125984252198,&quot;top&quot;:84.10590551181102,&quot;width&quot;:959.25}"/>
</p:tagLst>
</file>

<file path=ppt/tags/tag110.xml><?xml version="1.0" encoding="utf-8"?>
<p:tagLst xmlns:p="http://schemas.openxmlformats.org/presentationml/2006/main">
  <p:tag name="KSO_WM_DIAGRAM_VIRTUALLY_FRAME" val="{&quot;height&quot;:294.19393700787396,&quot;left&quot;:0.3992125984252198,&quot;top&quot;:84.10590551181102,&quot;width&quot;:959.25}"/>
</p:tagLst>
</file>

<file path=ppt/tags/tag111.xml><?xml version="1.0" encoding="utf-8"?>
<p:tagLst xmlns:p="http://schemas.openxmlformats.org/presentationml/2006/main">
  <p:tag name="KSO_WM_DIAGRAM_VIRTUALLY_FRAME" val="{&quot;height&quot;:294.19393700787396,&quot;left&quot;:0.3992125984252198,&quot;top&quot;:84.10590551181102,&quot;width&quot;:959.25}"/>
</p:tagLst>
</file>

<file path=ppt/tags/tag112.xml><?xml version="1.0" encoding="utf-8"?>
<p:tagLst xmlns:p="http://schemas.openxmlformats.org/presentationml/2006/main">
  <p:tag name="KSO_WM_DIAGRAM_VIRTUALLY_FRAME" val="{&quot;height&quot;:294.19393700787396,&quot;left&quot;:0.3992125984252198,&quot;top&quot;:84.10590551181102,&quot;width&quot;:959.25}"/>
</p:tagLst>
</file>

<file path=ppt/tags/tag113.xml><?xml version="1.0" encoding="utf-8"?>
<p:tagLst xmlns:p="http://schemas.openxmlformats.org/presentationml/2006/main">
  <p:tag name="KSO_WM_DIAGRAM_VIRTUALLY_FRAME" val="{&quot;height&quot;:294.19393700787396,&quot;left&quot;:0.3992125984252198,&quot;top&quot;:84.10590551181102,&quot;width&quot;:959.25}"/>
</p:tagLst>
</file>

<file path=ppt/tags/tag114.xml><?xml version="1.0" encoding="utf-8"?>
<p:tagLst xmlns:p="http://schemas.openxmlformats.org/presentationml/2006/main">
  <p:tag name="KSO_WM_DIAGRAM_VIRTUALLY_FRAME" val="{&quot;height&quot;:294.19393700787396,&quot;left&quot;:0.3992125984252198,&quot;top&quot;:84.10590551181102,&quot;width&quot;:959.25}"/>
</p:tagLst>
</file>

<file path=ppt/tags/tag115.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6.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7.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8.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9.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0.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1.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2.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3.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4.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5.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6.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7.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8.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9.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0.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1.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2.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3.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9.xml><?xml version="1.0" encoding="utf-8"?>
<p:tagLst xmlns:p="http://schemas.openxmlformats.org/presentationml/2006/main">
  <p:tag name="RESOURCE_RECORD_KEY" val="{&quot;70&quot;:[3333443,3333499,3319206,3402706]}"/>
  <p:tag name="ISLIDE.GUIDESSETTING" val="{&quot;Id&quot;:&quot;0ee90932-8089-415b-b0a3-de9025d5abf4&quot;,&quot;Name&quot;:null,&quot;Kind&quot;:1,&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6c68f1a-9668-47cb-a843-11c41c3de5e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accent1">
              <a:shade val="1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nchor="t">
        <a:spAutoFit/>
      </a:bodyPr>
      <a:lstStyle>
        <a:defPPr marL="230505" algn="l" rtl="0" eaLnBrk="0">
          <a:lnSpc>
            <a:spcPct val="96000"/>
          </a:lnSpc>
          <a:spcBef>
            <a:spcPts val="5"/>
          </a:spcBef>
          <a:defRPr sz="1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741</Words>
  <Application>WPS 演示</Application>
  <PresentationFormat>宽屏</PresentationFormat>
  <Paragraphs>195</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宋体</vt:lpstr>
      <vt:lpstr>Wingdings</vt:lpstr>
      <vt:lpstr>微软雅黑</vt:lpstr>
      <vt:lpstr>字魂58号-创中黑</vt:lpstr>
      <vt:lpstr>MiSans</vt:lpstr>
      <vt:lpstr>Source Han Sans</vt:lpstr>
      <vt:lpstr>Source Han Sans CN Bold</vt:lpstr>
      <vt:lpstr>Arial Unicode MS</vt:lpstr>
      <vt:lpstr>Calibri</vt:lpstr>
      <vt:lpstr>黑体</vt:lpstr>
      <vt:lpstr>微软雅黑</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xuren deng</dc:creator>
  <cp:lastModifiedBy>曹宏坤</cp:lastModifiedBy>
  <cp:revision>515</cp:revision>
  <dcterms:created xsi:type="dcterms:W3CDTF">2026-06-22T10:12:00Z</dcterms:created>
  <dcterms:modified xsi:type="dcterms:W3CDTF">2026-06-24T00:55:47Z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2025-04-29T03:29:12Z</vt:filetime>
  </property>
  <property fmtid="{D5CDD505-2E9C-101B-9397-08002B2CF9AE}" pid="4" name="ICV">
    <vt:lpwstr>3CCEDFEB15D446F88562D42963E9DD7B_13</vt:lpwstr>
  </property>
  <property fmtid="{D5CDD505-2E9C-101B-9397-08002B2CF9AE}" pid="5" name="KSOProductBuildVer">
    <vt:lpwstr>2052-12.1.0.26895</vt:lpwstr>
  </property>
</Properties>
</file>