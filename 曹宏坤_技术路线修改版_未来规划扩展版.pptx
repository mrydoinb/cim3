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8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rcRect l="10001" r="1000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13248"/>
            <a:ext cx="7863840" cy="1444752"/>
          </a:xfrm>
          <a:prstGeom prst="rect">
            <a:avLst/>
          </a:prstGeom>
          <a:solidFill>
            <a:srgbClr val="004A96"/>
          </a:solidFill>
          <a:ln>
            <a:solidFill>
              <a:srgbClr val="0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09728" cy="324612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024128"/>
            <a:ext cx="80467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CE1FF"/>
                </a:solidFill>
                <a:latin typeface="Microsoft YaHei"/>
              </a:rPr>
              <a:t>城市基础设施数字化建模与时空数据融合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8046720" cy="8412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技术路线与阶段进展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89504"/>
            <a:ext cx="85039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面向超融合数据库与数字孪生专项的共性技术能力建设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687568"/>
            <a:ext cx="29260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汇报人：曹宏坤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89904"/>
            <a:ext cx="20116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3E1FA"/>
                </a:solidFill>
                <a:latin typeface="Microsoft YaHei"/>
              </a:rPr>
              <a:t>2026.06.23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76" y="6153912"/>
            <a:ext cx="2011680" cy="1788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REPORT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汇报重点：围绕总体目标、关键问题与后续重点工作展开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44752"/>
            <a:ext cx="3310128" cy="4151376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1792224"/>
            <a:ext cx="658368" cy="65836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47672"/>
            <a:ext cx="658368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688336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D3D"/>
                </a:solidFill>
                <a:latin typeface="Microsoft YaHei"/>
              </a:rPr>
              <a:t>总体路线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3328416"/>
            <a:ext cx="2670048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>
                <a:solidFill>
                  <a:srgbClr val="5B6B7E"/>
                </a:solidFill>
                <a:latin typeface="Microsoft YaHei"/>
              </a:rPr>
              <a:t>构建数据治理、规则表达、</a:t>
            </a:r>
            <a:br/>
            <a:r>
              <a:t>空间建模与应用服务链条。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8407" y="4992624"/>
            <a:ext cx="2377441" cy="0"/>
          </a:xfrm>
          <a:prstGeom prst="line">
            <a:avLst/>
          </a:prstGeom>
          <a:ln w="25400">
            <a:solidFill>
              <a:srgbClr val="007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53128" y="1444752"/>
            <a:ext cx="3310128" cy="4151376"/>
          </a:xfrm>
          <a:prstGeom prst="roundRect">
            <a:avLst>
              <a:gd name="adj" fmla="val 8000"/>
            </a:avLst>
          </a:prstGeom>
          <a:solidFill>
            <a:srgbClr val="E8F4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64024" y="1792224"/>
            <a:ext cx="658368" cy="658368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4024" y="1947672"/>
            <a:ext cx="658368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688336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D3D"/>
                </a:solidFill>
                <a:latin typeface="Microsoft YaHei"/>
              </a:rPr>
              <a:t>关键问题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328416"/>
            <a:ext cx="2670048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>
                <a:solidFill>
                  <a:srgbClr val="5B6B7E"/>
                </a:solidFill>
                <a:latin typeface="Microsoft YaHei"/>
              </a:rPr>
              <a:t>聚焦数据一致性、对象化建模、</a:t>
            </a:r>
            <a:br/>
            <a:r>
              <a:t>空间关系与数据资产维护。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73168" y="4992624"/>
            <a:ext cx="2377440" cy="0"/>
          </a:xfrm>
          <a:prstGeom prst="line">
            <a:avLst/>
          </a:prstGeom>
          <a:ln w="25400">
            <a:solidFill>
              <a:srgbClr val="EB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47888" y="1444752"/>
            <a:ext cx="3310128" cy="4151376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58784" y="1792224"/>
            <a:ext cx="658368" cy="65836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8784" y="1947672"/>
            <a:ext cx="658368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2688336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D3D"/>
                </a:solidFill>
                <a:latin typeface="Microsoft YaHei"/>
              </a:rPr>
              <a:t>应用支撑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3328416"/>
            <a:ext cx="2670048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>
                <a:solidFill>
                  <a:srgbClr val="5B6B7E"/>
                </a:solidFill>
                <a:latin typeface="Microsoft YaHei"/>
              </a:rPr>
              <a:t>支撑超融合数据库、数字孪生专项</a:t>
            </a:r>
            <a:br/>
            <a:r>
              <a:t>及多类基础设施建模。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4992624"/>
            <a:ext cx="2377440" cy="0"/>
          </a:xfrm>
          <a:prstGeom prst="line">
            <a:avLst/>
          </a:prstGeom>
          <a:ln w="25400">
            <a:solidFill>
              <a:srgbClr val="007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01 /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阶段定位：以典型场景形成共性技术，支撑城市数字底座建设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01952"/>
            <a:ext cx="1901952" cy="36576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数据接入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GIS / CAD / 业务表</a:t>
            </a:r>
            <a:br/>
            <a:r>
              <a:t>多源异构数据治理</a:t>
            </a:r>
          </a:p>
        </p:txBody>
      </p:sp>
      <p:sp>
        <p:nvSpPr>
          <p:cNvPr id="12" name="Chevron 11"/>
          <p:cNvSpPr/>
          <p:nvPr/>
        </p:nvSpPr>
        <p:spPr>
          <a:xfrm>
            <a:off x="2468880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07208" y="1901952"/>
            <a:ext cx="1901952" cy="365760"/>
          </a:xfrm>
          <a:prstGeom prst="rect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规则表达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专业规则与分级标准</a:t>
            </a:r>
            <a:br/>
            <a:r>
              <a:t>参数化组织</a:t>
            </a:r>
          </a:p>
        </p:txBody>
      </p:sp>
      <p:sp>
        <p:nvSpPr>
          <p:cNvPr id="17" name="Chevron 16"/>
          <p:cNvSpPr/>
          <p:nvPr/>
        </p:nvSpPr>
        <p:spPr>
          <a:xfrm>
            <a:off x="4773168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1496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1496" y="1901952"/>
            <a:ext cx="1901952" cy="365760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空间建模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道路、隧道、管线</a:t>
            </a:r>
            <a:br/>
            <a:r>
              <a:t>三维对象表达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7456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15784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15784" y="1901952"/>
            <a:ext cx="1901952" cy="365760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0376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语义关联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6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对象、属性、关系</a:t>
            </a:r>
            <a:br/>
            <a:r>
              <a:t>全过程可追溯</a:t>
            </a:r>
          </a:p>
        </p:txBody>
      </p:sp>
      <p:sp>
        <p:nvSpPr>
          <p:cNvPr id="27" name="Chevron 26"/>
          <p:cNvSpPr/>
          <p:nvPr/>
        </p:nvSpPr>
        <p:spPr>
          <a:xfrm>
            <a:off x="9381744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20072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20072" y="1901952"/>
            <a:ext cx="1901952" cy="36576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84664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应用支撑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4664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超融合数据库</a:t>
            </a:r>
            <a:br/>
            <a:r>
              <a:t>数字孪生专项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919472"/>
            <a:ext cx="10899648" cy="585216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074920"/>
            <a:ext cx="10515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4080"/>
                </a:solidFill>
                <a:latin typeface="Microsoft YaHei"/>
              </a:rPr>
              <a:t>核心目标：形成多源数据到数字对象的规范化转换能力，实现对象可解释、关系可查询、数据资产可持续演进。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01 /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技术体系：平台、算法与数据底座协同，形成可持续演进架构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53312"/>
            <a:ext cx="1089964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3152" cy="841248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7276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70E0"/>
                </a:solidFill>
                <a:latin typeface="Microsoft YaHei"/>
              </a:rPr>
              <a:t>三维表达平台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1554480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承担场景组织、三维表达与交互展示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1517904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定位为对象表达与空间关系呈现层，支撑专题应用拓展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14015"/>
            <a:ext cx="10899648" cy="841248"/>
          </a:xfrm>
          <a:prstGeom prst="rect">
            <a:avLst/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14015"/>
            <a:ext cx="73152" cy="841248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33472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F902C"/>
                </a:solidFill>
                <a:latin typeface="Microsoft YaHei"/>
              </a:rPr>
              <a:t>空间建模算法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615184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承担空间构造、分级表达与质量控制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2578608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沉淀可迁移的模型生成能力，服务多类基础设施对象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474720"/>
            <a:ext cx="1089964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474720"/>
            <a:ext cx="73152" cy="841248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94176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E8E60"/>
                </a:solidFill>
                <a:latin typeface="Microsoft YaHei"/>
              </a:rPr>
              <a:t>时空数据底座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3675887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承担对象、属性、关系、版本与索引管理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3639312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与超融合数据库研发衔接，支撑检索、分析与业务复用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535423"/>
            <a:ext cx="10899648" cy="841248"/>
          </a:xfrm>
          <a:prstGeom prst="rect">
            <a:avLst/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535423"/>
            <a:ext cx="73152" cy="841248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54879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B233A"/>
                </a:solidFill>
                <a:latin typeface="Microsoft YaHei"/>
              </a:rPr>
              <a:t>专项应用体系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8608" y="4736591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承担面向业务场景的成果组织与应用闭环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3872" y="4700015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支撑数字孪生专项从展示型成果向业务型应用延伸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715000"/>
            <a:ext cx="10899648" cy="45720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833872"/>
            <a:ext cx="105156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总体架构由“数据底座 + 规则算法 + 三维表达 + 专项应用”共同构成，强调能力协同与可持续迭代。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01 /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总体路线：以数据链为主线，构建可追溯的城市基础设施对象体系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01952"/>
            <a:ext cx="1627632" cy="347472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源数据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GIS / CAD</a:t>
            </a:r>
            <a:br/>
            <a:r>
              <a:t>业务台账</a:t>
            </a:r>
          </a:p>
        </p:txBody>
      </p:sp>
      <p:sp>
        <p:nvSpPr>
          <p:cNvPr id="12" name="Chevron 11"/>
          <p:cNvSpPr/>
          <p:nvPr/>
        </p:nvSpPr>
        <p:spPr>
          <a:xfrm>
            <a:off x="2084832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59152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901952"/>
            <a:ext cx="1627632" cy="347472"/>
          </a:xfrm>
          <a:prstGeom prst="rect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标准化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坐标 / 编码</a:t>
            </a:r>
            <a:br/>
            <a:r>
              <a:t>分类 / 质量</a:t>
            </a:r>
          </a:p>
        </p:txBody>
      </p:sp>
      <p:sp>
        <p:nvSpPr>
          <p:cNvPr id="17" name="Chevron 16"/>
          <p:cNvSpPr/>
          <p:nvPr/>
        </p:nvSpPr>
        <p:spPr>
          <a:xfrm>
            <a:off x="4032504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06824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6824" y="1901952"/>
            <a:ext cx="1627632" cy="347472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规则层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分级标准</a:t>
            </a:r>
            <a:br/>
            <a:r>
              <a:t>专业约束</a:t>
            </a:r>
          </a:p>
        </p:txBody>
      </p:sp>
      <p:sp>
        <p:nvSpPr>
          <p:cNvPr id="22" name="Chevron 21"/>
          <p:cNvSpPr/>
          <p:nvPr/>
        </p:nvSpPr>
        <p:spPr>
          <a:xfrm>
            <a:off x="5980176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4496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4496" y="1901952"/>
            <a:ext cx="1627632" cy="347472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模型层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三维对象</a:t>
            </a:r>
            <a:br/>
            <a:r>
              <a:t>空间关系</a:t>
            </a:r>
          </a:p>
        </p:txBody>
      </p:sp>
      <p:sp>
        <p:nvSpPr>
          <p:cNvPr id="27" name="Chevron 26"/>
          <p:cNvSpPr/>
          <p:nvPr/>
        </p:nvSpPr>
        <p:spPr>
          <a:xfrm>
            <a:off x="7927848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2167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02167" y="1901952"/>
            <a:ext cx="1627632" cy="347472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5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语义层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3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对象属性</a:t>
            </a:r>
            <a:br/>
            <a:r>
              <a:t>关系索引</a:t>
            </a:r>
          </a:p>
        </p:txBody>
      </p:sp>
      <p:sp>
        <p:nvSpPr>
          <p:cNvPr id="32" name="Chevron 31"/>
          <p:cNvSpPr/>
          <p:nvPr/>
        </p:nvSpPr>
        <p:spPr>
          <a:xfrm>
            <a:off x="9875519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49839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49839" y="1901952"/>
            <a:ext cx="1627632" cy="347472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59567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服务层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7855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孪生场景</a:t>
            </a:r>
            <a:br/>
            <a:r>
              <a:t>查询分析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407408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73152" cy="105156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61772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4590288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当前阶段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1328" y="5010912"/>
            <a:ext cx="4142232" cy="35661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以 CIM 道路建模为典型场景，打通数据标准化、空间构造和语义关联链路。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7648" y="4407408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27648" y="4407408"/>
            <a:ext cx="73152" cy="105156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61772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0608" y="4590288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后续阶段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5010912"/>
            <a:ext cx="4142232" cy="35661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将阶段形成的方法接入超融合数据库与数字孪生专项，支撑综合型城市基础设施应用。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02 / CURRENT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阶段实践：以道路建模贯通规则化生成与语义追溯链路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06</a:t>
            </a:r>
          </a:p>
        </p:txBody>
      </p:sp>
      <p:pic>
        <p:nvPicPr>
          <p:cNvPr id="8" name="Picture 7" descr="image8.png"/>
          <p:cNvPicPr>
            <a:picLocks noChangeAspect="1"/>
          </p:cNvPicPr>
          <p:nvPr/>
        </p:nvPicPr>
        <p:blipFill>
          <a:blip r:embed="rId3"/>
          <a:srcRect l="14401" r="14401"/>
          <a:stretch>
            <a:fillRect/>
          </a:stretch>
        </p:blipFill>
        <p:spPr>
          <a:xfrm>
            <a:off x="7086600" y="1353312"/>
            <a:ext cx="4462272" cy="2880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86600" y="3959352"/>
            <a:ext cx="4462272" cy="27432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400507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典型道路场景用于贯通数据—模型—语义链路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1417320"/>
            <a:ext cx="566928" cy="56692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54533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43560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143560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中心线、分类、宽度、断面等基础数据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2423160"/>
            <a:ext cx="566928" cy="56692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55117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44144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244144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依据专业规则形成分级模型与对象关系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3429000"/>
            <a:ext cx="566928" cy="56692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55701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44728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344728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三维对象、语义数据和典型问题样本库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" y="4434840"/>
            <a:ext cx="566928" cy="566928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56285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45312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2032" y="445312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建立模型对象与数据资产之间的关联机制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715000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4080"/>
                </a:solidFill>
                <a:latin typeface="Microsoft YaHei"/>
              </a:rPr>
              <a:t>该阶段重点在于形成可观察、可复盘、可扩展的技术链路，为多类型设施建模提供依据。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03 /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关键问题一：模型质量受数据一致性、规则表达与空间关系共同影响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07</a:t>
            </a:r>
          </a:p>
        </p:txBody>
      </p:sp>
      <p:pic>
        <p:nvPicPr>
          <p:cNvPr id="8" name="Picture 7" descr="image10.png"/>
          <p:cNvPicPr>
            <a:picLocks noChangeAspect="1"/>
          </p:cNvPicPr>
          <p:nvPr/>
        </p:nvPicPr>
        <p:blipFill>
          <a:blip r:embed="rId3"/>
          <a:srcRect l="17363" r="17363"/>
          <a:stretch>
            <a:fillRect/>
          </a:stretch>
        </p:blipFill>
        <p:spPr>
          <a:xfrm>
            <a:off x="658368" y="1353312"/>
            <a:ext cx="4828032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193792"/>
            <a:ext cx="4828032" cy="32004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257800"/>
            <a:ext cx="45262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典型路口场景：用于分析规则冲突与空间连续性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1481328"/>
            <a:ext cx="5623560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70448" y="1481328"/>
            <a:ext cx="73152" cy="941832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9164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1664208"/>
            <a:ext cx="45994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数据一致性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084832"/>
            <a:ext cx="45994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不同来源数据在空间精度、分类字段和属性完备性方面存在差异。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0448" y="2706624"/>
            <a:ext cx="5623560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70448" y="2706624"/>
            <a:ext cx="73152" cy="941832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916936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F902C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889504"/>
            <a:ext cx="45994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规则可配置性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3310128"/>
            <a:ext cx="45994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专业规则需具备参数化和版本化能力，避免形成一次性项目逻辑。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0448" y="3931920"/>
            <a:ext cx="5623560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70448" y="3931920"/>
            <a:ext cx="73152" cy="941832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14223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4114800"/>
            <a:ext cx="45994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对象统一性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4535424"/>
            <a:ext cx="45994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模型展示、语义查询和业务应用需共享统一的对象关系体系。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70448" y="5230368"/>
            <a:ext cx="5623560" cy="512064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5376672"/>
            <a:ext cx="5212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70E0"/>
                </a:solidFill>
                <a:latin typeface="Microsoft YaHei"/>
              </a:rPr>
              <a:t>工作重点：由单点模型修正转向数据标准、规则表达和对象关系的系统化治理。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03 /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关键问题二：专项建设需由文件管理提升为数据资产组织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327355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B233A"/>
                </a:solidFill>
                <a:latin typeface="Microsoft YaHei"/>
              </a:rPr>
              <a:t>文件孤立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21992"/>
            <a:ext cx="26700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9" b="0">
                <a:solidFill>
                  <a:srgbClr val="5B6B7E"/>
                </a:solidFill>
                <a:latin typeface="Microsoft YaHei"/>
              </a:rPr>
              <a:t>仅以文件形态管理，后续追踪、复用和增量更新能力不足。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72768"/>
            <a:ext cx="327355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755648"/>
            <a:ext cx="12801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F902C"/>
                </a:solidFill>
                <a:latin typeface="Microsoft YaHei"/>
              </a:rPr>
              <a:t>数据分散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21992"/>
            <a:ext cx="26700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9" b="0">
                <a:solidFill>
                  <a:srgbClr val="5B6B7E"/>
                </a:solidFill>
                <a:latin typeface="Microsoft YaHei"/>
              </a:rPr>
              <a:t>模型、表格、GIS 与业务系统之间缺少统一对象和索引机制。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572768"/>
            <a:ext cx="327355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755648"/>
            <a:ext cx="12801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F902C"/>
                </a:solidFill>
                <a:latin typeface="Microsoft YaHei"/>
              </a:rPr>
              <a:t>应用分离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221992"/>
            <a:ext cx="26700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9" b="0">
                <a:solidFill>
                  <a:srgbClr val="5B6B7E"/>
                </a:solidFill>
                <a:latin typeface="Microsoft YaHei"/>
              </a:rPr>
              <a:t>可视化展示、检索分析和业务汇报各自建设，难以形成协同。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28416"/>
            <a:ext cx="2377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0E0"/>
                </a:solidFill>
                <a:latin typeface="Microsoft YaHei"/>
              </a:rPr>
              <a:t>数据资产化建设重点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统一编码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设施对象有稳定 ID</a:t>
            </a:r>
          </a:p>
        </p:txBody>
      </p:sp>
      <p:sp>
        <p:nvSpPr>
          <p:cNvPr id="22" name="Oval 21"/>
          <p:cNvSpPr/>
          <p:nvPr/>
        </p:nvSpPr>
        <p:spPr>
          <a:xfrm>
            <a:off x="3456432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统一索引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空间、时间、属性可检索</a:t>
            </a:r>
          </a:p>
        </p:txBody>
      </p:sp>
      <p:sp>
        <p:nvSpPr>
          <p:cNvPr id="26" name="Oval 25"/>
          <p:cNvSpPr/>
          <p:nvPr/>
        </p:nvSpPr>
        <p:spPr>
          <a:xfrm>
            <a:off x="6254496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统一版本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数据更新可追踪</a:t>
            </a:r>
          </a:p>
        </p:txBody>
      </p:sp>
      <p:sp>
        <p:nvSpPr>
          <p:cNvPr id="30" name="Oval 29"/>
          <p:cNvSpPr/>
          <p:nvPr/>
        </p:nvSpPr>
        <p:spPr>
          <a:xfrm>
            <a:off x="9052560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建模、孪生、业务系统可共享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94960"/>
            <a:ext cx="10899648" cy="493776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532120"/>
            <a:ext cx="104698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超融合数据库研发需重点承接对象化、索引化和版本化能力，使模型对象具备查询、关联和更新基础。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04 / NEXT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面向超融合数据库：构建统一的城市基础设施时空数据组织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09</a:t>
            </a:r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rcRect l="18375" r="18375"/>
          <a:stretch>
            <a:fillRect/>
          </a:stretch>
        </p:blipFill>
        <p:spPr>
          <a:xfrm>
            <a:off x="658368" y="1353312"/>
            <a:ext cx="4709160" cy="4187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230368"/>
            <a:ext cx="4709160" cy="310896"/>
          </a:xfrm>
          <a:prstGeom prst="rect">
            <a:avLst/>
          </a:prstGeom>
          <a:solidFill>
            <a:srgbClr val="0C1824"/>
          </a:solidFill>
          <a:ln>
            <a:solidFill>
              <a:srgbClr val="0C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285232"/>
            <a:ext cx="43891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城市级对象网络：统一组织空间对象、属性信息与关联关系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79008" y="1389888"/>
            <a:ext cx="5468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79008" y="1389888"/>
            <a:ext cx="73152" cy="86868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572768"/>
            <a:ext cx="44439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对象层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993392"/>
            <a:ext cx="4443984" cy="1737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面向道路、隧道、管线、站点、设施等对象建立统一编码。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79008" y="2468880"/>
            <a:ext cx="5468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79008" y="2468880"/>
            <a:ext cx="73152" cy="868680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6791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E60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651760"/>
            <a:ext cx="44439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关系层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072384"/>
            <a:ext cx="4443984" cy="1737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表达空间邻接、上下游、穿越、权属和时间版本等关系。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79008" y="3547872"/>
            <a:ext cx="5468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79008" y="3547872"/>
            <a:ext cx="73152" cy="86868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758184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730752"/>
            <a:ext cx="44439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服务层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151376"/>
            <a:ext cx="4443984" cy="1737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支撑检索、统计、可视化分析和数字孪生应用服务。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79008" y="4983480"/>
            <a:ext cx="5468112" cy="530352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5138928"/>
            <a:ext cx="5074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04080"/>
                </a:solidFill>
                <a:latin typeface="Microsoft YaHei"/>
              </a:rPr>
              <a:t>建设重点在于形成对象、关系、索引和持续更新机制，而非仅存储模型文件。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04 / NEXT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面向数字孪生专项：由场景表达拓展至业务研判与闭环应用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1078992" y="1481328"/>
            <a:ext cx="713232" cy="713232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现状表达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基础设施对象</a:t>
            </a:r>
            <a:br/>
            <a:r>
              <a:t>三维表达</a:t>
            </a:r>
          </a:p>
        </p:txBody>
      </p:sp>
      <p:sp>
        <p:nvSpPr>
          <p:cNvPr id="12" name="Chevron 11"/>
          <p:cNvSpPr/>
          <p:nvPr/>
        </p:nvSpPr>
        <p:spPr>
          <a:xfrm>
            <a:off x="2286000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92424" y="1481328"/>
            <a:ext cx="713232" cy="7132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1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数据融合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时空数据</a:t>
            </a:r>
            <a:br/>
            <a:r>
              <a:t>业务数据</a:t>
            </a:r>
          </a:p>
        </p:txBody>
      </p:sp>
      <p:sp>
        <p:nvSpPr>
          <p:cNvPr id="17" name="Chevron 16"/>
          <p:cNvSpPr/>
          <p:nvPr/>
        </p:nvSpPr>
        <p:spPr>
          <a:xfrm>
            <a:off x="4599431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05855" y="1481328"/>
            <a:ext cx="713232" cy="713232"/>
          </a:xfrm>
          <a:prstGeom prst="ellipse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05855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关系理解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空间关系</a:t>
            </a:r>
            <a:br/>
            <a:r>
              <a:t>运行约束</a:t>
            </a:r>
          </a:p>
        </p:txBody>
      </p:sp>
      <p:sp>
        <p:nvSpPr>
          <p:cNvPr id="22" name="Chevron 21"/>
          <p:cNvSpPr/>
          <p:nvPr/>
        </p:nvSpPr>
        <p:spPr>
          <a:xfrm>
            <a:off x="6912864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19288" y="1481328"/>
            <a:ext cx="713232" cy="713232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5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场景应用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查询统计</a:t>
            </a:r>
            <a:br/>
            <a:r>
              <a:t>研判分析</a:t>
            </a:r>
          </a:p>
        </p:txBody>
      </p:sp>
      <p:sp>
        <p:nvSpPr>
          <p:cNvPr id="27" name="Chevron 26"/>
          <p:cNvSpPr/>
          <p:nvPr/>
        </p:nvSpPr>
        <p:spPr>
          <a:xfrm>
            <a:off x="9226296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19" y="1481328"/>
            <a:ext cx="713232" cy="713232"/>
          </a:xfrm>
          <a:prstGeom prst="ellipse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9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7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反馈更新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5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问题回流</a:t>
            </a:r>
            <a:br/>
            <a:r>
              <a:t>版本迭代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370832"/>
            <a:ext cx="51663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370832"/>
            <a:ext cx="73152" cy="1024128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581144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553712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已形成的基础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974336"/>
            <a:ext cx="4142232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自动建模、对象语义、空间关系和三维表达方法。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4370832"/>
            <a:ext cx="51663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27648" y="4370832"/>
            <a:ext cx="73152" cy="1024128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581144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4553712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需进一步完善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4974336"/>
            <a:ext cx="4142232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数据更新机制、业务指标体系、智能辅助理解与专题应用模板。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05 /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方法复用：形成面向多类城市基础设施对象的共性技术框架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对象抽象</a:t>
            </a:r>
          </a:p>
        </p:txBody>
      </p:sp>
      <p:sp>
        <p:nvSpPr>
          <p:cNvPr id="10" name="Chevron 9"/>
          <p:cNvSpPr/>
          <p:nvPr/>
        </p:nvSpPr>
        <p:spPr>
          <a:xfrm>
            <a:off x="2377439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D3D"/>
                </a:solidFill>
                <a:latin typeface="Microsoft YaHei"/>
              </a:rPr>
              <a:t>数据标准</a:t>
            </a:r>
          </a:p>
        </p:txBody>
      </p:sp>
      <p:sp>
        <p:nvSpPr>
          <p:cNvPr id="13" name="Chevron 12"/>
          <p:cNvSpPr/>
          <p:nvPr/>
        </p:nvSpPr>
        <p:spPr>
          <a:xfrm>
            <a:off x="4663440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12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D3D"/>
                </a:solidFill>
                <a:latin typeface="Microsoft YaHei"/>
              </a:rPr>
              <a:t>规则配置</a:t>
            </a:r>
          </a:p>
        </p:txBody>
      </p:sp>
      <p:sp>
        <p:nvSpPr>
          <p:cNvPr id="16" name="Chevron 15"/>
          <p:cNvSpPr/>
          <p:nvPr/>
        </p:nvSpPr>
        <p:spPr>
          <a:xfrm>
            <a:off x="6949440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7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D3D"/>
                </a:solidFill>
                <a:latin typeface="Microsoft YaHei"/>
              </a:rPr>
              <a:t>模型表达</a:t>
            </a:r>
          </a:p>
        </p:txBody>
      </p:sp>
      <p:sp>
        <p:nvSpPr>
          <p:cNvPr id="19" name="Chevron 18"/>
          <p:cNvSpPr/>
          <p:nvPr/>
        </p:nvSpPr>
        <p:spPr>
          <a:xfrm>
            <a:off x="9235440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84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3807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应用服务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92608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2926080"/>
            <a:ext cx="73152" cy="96012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1363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10896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道路 / 交通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352958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研究空间连续、分级表达与对象追溯方法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292608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2926080"/>
            <a:ext cx="73152" cy="960120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1363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F902C"/>
                </a:solidFill>
                <a:latin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310896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轨道 / 地下空间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352958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扩展至区间、站点、构件和空间关系表达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16052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160520"/>
            <a:ext cx="73152" cy="960120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37083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E60"/>
                </a:solidFill>
                <a:latin typeface="Microsoft YaHe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34340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地下管线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76402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面向管径、埋深、节点、碰撞与权属关系组织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1928" y="416052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81928" y="4160520"/>
            <a:ext cx="73152" cy="96012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37083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434340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城市孪生专题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4888" y="476402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将基础设施对象接入场景、指标与应用体系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687568"/>
            <a:ext cx="1089964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4080"/>
                </a:solidFill>
                <a:latin typeface="Microsoft YaHei"/>
              </a:rPr>
              <a:t>共性部分在于对象化、规则化和语义化方法；差异部分体现在各专业规则、约束条件和应用场景。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05 /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下一阶段：围绕三条主线推进技术能力体系化建设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73152" cy="987552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554480"/>
            <a:ext cx="469087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自动化建模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75104"/>
            <a:ext cx="4690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持续完善道路、轨道、地下空间等对象生成方法，形成可复用建模能力。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06040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06040"/>
            <a:ext cx="73152" cy="987552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1635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E60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788920"/>
            <a:ext cx="469087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超融合数据库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209544"/>
            <a:ext cx="4690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围绕多模态时空数据，建设统一对象、索引、关系和版本管理能力。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40480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840480"/>
            <a:ext cx="73152" cy="987552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507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023360"/>
            <a:ext cx="469087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数字孪生专项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443984"/>
            <a:ext cx="4690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面向专题建设，形成场景模板、指标体系和智能辅助分析能力。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11696" y="1371600"/>
            <a:ext cx="4846320" cy="3511296"/>
          </a:xfrm>
          <a:prstGeom prst="roundRect">
            <a:avLst>
              <a:gd name="adj" fmla="val 8000"/>
            </a:avLst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1627632"/>
            <a:ext cx="4151376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后续重点工作</a:t>
            </a:r>
          </a:p>
        </p:txBody>
      </p:sp>
      <p:sp>
        <p:nvSpPr>
          <p:cNvPr id="25" name="Oval 24"/>
          <p:cNvSpPr/>
          <p:nvPr/>
        </p:nvSpPr>
        <p:spPr>
          <a:xfrm>
            <a:off x="7068312" y="2157984"/>
            <a:ext cx="256032" cy="256032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68312" y="2203703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2139696"/>
            <a:ext cx="36118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FFFFF"/>
                </a:solidFill>
                <a:latin typeface="Microsoft YaHei"/>
              </a:rPr>
              <a:t>完善多源数据标准、对象编码与分类体系</a:t>
            </a:r>
          </a:p>
        </p:txBody>
      </p:sp>
      <p:sp>
        <p:nvSpPr>
          <p:cNvPr id="28" name="Oval 27"/>
          <p:cNvSpPr/>
          <p:nvPr/>
        </p:nvSpPr>
        <p:spPr>
          <a:xfrm>
            <a:off x="7068312" y="2587752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8312" y="2633472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2569464"/>
            <a:ext cx="36118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FFFFF"/>
                </a:solidFill>
                <a:latin typeface="Microsoft YaHei"/>
              </a:rPr>
              <a:t>建设道路、轨道、管线、地下空间对象模板库</a:t>
            </a:r>
          </a:p>
        </p:txBody>
      </p:sp>
      <p:sp>
        <p:nvSpPr>
          <p:cNvPr id="31" name="Oval 30"/>
          <p:cNvSpPr/>
          <p:nvPr/>
        </p:nvSpPr>
        <p:spPr>
          <a:xfrm>
            <a:off x="7068312" y="3017520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8312" y="3063239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2999232"/>
            <a:ext cx="36118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FFFFF"/>
                </a:solidFill>
                <a:latin typeface="Microsoft YaHei"/>
              </a:rPr>
              <a:t>研究规则配置、参数管理与版本演进机制</a:t>
            </a:r>
          </a:p>
        </p:txBody>
      </p:sp>
      <p:sp>
        <p:nvSpPr>
          <p:cNvPr id="34" name="Oval 33"/>
          <p:cNvSpPr/>
          <p:nvPr/>
        </p:nvSpPr>
        <p:spPr>
          <a:xfrm>
            <a:off x="7068312" y="3447287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68312" y="3493007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3428999"/>
            <a:ext cx="36118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FFFFF"/>
                </a:solidFill>
                <a:latin typeface="Microsoft YaHei"/>
              </a:rPr>
              <a:t>参与超融合数据库时空索引、关系模型和数据服务设计</a:t>
            </a:r>
          </a:p>
        </p:txBody>
      </p:sp>
      <p:sp>
        <p:nvSpPr>
          <p:cNvPr id="37" name="Oval 36"/>
          <p:cNvSpPr/>
          <p:nvPr/>
        </p:nvSpPr>
        <p:spPr>
          <a:xfrm>
            <a:off x="7068312" y="3877056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68312" y="3922776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16368" y="3858768"/>
            <a:ext cx="36118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FFFFF"/>
                </a:solidFill>
                <a:latin typeface="Microsoft YaHei"/>
              </a:rPr>
              <a:t>面向数字孪生专项建设场景指标、专题图层和智能分析能力</a:t>
            </a:r>
          </a:p>
        </p:txBody>
      </p:sp>
      <p:sp>
        <p:nvSpPr>
          <p:cNvPr id="40" name="Oval 39"/>
          <p:cNvSpPr/>
          <p:nvPr/>
        </p:nvSpPr>
        <p:spPr>
          <a:xfrm>
            <a:off x="7068312" y="4306823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68312" y="4352543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368" y="4288536"/>
            <a:ext cx="36118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FFFFF"/>
                </a:solidFill>
                <a:latin typeface="Microsoft YaHei"/>
              </a:rPr>
              <a:t>凝练论文、专利、技术资料与可复用示范样例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11696" y="5157216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94576" y="5266944"/>
            <a:ext cx="449884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4080"/>
                </a:solidFill>
                <a:latin typeface="Microsoft YaHei"/>
              </a:rPr>
              <a:t>阶段工作的核心价值在于形成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94576" y="5504688"/>
            <a:ext cx="449884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4080"/>
                </a:solidFill>
                <a:latin typeface="Microsoft YaHei"/>
              </a:rPr>
              <a:t>可迁移、可复用、可持续演进的技术体系。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从阶段积累走向体系化能力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06 / FUTURE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未来规划一：面向超融合数据库的研发重点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35024"/>
            <a:ext cx="10899648" cy="713232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17904"/>
            <a:ext cx="10378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4080"/>
                </a:solidFill>
                <a:latin typeface="Microsoft YaHei"/>
              </a:rPr>
              <a:t>建设目标：形成面向城市基础设施的多模态时空数据底座，支撑模型对象、业务数据与空间关系的统一组织。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3246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487168"/>
            <a:ext cx="73152" cy="1078992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688336"/>
            <a:ext cx="5303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67004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D3D"/>
                </a:solidFill>
                <a:latin typeface="Microsoft YaHei"/>
              </a:rPr>
              <a:t>多源接入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017520"/>
            <a:ext cx="213055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90" b="0">
                <a:solidFill>
                  <a:srgbClr val="5B6B7E"/>
                </a:solidFill>
                <a:latin typeface="Microsoft YaHei"/>
              </a:rPr>
              <a:t>统一接入 GIS、CAD、模型、表格</a:t>
            </a:r>
            <a:br/>
            <a:r>
              <a:t>与业务台账等多类型数据。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487168"/>
            <a:ext cx="3246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2487168"/>
            <a:ext cx="73152" cy="1078992"/>
          </a:xfrm>
          <a:prstGeom prst="rect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688336"/>
            <a:ext cx="5303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B4E1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67004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D3D"/>
                </a:solidFill>
                <a:latin typeface="Microsoft YaHei"/>
              </a:rPr>
              <a:t>对象建模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3017520"/>
            <a:ext cx="213055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90" b="0">
                <a:solidFill>
                  <a:srgbClr val="5B6B7E"/>
                </a:solidFill>
                <a:latin typeface="Microsoft YaHei"/>
              </a:rPr>
              <a:t>建立设施对象编码、分类体系、</a:t>
            </a:r>
            <a:br/>
            <a:r>
              <a:t>属性结构和跨专业对象模板。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2487168"/>
            <a:ext cx="3246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2487168"/>
            <a:ext cx="73152" cy="1078992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2688336"/>
            <a:ext cx="5303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8E60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267004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D3D"/>
                </a:solidFill>
                <a:latin typeface="Microsoft YaHei"/>
              </a:rPr>
              <a:t>时空索引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3017520"/>
            <a:ext cx="213055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90" b="0">
                <a:solidFill>
                  <a:srgbClr val="5B6B7E"/>
                </a:solidFill>
                <a:latin typeface="Microsoft YaHei"/>
              </a:rPr>
              <a:t>研究空间、时间、属性</a:t>
            </a:r>
            <a:br/>
            <a:r>
              <a:t>和语义标签的复合索引。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89888" y="3904488"/>
            <a:ext cx="50749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89888" y="3904488"/>
            <a:ext cx="73152" cy="1078992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18488" y="4105656"/>
            <a:ext cx="5303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F902C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408736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D3D"/>
                </a:solidFill>
                <a:latin typeface="Microsoft YaHei"/>
              </a:rPr>
              <a:t>关系模型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4434840"/>
            <a:ext cx="395935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90" b="0">
                <a:solidFill>
                  <a:srgbClr val="5B6B7E"/>
                </a:solidFill>
                <a:latin typeface="Microsoft YaHei"/>
              </a:rPr>
              <a:t>表达邻接、穿越、上下游、权属、状态和版本等对象关系。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84848" y="3904488"/>
            <a:ext cx="50749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84848" y="3904488"/>
            <a:ext cx="73152" cy="1078992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13448" y="4105656"/>
            <a:ext cx="5303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B233A"/>
                </a:solidFill>
                <a:latin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408736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D3D"/>
                </a:solidFill>
                <a:latin typeface="Microsoft YaHei"/>
              </a:rPr>
              <a:t>数据服务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4434840"/>
            <a:ext cx="395935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90" b="0">
                <a:solidFill>
                  <a:srgbClr val="5B6B7E"/>
                </a:solidFill>
                <a:latin typeface="Microsoft YaHei"/>
              </a:rPr>
              <a:t>形成面向建模、孪生、查询、统计和智能分析的数据服务接口。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650992"/>
            <a:ext cx="10899648" cy="475488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779008"/>
            <a:ext cx="104698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Microsoft YaHei"/>
              </a:rPr>
              <a:t>重点不止于数据存储，而是建设“对象可管理、关系可计算、服务可复用”的城市基础设施数据底座。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未来规划 · 超融合数据库研发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06 / FUTURE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未来规划二：数字孪生专项课题交付内容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5257800" cy="4407408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72768"/>
            <a:ext cx="13716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70E0"/>
                </a:solidFill>
                <a:latin typeface="Microsoft YaHei"/>
              </a:rPr>
              <a:t>课题定位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56816"/>
            <a:ext cx="452628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1">
                <a:solidFill>
                  <a:srgbClr val="1F2D3D"/>
                </a:solidFill>
                <a:latin typeface="Microsoft YaHei"/>
              </a:rPr>
              <a:t>围绕城市基础设施对象，形成可展示、可查询、可分析的专题能力；</a:t>
            </a:r>
            <a:br/>
            <a:r>
              <a:t>支撑数字孪生场景持续扩展。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798064"/>
            <a:ext cx="310896" cy="31089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62072"/>
            <a:ext cx="310896" cy="1371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779776"/>
            <a:ext cx="10058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场景底座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2779776"/>
            <a:ext cx="3154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5B6B7E"/>
                </a:solidFill>
                <a:latin typeface="Microsoft YaHei"/>
              </a:rPr>
              <a:t>道路、轨道、管线、地下空间等三维对象组织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419856"/>
            <a:ext cx="310896" cy="31089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83864"/>
            <a:ext cx="310896" cy="1371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401568"/>
            <a:ext cx="10058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专题图层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152" y="3401568"/>
            <a:ext cx="3154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5B6B7E"/>
                </a:solidFill>
                <a:latin typeface="Microsoft YaHei"/>
              </a:rPr>
              <a:t>设施分布、空间关系、运行约束和状态信息表达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041648"/>
            <a:ext cx="310896" cy="310896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05656"/>
            <a:ext cx="310896" cy="1371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023360"/>
            <a:ext cx="10058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指标体系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9152" y="4023360"/>
            <a:ext cx="3154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5B6B7E"/>
                </a:solidFill>
                <a:latin typeface="Microsoft YaHei"/>
              </a:rPr>
              <a:t>面向管理、研判和汇报的指标口径与展示逻辑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" y="4663440"/>
            <a:ext cx="310896" cy="310896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727448"/>
            <a:ext cx="310896" cy="1371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4645152"/>
            <a:ext cx="10058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智能分析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4645152"/>
            <a:ext cx="31546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5B6B7E"/>
                </a:solidFill>
                <a:latin typeface="Microsoft YaHei"/>
              </a:rPr>
              <a:t>结合视觉语言模型与时空数据开展辅助理解和问答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1298448"/>
            <a:ext cx="5257800" cy="4407408"/>
          </a:xfrm>
          <a:prstGeom prst="roundRect">
            <a:avLst>
              <a:gd name="adj" fmla="val 8000"/>
            </a:avLst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1572768"/>
            <a:ext cx="18288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交付组织</a:t>
            </a:r>
          </a:p>
        </p:txBody>
      </p:sp>
      <p:sp>
        <p:nvSpPr>
          <p:cNvPr id="29" name="Oval 28"/>
          <p:cNvSpPr/>
          <p:nvPr/>
        </p:nvSpPr>
        <p:spPr>
          <a:xfrm>
            <a:off x="6620256" y="2157984"/>
            <a:ext cx="292608" cy="292608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0256" y="2212848"/>
            <a:ext cx="292608" cy="1371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2139696"/>
            <a:ext cx="10972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专题场景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2139696"/>
            <a:ext cx="2834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FFFFFF"/>
                </a:solidFill>
                <a:latin typeface="Microsoft YaHei"/>
              </a:rPr>
              <a:t>形成面向汇报和业务分析的孪生场景模板</a:t>
            </a:r>
          </a:p>
        </p:txBody>
      </p:sp>
      <p:sp>
        <p:nvSpPr>
          <p:cNvPr id="33" name="Oval 32"/>
          <p:cNvSpPr/>
          <p:nvPr/>
        </p:nvSpPr>
        <p:spPr>
          <a:xfrm>
            <a:off x="6620256" y="2871215"/>
            <a:ext cx="292608" cy="292608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0256" y="2926079"/>
            <a:ext cx="292608" cy="1371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2852927"/>
            <a:ext cx="10972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数据关联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9872" y="2852927"/>
            <a:ext cx="2834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FFFFFF"/>
                </a:solidFill>
                <a:latin typeface="Microsoft YaHei"/>
              </a:rPr>
              <a:t>建立模型对象与数据库对象、业务属性的关联机制</a:t>
            </a:r>
          </a:p>
        </p:txBody>
      </p:sp>
      <p:sp>
        <p:nvSpPr>
          <p:cNvPr id="37" name="Oval 36"/>
          <p:cNvSpPr/>
          <p:nvPr/>
        </p:nvSpPr>
        <p:spPr>
          <a:xfrm>
            <a:off x="6620256" y="3584448"/>
            <a:ext cx="292608" cy="292608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0256" y="3639312"/>
            <a:ext cx="292608" cy="1371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3566160"/>
            <a:ext cx="10972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应用原型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9872" y="3566160"/>
            <a:ext cx="2834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FFFFFF"/>
                </a:solidFill>
                <a:latin typeface="Microsoft YaHei"/>
              </a:rPr>
              <a:t>形成查询、统计、专题展示和智能问答的应用雏形</a:t>
            </a:r>
          </a:p>
        </p:txBody>
      </p:sp>
      <p:sp>
        <p:nvSpPr>
          <p:cNvPr id="41" name="Oval 40"/>
          <p:cNvSpPr/>
          <p:nvPr/>
        </p:nvSpPr>
        <p:spPr>
          <a:xfrm>
            <a:off x="6620256" y="4297679"/>
            <a:ext cx="292608" cy="292608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0256" y="4352543"/>
            <a:ext cx="292608" cy="1371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59168" y="4279392"/>
            <a:ext cx="10972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技术沉淀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9872" y="4279392"/>
            <a:ext cx="2834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FFFFFF"/>
                </a:solidFill>
                <a:latin typeface="Microsoft YaHei"/>
              </a:rPr>
              <a:t>同步沉淀接口说明、数据规范、场景配置和演示材料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91072" y="4983480"/>
            <a:ext cx="5257800" cy="475488"/>
          </a:xfrm>
          <a:prstGeom prst="roundRect">
            <a:avLst>
              <a:gd name="adj" fmla="val 8000"/>
            </a:avLst>
          </a:prstGeom>
          <a:solidFill>
            <a:srgbClr val="0056A0"/>
          </a:solidFill>
          <a:ln>
            <a:solidFill>
              <a:srgbClr val="00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5120640"/>
            <a:ext cx="48006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目标：支撑专项课题从“场景表达”进一步走向“数据驱动的专题应用”。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未来规划 · 数字孪生专项课题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8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1.png"/>
          <p:cNvPicPr>
            <a:picLocks noChangeAspect="1"/>
          </p:cNvPicPr>
          <p:nvPr/>
        </p:nvPicPr>
        <p:blipFill>
          <a:blip r:embed="rId2"/>
          <a:srcRect l="12779" r="1277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38528"/>
            <a:ext cx="292608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761488"/>
            <a:ext cx="21945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EE1FF"/>
                </a:solidFill>
                <a:latin typeface="Microsoft YaHe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310128"/>
            <a:ext cx="475488" cy="4572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694176"/>
            <a:ext cx="5669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推动建模能力向数据资产能力拓展，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050791"/>
            <a:ext cx="5669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支撑城市数字孪生与专项应用建设。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6144768"/>
            <a:ext cx="2084831" cy="185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